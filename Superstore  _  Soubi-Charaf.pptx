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ileron Heavy" charset="1" panose="00000A00000000000000"/>
      <p:regular r:id="rId17"/>
    </p:embeddedFont>
    <p:embeddedFont>
      <p:font typeface="Work Sans Bold" charset="1" panose="00000000000000000000"/>
      <p:regular r:id="rId18"/>
    </p:embeddedFont>
    <p:embeddedFont>
      <p:font typeface="Aileron Bold" charset="1" panose="00000800000000000000"/>
      <p:regular r:id="rId19"/>
    </p:embeddedFont>
    <p:embeddedFont>
      <p:font typeface="Work Sans"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2.pn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3.pn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4.pn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5.pn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6.pn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7.pn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0">
            <a:off x="15923816" y="-2052828"/>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5417611" y="649405"/>
            <a:ext cx="7204506" cy="7451155"/>
          </a:xfrm>
          <a:custGeom>
            <a:avLst/>
            <a:gdLst/>
            <a:ahLst/>
            <a:cxnLst/>
            <a:rect r="r" b="b" t="t" l="l"/>
            <a:pathLst>
              <a:path h="7451155" w="7204506">
                <a:moveTo>
                  <a:pt x="0" y="0"/>
                </a:moveTo>
                <a:lnTo>
                  <a:pt x="7204506" y="0"/>
                </a:lnTo>
                <a:lnTo>
                  <a:pt x="7204506" y="7451155"/>
                </a:lnTo>
                <a:lnTo>
                  <a:pt x="0" y="7451155"/>
                </a:lnTo>
                <a:lnTo>
                  <a:pt x="0" y="0"/>
                </a:lnTo>
                <a:close/>
              </a:path>
            </a:pathLst>
          </a:custGeom>
          <a:blipFill>
            <a:blip r:embed="rId5">
              <a:alphaModFix amt="6999"/>
              <a:extLst>
                <a:ext uri="{96DAC541-7B7A-43D3-8B79-37D633B846F1}">
                  <asvg:svgBlip xmlns:asvg="http://schemas.microsoft.com/office/drawing/2016/SVG/main" r:embed="rId6"/>
                </a:ext>
              </a:extLst>
            </a:blip>
            <a:stretch>
              <a:fillRect l="-2369" t="-2280" r="-3412" b="0"/>
            </a:stretch>
          </a:blipFill>
        </p:spPr>
      </p:sp>
      <p:sp>
        <p:nvSpPr>
          <p:cNvPr name="TextBox 5" id="5"/>
          <p:cNvSpPr txBox="true"/>
          <p:nvPr/>
        </p:nvSpPr>
        <p:spPr>
          <a:xfrm rot="0">
            <a:off x="3679471" y="2405253"/>
            <a:ext cx="16230600" cy="4866014"/>
          </a:xfrm>
          <a:prstGeom prst="rect">
            <a:avLst/>
          </a:prstGeom>
        </p:spPr>
        <p:txBody>
          <a:bodyPr anchor="t" rtlCol="false" tIns="0" lIns="0" bIns="0" rIns="0">
            <a:spAutoFit/>
          </a:bodyPr>
          <a:lstStyle/>
          <a:p>
            <a:pPr algn="l">
              <a:lnSpc>
                <a:spcPts val="18700"/>
              </a:lnSpc>
            </a:pPr>
            <a:r>
              <a:rPr lang="en-US" sz="18700" spc="-1028" b="true">
                <a:solidFill>
                  <a:srgbClr val="FFFFFF"/>
                </a:solidFill>
                <a:latin typeface="Aileron Heavy"/>
                <a:ea typeface="Aileron Heavy"/>
                <a:cs typeface="Aileron Heavy"/>
                <a:sym typeface="Aileron Heavy"/>
              </a:rPr>
              <a:t>Superstore </a:t>
            </a:r>
          </a:p>
          <a:p>
            <a:pPr algn="l">
              <a:lnSpc>
                <a:spcPts val="18700"/>
              </a:lnSpc>
            </a:pPr>
          </a:p>
        </p:txBody>
      </p:sp>
      <p:grpSp>
        <p:nvGrpSpPr>
          <p:cNvPr name="Group 6" id="6"/>
          <p:cNvGrpSpPr>
            <a:grpSpLocks noChangeAspect="true"/>
          </p:cNvGrpSpPr>
          <p:nvPr/>
        </p:nvGrpSpPr>
        <p:grpSpPr>
          <a:xfrm rot="-946375">
            <a:off x="5229843" y="4167938"/>
            <a:ext cx="7828314" cy="4490226"/>
            <a:chOff x="0" y="0"/>
            <a:chExt cx="7981950" cy="4578350"/>
          </a:xfrm>
        </p:grpSpPr>
        <p:sp>
          <p:nvSpPr>
            <p:cNvPr name="Freeform 7" id="7"/>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name="Freeform 8" id="8"/>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name="Freeform 9" id="9"/>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name="Freeform 10" id="10"/>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name="Freeform 11" id="11"/>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7"/>
              <a:stretch>
                <a:fillRect l="-7991" t="0" r="-7991" b="0"/>
              </a:stretch>
            </a:blipFill>
          </p:spPr>
        </p:sp>
      </p:grpSp>
      <p:sp>
        <p:nvSpPr>
          <p:cNvPr name="TextBox 12" id="12"/>
          <p:cNvSpPr txBox="true"/>
          <p:nvPr/>
        </p:nvSpPr>
        <p:spPr>
          <a:xfrm rot="0">
            <a:off x="3679471" y="2405253"/>
            <a:ext cx="16230600" cy="4866014"/>
          </a:xfrm>
          <a:prstGeom prst="rect">
            <a:avLst/>
          </a:prstGeom>
        </p:spPr>
        <p:txBody>
          <a:bodyPr anchor="t" rtlCol="false" tIns="0" lIns="0" bIns="0" rIns="0">
            <a:spAutoFit/>
          </a:bodyPr>
          <a:lstStyle/>
          <a:p>
            <a:pPr algn="l">
              <a:lnSpc>
                <a:spcPts val="18700"/>
              </a:lnSpc>
            </a:pPr>
            <a:r>
              <a:rPr lang="en-US" sz="18700" spc="-1028" b="true">
                <a:solidFill>
                  <a:srgbClr val="FFFFFF"/>
                </a:solidFill>
                <a:latin typeface="Aileron Heavy"/>
                <a:ea typeface="Aileron Heavy"/>
                <a:cs typeface="Aileron Heavy"/>
                <a:sym typeface="Aileron Heavy"/>
              </a:rPr>
              <a:t>Superstore </a:t>
            </a:r>
          </a:p>
          <a:p>
            <a:pPr algn="l">
              <a:lnSpc>
                <a:spcPts val="18700"/>
              </a:lnSpc>
            </a:pPr>
          </a:p>
        </p:txBody>
      </p:sp>
      <p:sp>
        <p:nvSpPr>
          <p:cNvPr name="Freeform 13" id="13"/>
          <p:cNvSpPr/>
          <p:nvPr/>
        </p:nvSpPr>
        <p:spPr>
          <a:xfrm flipH="false" flipV="false" rot="0">
            <a:off x="13890302" y="5866340"/>
            <a:ext cx="5691114" cy="6089713"/>
          </a:xfrm>
          <a:custGeom>
            <a:avLst/>
            <a:gdLst/>
            <a:ahLst/>
            <a:cxnLst/>
            <a:rect r="r" b="b" t="t" l="l"/>
            <a:pathLst>
              <a:path h="6089713" w="5691114">
                <a:moveTo>
                  <a:pt x="0" y="0"/>
                </a:moveTo>
                <a:lnTo>
                  <a:pt x="5691114" y="0"/>
                </a:lnTo>
                <a:lnTo>
                  <a:pt x="5691114" y="6089713"/>
                </a:lnTo>
                <a:lnTo>
                  <a:pt x="0" y="6089713"/>
                </a:lnTo>
                <a:lnTo>
                  <a:pt x="0" y="0"/>
                </a:lnTo>
                <a:close/>
              </a:path>
            </a:pathLst>
          </a:custGeom>
          <a:blipFill>
            <a:blip r:embed="rId8"/>
            <a:stretch>
              <a:fillRect l="0" t="0" r="0" b="0"/>
            </a:stretch>
          </a:blipFill>
        </p:spPr>
      </p:sp>
      <p:sp>
        <p:nvSpPr>
          <p:cNvPr name="Freeform 14" id="14"/>
          <p:cNvSpPr/>
          <p:nvPr/>
        </p:nvSpPr>
        <p:spPr>
          <a:xfrm flipH="true" flipV="false" rot="0">
            <a:off x="-3693679" y="-4714287"/>
            <a:ext cx="5691114" cy="6089713"/>
          </a:xfrm>
          <a:custGeom>
            <a:avLst/>
            <a:gdLst/>
            <a:ahLst/>
            <a:cxnLst/>
            <a:rect r="r" b="b" t="t" l="l"/>
            <a:pathLst>
              <a:path h="6089713" w="5691114">
                <a:moveTo>
                  <a:pt x="5691114" y="0"/>
                </a:moveTo>
                <a:lnTo>
                  <a:pt x="0" y="0"/>
                </a:lnTo>
                <a:lnTo>
                  <a:pt x="0" y="6089713"/>
                </a:lnTo>
                <a:lnTo>
                  <a:pt x="5691114" y="6089713"/>
                </a:lnTo>
                <a:lnTo>
                  <a:pt x="5691114" y="0"/>
                </a:lnTo>
                <a:close/>
              </a:path>
            </a:pathLst>
          </a:custGeom>
          <a:blipFill>
            <a:blip r:embed="rId8"/>
            <a:stretch>
              <a:fillRect l="0" t="0" r="0" b="0"/>
            </a:stretch>
          </a:blipFill>
        </p:spPr>
      </p:sp>
      <p:sp>
        <p:nvSpPr>
          <p:cNvPr name="AutoShape 15" id="15"/>
          <p:cNvSpPr/>
          <p:nvPr/>
        </p:nvSpPr>
        <p:spPr>
          <a:xfrm>
            <a:off x="1236753" y="8276102"/>
            <a:ext cx="2442718" cy="0"/>
          </a:xfrm>
          <a:prstGeom prst="line">
            <a:avLst/>
          </a:prstGeom>
          <a:ln cap="flat" w="19050">
            <a:solidFill>
              <a:srgbClr val="FFFFFF"/>
            </a:solidFill>
            <a:prstDash val="solid"/>
            <a:headEnd type="none" len="sm" w="sm"/>
            <a:tailEnd type="none" len="sm" w="sm"/>
          </a:ln>
        </p:spPr>
      </p:sp>
      <p:grpSp>
        <p:nvGrpSpPr>
          <p:cNvPr name="Group 16" id="16"/>
          <p:cNvGrpSpPr/>
          <p:nvPr/>
        </p:nvGrpSpPr>
        <p:grpSpPr>
          <a:xfrm rot="0">
            <a:off x="1028700" y="961545"/>
            <a:ext cx="3738246" cy="827761"/>
            <a:chOff x="0" y="0"/>
            <a:chExt cx="984559" cy="218011"/>
          </a:xfrm>
        </p:grpSpPr>
        <p:sp>
          <p:nvSpPr>
            <p:cNvPr name="Freeform 17" id="17"/>
            <p:cNvSpPr/>
            <p:nvPr/>
          </p:nvSpPr>
          <p:spPr>
            <a:xfrm flipH="false" flipV="false" rot="0">
              <a:off x="0" y="0"/>
              <a:ext cx="984559" cy="218011"/>
            </a:xfrm>
            <a:custGeom>
              <a:avLst/>
              <a:gdLst/>
              <a:ahLst/>
              <a:cxnLst/>
              <a:rect r="r" b="b" t="t" l="l"/>
              <a:pathLst>
                <a:path h="218011" w="984559">
                  <a:moveTo>
                    <a:pt x="109006" y="0"/>
                  </a:moveTo>
                  <a:lnTo>
                    <a:pt x="875553" y="0"/>
                  </a:lnTo>
                  <a:cubicBezTo>
                    <a:pt x="935755" y="0"/>
                    <a:pt x="984559" y="48803"/>
                    <a:pt x="984559" y="109006"/>
                  </a:cubicBezTo>
                  <a:lnTo>
                    <a:pt x="984559" y="109006"/>
                  </a:lnTo>
                  <a:cubicBezTo>
                    <a:pt x="984559" y="137916"/>
                    <a:pt x="973074" y="165642"/>
                    <a:pt x="952632" y="186084"/>
                  </a:cubicBezTo>
                  <a:cubicBezTo>
                    <a:pt x="932189" y="206527"/>
                    <a:pt x="904463" y="218011"/>
                    <a:pt x="875553" y="218011"/>
                  </a:cubicBezTo>
                  <a:lnTo>
                    <a:pt x="109006" y="218011"/>
                  </a:lnTo>
                  <a:cubicBezTo>
                    <a:pt x="48803" y="218011"/>
                    <a:pt x="0" y="169208"/>
                    <a:pt x="0" y="109006"/>
                  </a:cubicBezTo>
                  <a:lnTo>
                    <a:pt x="0" y="109006"/>
                  </a:lnTo>
                  <a:cubicBezTo>
                    <a:pt x="0" y="48803"/>
                    <a:pt x="48803" y="0"/>
                    <a:pt x="109006" y="0"/>
                  </a:cubicBezTo>
                  <a:close/>
                </a:path>
              </a:pathLst>
            </a:custGeom>
            <a:solidFill>
              <a:srgbClr val="FF684C"/>
            </a:solidFill>
          </p:spPr>
        </p:sp>
        <p:sp>
          <p:nvSpPr>
            <p:cNvPr name="TextBox 18" id="18"/>
            <p:cNvSpPr txBox="true"/>
            <p:nvPr/>
          </p:nvSpPr>
          <p:spPr>
            <a:xfrm>
              <a:off x="0" y="-85725"/>
              <a:ext cx="984559" cy="303736"/>
            </a:xfrm>
            <a:prstGeom prst="rect">
              <a:avLst/>
            </a:prstGeom>
          </p:spPr>
          <p:txBody>
            <a:bodyPr anchor="ctr" rtlCol="false" tIns="50800" lIns="50800" bIns="50800" rIns="50800"/>
            <a:lstStyle/>
            <a:p>
              <a:pPr algn="ctr">
                <a:lnSpc>
                  <a:spcPts val="5040"/>
                </a:lnSpc>
              </a:pPr>
              <a:r>
                <a:rPr lang="en-US" b="true" sz="3600">
                  <a:solidFill>
                    <a:srgbClr val="FFFFFF"/>
                  </a:solidFill>
                  <a:latin typeface="Work Sans Bold"/>
                  <a:ea typeface="Work Sans Bold"/>
                  <a:cs typeface="Work Sans Bold"/>
                  <a:sym typeface="Work Sans Bold"/>
                </a:rPr>
                <a:t>DATA Analyst</a:t>
              </a:r>
            </a:p>
          </p:txBody>
        </p:sp>
      </p:grpSp>
      <p:sp>
        <p:nvSpPr>
          <p:cNvPr name="Freeform 19" id="19"/>
          <p:cNvSpPr/>
          <p:nvPr/>
        </p:nvSpPr>
        <p:spPr>
          <a:xfrm flipH="false" flipV="false" rot="0">
            <a:off x="9685425" y="2985151"/>
            <a:ext cx="313076" cy="313076"/>
          </a:xfrm>
          <a:custGeom>
            <a:avLst/>
            <a:gdLst/>
            <a:ahLst/>
            <a:cxnLst/>
            <a:rect r="r" b="b" t="t" l="l"/>
            <a:pathLst>
              <a:path h="313076" w="313076">
                <a:moveTo>
                  <a:pt x="0" y="0"/>
                </a:moveTo>
                <a:lnTo>
                  <a:pt x="313076" y="0"/>
                </a:lnTo>
                <a:lnTo>
                  <a:pt x="313076" y="313076"/>
                </a:lnTo>
                <a:lnTo>
                  <a:pt x="0" y="313076"/>
                </a:lnTo>
                <a:lnTo>
                  <a:pt x="0" y="0"/>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11231385" y="3046856"/>
            <a:ext cx="216111" cy="216111"/>
          </a:xfrm>
          <a:custGeom>
            <a:avLst/>
            <a:gdLst/>
            <a:ahLst/>
            <a:cxnLst/>
            <a:rect r="r" b="b" t="t" l="l"/>
            <a:pathLst>
              <a:path h="216111" w="216111">
                <a:moveTo>
                  <a:pt x="0" y="0"/>
                </a:moveTo>
                <a:lnTo>
                  <a:pt x="216111" y="0"/>
                </a:lnTo>
                <a:lnTo>
                  <a:pt x="216111" y="216111"/>
                </a:lnTo>
                <a:lnTo>
                  <a:pt x="0" y="216111"/>
                </a:lnTo>
                <a:lnTo>
                  <a:pt x="0" y="0"/>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0">
            <a:off x="8210920" y="3046856"/>
            <a:ext cx="216111" cy="216111"/>
          </a:xfrm>
          <a:custGeom>
            <a:avLst/>
            <a:gdLst/>
            <a:ahLst/>
            <a:cxnLst/>
            <a:rect r="r" b="b" t="t" l="l"/>
            <a:pathLst>
              <a:path h="216111" w="216111">
                <a:moveTo>
                  <a:pt x="0" y="0"/>
                </a:moveTo>
                <a:lnTo>
                  <a:pt x="216111" y="0"/>
                </a:lnTo>
                <a:lnTo>
                  <a:pt x="216111" y="216111"/>
                </a:lnTo>
                <a:lnTo>
                  <a:pt x="0" y="216111"/>
                </a:lnTo>
                <a:lnTo>
                  <a:pt x="0" y="0"/>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sp>
        <p:nvSpPr>
          <p:cNvPr name="Freeform 22" id="22"/>
          <p:cNvSpPr/>
          <p:nvPr/>
        </p:nvSpPr>
        <p:spPr>
          <a:xfrm flipH="false" flipV="false" rot="0">
            <a:off x="6639450" y="2985151"/>
            <a:ext cx="313076" cy="313076"/>
          </a:xfrm>
          <a:custGeom>
            <a:avLst/>
            <a:gdLst/>
            <a:ahLst/>
            <a:cxnLst/>
            <a:rect r="r" b="b" t="t" l="l"/>
            <a:pathLst>
              <a:path h="313076" w="313076">
                <a:moveTo>
                  <a:pt x="0" y="0"/>
                </a:moveTo>
                <a:lnTo>
                  <a:pt x="313076" y="0"/>
                </a:lnTo>
                <a:lnTo>
                  <a:pt x="313076" y="313076"/>
                </a:lnTo>
                <a:lnTo>
                  <a:pt x="0" y="313076"/>
                </a:lnTo>
                <a:lnTo>
                  <a:pt x="0" y="0"/>
                </a:lnTo>
                <a:close/>
              </a:path>
            </a:pathLst>
          </a:custGeom>
          <a:blipFill>
            <a:blip r:embed="rId9">
              <a:alphaModFix amt="24000"/>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1236753" y="8527656"/>
            <a:ext cx="4444283" cy="772795"/>
          </a:xfrm>
          <a:prstGeom prst="rect">
            <a:avLst/>
          </a:prstGeom>
        </p:spPr>
        <p:txBody>
          <a:bodyPr anchor="t" rtlCol="false" tIns="0" lIns="0" bIns="0" rIns="0">
            <a:spAutoFit/>
          </a:bodyPr>
          <a:lstStyle/>
          <a:p>
            <a:pPr algn="l">
              <a:lnSpc>
                <a:spcPts val="3079"/>
              </a:lnSpc>
            </a:pPr>
            <a:r>
              <a:rPr lang="en-US" sz="2199" b="true">
                <a:solidFill>
                  <a:srgbClr val="FFFFFF"/>
                </a:solidFill>
                <a:latin typeface="Work Sans Bold"/>
                <a:ea typeface="Work Sans Bold"/>
                <a:cs typeface="Work Sans Bold"/>
                <a:sym typeface="Work Sans Bold"/>
              </a:rPr>
              <a:t>Préparé par : SOUBI Charaf</a:t>
            </a:r>
          </a:p>
          <a:p>
            <a:pPr algn="l">
              <a:lnSpc>
                <a:spcPts val="3079"/>
              </a:lnSpc>
              <a:spcBef>
                <a:spcPct val="0"/>
              </a:spcBef>
            </a:pPr>
            <a:r>
              <a:rPr lang="en-US" b="true" sz="2199">
                <a:solidFill>
                  <a:srgbClr val="FFFFFF"/>
                </a:solidFill>
                <a:latin typeface="Work Sans Bold"/>
                <a:ea typeface="Work Sans Bold"/>
                <a:cs typeface="Work Sans Bold"/>
                <a:sym typeface="Work Sans Bold"/>
              </a:rPr>
              <a:t>soubicharaf@gmail.com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0">
            <a:off x="15923816" y="-2052828"/>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4900970" y="8234172"/>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5" id="5"/>
          <p:cNvSpPr/>
          <p:nvPr/>
        </p:nvSpPr>
        <p:spPr>
          <a:xfrm flipH="false" flipV="false" rot="0">
            <a:off x="14670858" y="2536578"/>
            <a:ext cx="5176884" cy="5183364"/>
          </a:xfrm>
          <a:custGeom>
            <a:avLst/>
            <a:gdLst/>
            <a:ahLst/>
            <a:cxnLst/>
            <a:rect r="r" b="b" t="t" l="l"/>
            <a:pathLst>
              <a:path h="5183364" w="5176884">
                <a:moveTo>
                  <a:pt x="0" y="0"/>
                </a:moveTo>
                <a:lnTo>
                  <a:pt x="5176884" y="0"/>
                </a:lnTo>
                <a:lnTo>
                  <a:pt x="5176884" y="5183364"/>
                </a:lnTo>
                <a:lnTo>
                  <a:pt x="0" y="5183364"/>
                </a:lnTo>
                <a:lnTo>
                  <a:pt x="0" y="0"/>
                </a:lnTo>
                <a:close/>
              </a:path>
            </a:pathLst>
          </a:custGeom>
          <a:blipFill>
            <a:blip r:embed="rId5">
              <a:alphaModFix amt="39000"/>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9996130" y="4371744"/>
            <a:ext cx="7595189" cy="5351906"/>
            <a:chOff x="0" y="0"/>
            <a:chExt cx="1176693" cy="829150"/>
          </a:xfrm>
        </p:grpSpPr>
        <p:sp>
          <p:nvSpPr>
            <p:cNvPr name="Freeform 7" id="7"/>
            <p:cNvSpPr/>
            <p:nvPr/>
          </p:nvSpPr>
          <p:spPr>
            <a:xfrm flipH="false" flipV="false" rot="0">
              <a:off x="0" y="0"/>
              <a:ext cx="1176693" cy="829150"/>
            </a:xfrm>
            <a:custGeom>
              <a:avLst/>
              <a:gdLst/>
              <a:ahLst/>
              <a:cxnLst/>
              <a:rect r="r" b="b" t="t" l="l"/>
              <a:pathLst>
                <a:path h="829150" w="1176693">
                  <a:moveTo>
                    <a:pt x="0" y="0"/>
                  </a:moveTo>
                  <a:lnTo>
                    <a:pt x="1176693" y="0"/>
                  </a:lnTo>
                  <a:lnTo>
                    <a:pt x="1176693" y="829150"/>
                  </a:lnTo>
                  <a:lnTo>
                    <a:pt x="0" y="829150"/>
                  </a:lnTo>
                  <a:close/>
                </a:path>
              </a:pathLst>
            </a:custGeom>
            <a:blipFill>
              <a:blip r:embed="rId7"/>
              <a:stretch>
                <a:fillRect l="0" t="0" r="-33581" b="0"/>
              </a:stretch>
            </a:blipFill>
            <a:ln w="38100" cap="sq">
              <a:solidFill>
                <a:srgbClr val="000000"/>
              </a:solidFill>
              <a:prstDash val="solid"/>
              <a:miter/>
            </a:ln>
          </p:spPr>
        </p:sp>
      </p:grpSp>
      <p:sp>
        <p:nvSpPr>
          <p:cNvPr name="AutoShape 8" id="8"/>
          <p:cNvSpPr/>
          <p:nvPr/>
        </p:nvSpPr>
        <p:spPr>
          <a:xfrm>
            <a:off x="10000892" y="19050"/>
            <a:ext cx="0" cy="10267950"/>
          </a:xfrm>
          <a:prstGeom prst="line">
            <a:avLst/>
          </a:prstGeom>
          <a:ln cap="flat" w="9525">
            <a:solidFill>
              <a:srgbClr val="FFFFFF">
                <a:alpha val="37647"/>
              </a:srgbClr>
            </a:solidFill>
            <a:prstDash val="solid"/>
            <a:headEnd type="none" len="sm" w="sm"/>
            <a:tailEnd type="none" len="sm" w="sm"/>
          </a:ln>
        </p:spPr>
      </p:sp>
      <p:sp>
        <p:nvSpPr>
          <p:cNvPr name="AutoShape 9" id="9"/>
          <p:cNvSpPr/>
          <p:nvPr/>
        </p:nvSpPr>
        <p:spPr>
          <a:xfrm flipH="true">
            <a:off x="17596081" y="19050"/>
            <a:ext cx="0" cy="10267950"/>
          </a:xfrm>
          <a:prstGeom prst="line">
            <a:avLst/>
          </a:prstGeom>
          <a:ln cap="flat" w="9525">
            <a:solidFill>
              <a:srgbClr val="FFFFFF">
                <a:alpha val="37647"/>
              </a:srgbClr>
            </a:solidFill>
            <a:prstDash val="solid"/>
            <a:headEnd type="none" len="sm" w="sm"/>
            <a:tailEnd type="none" len="sm" w="sm"/>
          </a:ln>
        </p:spPr>
      </p:sp>
      <p:sp>
        <p:nvSpPr>
          <p:cNvPr name="AutoShape 10" id="10"/>
          <p:cNvSpPr/>
          <p:nvPr/>
        </p:nvSpPr>
        <p:spPr>
          <a:xfrm flipH="true">
            <a:off x="0" y="4371744"/>
            <a:ext cx="10000892" cy="0"/>
          </a:xfrm>
          <a:prstGeom prst="line">
            <a:avLst/>
          </a:prstGeom>
          <a:ln cap="flat" w="9525">
            <a:solidFill>
              <a:srgbClr val="FFFFFF">
                <a:alpha val="37647"/>
              </a:srgbClr>
            </a:solidFill>
            <a:prstDash val="solid"/>
            <a:headEnd type="none" len="sm" w="sm"/>
            <a:tailEnd type="none" len="sm" w="sm"/>
          </a:ln>
        </p:spPr>
      </p:sp>
      <p:sp>
        <p:nvSpPr>
          <p:cNvPr name="Freeform 11" id="11"/>
          <p:cNvSpPr/>
          <p:nvPr/>
        </p:nvSpPr>
        <p:spPr>
          <a:xfrm flipH="false" flipV="false" rot="0">
            <a:off x="5588620" y="606440"/>
            <a:ext cx="1673835" cy="1115192"/>
          </a:xfrm>
          <a:custGeom>
            <a:avLst/>
            <a:gdLst/>
            <a:ahLst/>
            <a:cxnLst/>
            <a:rect r="r" b="b" t="t" l="l"/>
            <a:pathLst>
              <a:path h="1115192" w="1673835">
                <a:moveTo>
                  <a:pt x="0" y="0"/>
                </a:moveTo>
                <a:lnTo>
                  <a:pt x="1673835" y="0"/>
                </a:lnTo>
                <a:lnTo>
                  <a:pt x="1673835" y="1115193"/>
                </a:lnTo>
                <a:lnTo>
                  <a:pt x="0" y="11151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236753" y="1843776"/>
            <a:ext cx="7828737" cy="1228725"/>
          </a:xfrm>
          <a:prstGeom prst="rect">
            <a:avLst/>
          </a:prstGeom>
        </p:spPr>
        <p:txBody>
          <a:bodyPr anchor="t" rtlCol="false" tIns="0" lIns="0" bIns="0" rIns="0">
            <a:spAutoFit/>
          </a:bodyPr>
          <a:lstStyle/>
          <a:p>
            <a:pPr algn="l">
              <a:lnSpc>
                <a:spcPts val="9600"/>
              </a:lnSpc>
            </a:pPr>
            <a:r>
              <a:rPr lang="en-US" sz="8000" b="true">
                <a:solidFill>
                  <a:srgbClr val="FFFFFF"/>
                </a:solidFill>
                <a:latin typeface="Aileron Bold"/>
                <a:ea typeface="Aileron Bold"/>
                <a:cs typeface="Aileron Bold"/>
                <a:sym typeface="Aileron Bold"/>
              </a:rPr>
              <a:t>Planification</a:t>
            </a:r>
          </a:p>
        </p:txBody>
      </p:sp>
      <p:sp>
        <p:nvSpPr>
          <p:cNvPr name="TextBox 13" id="13"/>
          <p:cNvSpPr txBox="true"/>
          <p:nvPr/>
        </p:nvSpPr>
        <p:spPr>
          <a:xfrm rot="0">
            <a:off x="1236753" y="5071110"/>
            <a:ext cx="7489133" cy="3768090"/>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Work Sans"/>
                <a:ea typeface="Work Sans"/>
                <a:cs typeface="Work Sans"/>
                <a:sym typeface="Work Sans"/>
              </a:rPr>
              <a:t>La planification du projet a été réalisée à l’aide de Trello afin d’organiser les différentes étapes du pipeline de traitement des données. Chaque phase — importation, nettoyage, transformation, analyse et export — a été structurée en tâches avec des checklists pour suivre l’avancement. Cette organisation permet d’assurer une bonne gestion du temps, la traçabilité des actions et la reproductibilité du travail.</a:t>
            </a:r>
          </a:p>
        </p:txBody>
      </p:sp>
      <p:sp>
        <p:nvSpPr>
          <p:cNvPr name="TextBox 14" id="14"/>
          <p:cNvSpPr txBox="true"/>
          <p:nvPr/>
        </p:nvSpPr>
        <p:spPr>
          <a:xfrm rot="0">
            <a:off x="10331563" y="3576583"/>
            <a:ext cx="3773522" cy="415290"/>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Work Sans"/>
                <a:ea typeface="Work Sans"/>
                <a:cs typeface="Work Sans"/>
                <a:sym typeface="Work Sans"/>
              </a:rPr>
              <a:t>Trello Platform</a:t>
            </a:r>
          </a:p>
        </p:txBody>
      </p:sp>
      <p:sp>
        <p:nvSpPr>
          <p:cNvPr name="TextBox 15" id="15"/>
          <p:cNvSpPr txBox="true"/>
          <p:nvPr/>
        </p:nvSpPr>
        <p:spPr>
          <a:xfrm rot="0">
            <a:off x="1236753" y="798277"/>
            <a:ext cx="4180858" cy="365760"/>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Work Sans"/>
                <a:ea typeface="Work Sans"/>
                <a:cs typeface="Work Sans"/>
                <a:sym typeface="Work Sans"/>
              </a:rPr>
              <a:t>Superstore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0">
            <a:off x="15923816" y="-2052828"/>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4900970" y="8234172"/>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5" id="5"/>
          <p:cNvGrpSpPr/>
          <p:nvPr/>
        </p:nvGrpSpPr>
        <p:grpSpPr>
          <a:xfrm rot="0">
            <a:off x="4197150" y="2969465"/>
            <a:ext cx="5259208" cy="7317535"/>
            <a:chOff x="0" y="0"/>
            <a:chExt cx="814789" cy="1133678"/>
          </a:xfrm>
        </p:grpSpPr>
        <p:sp>
          <p:nvSpPr>
            <p:cNvPr name="Freeform 6" id="6"/>
            <p:cNvSpPr/>
            <p:nvPr/>
          </p:nvSpPr>
          <p:spPr>
            <a:xfrm flipH="false" flipV="false" rot="0">
              <a:off x="0" y="0"/>
              <a:ext cx="814789" cy="1133678"/>
            </a:xfrm>
            <a:custGeom>
              <a:avLst/>
              <a:gdLst/>
              <a:ahLst/>
              <a:cxnLst/>
              <a:rect r="r" b="b" t="t" l="l"/>
              <a:pathLst>
                <a:path h="1133678" w="814789">
                  <a:moveTo>
                    <a:pt x="0" y="0"/>
                  </a:moveTo>
                  <a:lnTo>
                    <a:pt x="814789" y="0"/>
                  </a:lnTo>
                  <a:lnTo>
                    <a:pt x="814789" y="1133678"/>
                  </a:lnTo>
                  <a:lnTo>
                    <a:pt x="0" y="1133678"/>
                  </a:lnTo>
                  <a:close/>
                </a:path>
              </a:pathLst>
            </a:custGeom>
            <a:blipFill>
              <a:blip r:embed="rId5"/>
              <a:stretch>
                <a:fillRect l="0" t="0" r="-29458" b="0"/>
              </a:stretch>
            </a:blipFill>
            <a:ln w="38100" cap="sq">
              <a:solidFill>
                <a:srgbClr val="000000"/>
              </a:solidFill>
              <a:prstDash val="solid"/>
              <a:miter/>
            </a:ln>
          </p:spPr>
        </p:sp>
      </p:grpSp>
      <p:sp>
        <p:nvSpPr>
          <p:cNvPr name="AutoShape 7" id="7"/>
          <p:cNvSpPr/>
          <p:nvPr/>
        </p:nvSpPr>
        <p:spPr>
          <a:xfrm flipH="true">
            <a:off x="10154586" y="3825627"/>
            <a:ext cx="7104714" cy="0"/>
          </a:xfrm>
          <a:prstGeom prst="line">
            <a:avLst/>
          </a:prstGeom>
          <a:ln cap="flat" w="9525">
            <a:solidFill>
              <a:srgbClr val="FFFFFF">
                <a:alpha val="37647"/>
              </a:srgbClr>
            </a:solidFill>
            <a:prstDash val="solid"/>
            <a:headEnd type="none" len="sm" w="sm"/>
            <a:tailEnd type="none" len="sm" w="sm"/>
          </a:ln>
        </p:spPr>
      </p:sp>
      <p:sp>
        <p:nvSpPr>
          <p:cNvPr name="Freeform 8" id="8"/>
          <p:cNvSpPr/>
          <p:nvPr/>
        </p:nvSpPr>
        <p:spPr>
          <a:xfrm flipH="false" flipV="false" rot="0">
            <a:off x="10345086" y="3064715"/>
            <a:ext cx="219117" cy="369140"/>
          </a:xfrm>
          <a:custGeom>
            <a:avLst/>
            <a:gdLst/>
            <a:ahLst/>
            <a:cxnLst/>
            <a:rect r="r" b="b" t="t" l="l"/>
            <a:pathLst>
              <a:path h="369140" w="219117">
                <a:moveTo>
                  <a:pt x="0" y="0"/>
                </a:moveTo>
                <a:lnTo>
                  <a:pt x="219117" y="0"/>
                </a:lnTo>
                <a:lnTo>
                  <a:pt x="219117"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t="0" r="0" b="0"/>
            </a:stretch>
          </a:blipFill>
        </p:spPr>
      </p:sp>
      <p:sp>
        <p:nvSpPr>
          <p:cNvPr name="Freeform 9" id="9"/>
          <p:cNvSpPr/>
          <p:nvPr/>
        </p:nvSpPr>
        <p:spPr>
          <a:xfrm flipH="false" flipV="false" rot="0">
            <a:off x="-1879949" y="4081984"/>
            <a:ext cx="3759898" cy="4114800"/>
          </a:xfrm>
          <a:custGeom>
            <a:avLst/>
            <a:gdLst/>
            <a:ahLst/>
            <a:cxnLst/>
            <a:rect r="r" b="b" t="t" l="l"/>
            <a:pathLst>
              <a:path h="4114800" w="3759898">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7113471" y="9015934"/>
            <a:ext cx="2349058" cy="1189211"/>
          </a:xfrm>
          <a:custGeom>
            <a:avLst/>
            <a:gdLst/>
            <a:ahLst/>
            <a:cxnLst/>
            <a:rect r="r" b="b" t="t" l="l"/>
            <a:pathLst>
              <a:path h="1189211" w="2349058">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326990" y="483440"/>
            <a:ext cx="9237213" cy="2447925"/>
          </a:xfrm>
          <a:prstGeom prst="rect">
            <a:avLst/>
          </a:prstGeom>
        </p:spPr>
        <p:txBody>
          <a:bodyPr anchor="t" rtlCol="false" tIns="0" lIns="0" bIns="0" rIns="0">
            <a:spAutoFit/>
          </a:bodyPr>
          <a:lstStyle/>
          <a:p>
            <a:pPr algn="l">
              <a:lnSpc>
                <a:spcPts val="9600"/>
              </a:lnSpc>
            </a:pPr>
            <a:r>
              <a:rPr lang="en-US" sz="8000" b="true">
                <a:solidFill>
                  <a:srgbClr val="FFFFFF"/>
                </a:solidFill>
                <a:latin typeface="Aileron Bold"/>
                <a:ea typeface="Aileron Bold"/>
                <a:cs typeface="Aileron Bold"/>
                <a:sym typeface="Aileron Bold"/>
              </a:rPr>
              <a:t>Step 1 — Import &amp; Comprendr</a:t>
            </a:r>
            <a:r>
              <a:rPr lang="en-US" b="true" sz="8000">
                <a:solidFill>
                  <a:srgbClr val="FFFFFF"/>
                </a:solidFill>
                <a:latin typeface="Aileron Bold"/>
                <a:ea typeface="Aileron Bold"/>
                <a:cs typeface="Aileron Bold"/>
                <a:sym typeface="Aileron Bold"/>
              </a:rPr>
              <a:t>e Data</a:t>
            </a:r>
          </a:p>
        </p:txBody>
      </p:sp>
      <p:sp>
        <p:nvSpPr>
          <p:cNvPr name="TextBox 12" id="12"/>
          <p:cNvSpPr txBox="true"/>
          <p:nvPr/>
        </p:nvSpPr>
        <p:spPr>
          <a:xfrm rot="0">
            <a:off x="10942728" y="2969465"/>
            <a:ext cx="4055005" cy="485775"/>
          </a:xfrm>
          <a:prstGeom prst="rect">
            <a:avLst/>
          </a:prstGeom>
        </p:spPr>
        <p:txBody>
          <a:bodyPr anchor="t" rtlCol="false" tIns="0" lIns="0" bIns="0" rIns="0">
            <a:spAutoFit/>
          </a:bodyPr>
          <a:lstStyle/>
          <a:p>
            <a:pPr algn="l">
              <a:lnSpc>
                <a:spcPts val="3840"/>
              </a:lnSpc>
            </a:pPr>
            <a:r>
              <a:rPr lang="en-US" sz="3200" b="true">
                <a:solidFill>
                  <a:srgbClr val="FFFFFF"/>
                </a:solidFill>
                <a:latin typeface="Aileron Bold"/>
                <a:ea typeface="Aileron Bold"/>
                <a:cs typeface="Aileron Bold"/>
                <a:sym typeface="Aileron Bold"/>
              </a:rPr>
              <a:t>Etape 1 : </a:t>
            </a:r>
          </a:p>
        </p:txBody>
      </p:sp>
      <p:sp>
        <p:nvSpPr>
          <p:cNvPr name="TextBox 13" id="13"/>
          <p:cNvSpPr txBox="true"/>
          <p:nvPr/>
        </p:nvSpPr>
        <p:spPr>
          <a:xfrm rot="0">
            <a:off x="10942728" y="4192339"/>
            <a:ext cx="6316572" cy="4191000"/>
          </a:xfrm>
          <a:prstGeom prst="rect">
            <a:avLst/>
          </a:prstGeom>
        </p:spPr>
        <p:txBody>
          <a:bodyPr anchor="t" rtlCol="false" tIns="0" lIns="0" bIns="0" rIns="0">
            <a:spAutoFit/>
          </a:bodyPr>
          <a:lstStyle/>
          <a:p>
            <a:pPr algn="l">
              <a:lnSpc>
                <a:spcPts val="3360"/>
              </a:lnSpc>
            </a:pPr>
            <a:r>
              <a:rPr lang="en-US" sz="2800" b="true">
                <a:solidFill>
                  <a:srgbClr val="FFFFFF"/>
                </a:solidFill>
                <a:latin typeface="Aileron Bold"/>
                <a:ea typeface="Aileron Bold"/>
                <a:cs typeface="Aileron Bold"/>
                <a:sym typeface="Aileron Bold"/>
              </a:rPr>
              <a:t>Dans cette étape, j’ai importé le fichier CSV brut et exploré la structure des données afin de comprendre les colonnes, les types de variables et la distribution des valeurs. J’ai également identifié les problèmes de qualité tels que les valeurs manquantes, les incohérences de formats et les doublons.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0">
            <a:off x="15923816" y="-2052828"/>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4900970" y="8234172"/>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5" id="5"/>
          <p:cNvGrpSpPr/>
          <p:nvPr/>
        </p:nvGrpSpPr>
        <p:grpSpPr>
          <a:xfrm rot="0">
            <a:off x="4197150" y="2969465"/>
            <a:ext cx="5259208" cy="7317535"/>
            <a:chOff x="0" y="0"/>
            <a:chExt cx="814789" cy="1133678"/>
          </a:xfrm>
        </p:grpSpPr>
        <p:sp>
          <p:nvSpPr>
            <p:cNvPr name="Freeform 6" id="6"/>
            <p:cNvSpPr/>
            <p:nvPr/>
          </p:nvSpPr>
          <p:spPr>
            <a:xfrm flipH="false" flipV="false" rot="0">
              <a:off x="0" y="0"/>
              <a:ext cx="814789" cy="1133678"/>
            </a:xfrm>
            <a:custGeom>
              <a:avLst/>
              <a:gdLst/>
              <a:ahLst/>
              <a:cxnLst/>
              <a:rect r="r" b="b" t="t" l="l"/>
              <a:pathLst>
                <a:path h="1133678" w="814789">
                  <a:moveTo>
                    <a:pt x="0" y="0"/>
                  </a:moveTo>
                  <a:lnTo>
                    <a:pt x="814789" y="0"/>
                  </a:lnTo>
                  <a:lnTo>
                    <a:pt x="814789" y="1133678"/>
                  </a:lnTo>
                  <a:lnTo>
                    <a:pt x="0" y="1133678"/>
                  </a:lnTo>
                  <a:close/>
                </a:path>
              </a:pathLst>
            </a:custGeom>
            <a:blipFill>
              <a:blip r:embed="rId5"/>
              <a:stretch>
                <a:fillRect l="0" t="0" r="-34447" b="0"/>
              </a:stretch>
            </a:blipFill>
            <a:ln w="38100" cap="sq">
              <a:solidFill>
                <a:srgbClr val="000000"/>
              </a:solidFill>
              <a:prstDash val="solid"/>
              <a:miter/>
            </a:ln>
          </p:spPr>
        </p:sp>
      </p:grpSp>
      <p:sp>
        <p:nvSpPr>
          <p:cNvPr name="AutoShape 7" id="7"/>
          <p:cNvSpPr/>
          <p:nvPr/>
        </p:nvSpPr>
        <p:spPr>
          <a:xfrm flipH="true">
            <a:off x="10154586" y="3825627"/>
            <a:ext cx="7104714" cy="0"/>
          </a:xfrm>
          <a:prstGeom prst="line">
            <a:avLst/>
          </a:prstGeom>
          <a:ln cap="flat" w="9525">
            <a:solidFill>
              <a:srgbClr val="FFFFFF">
                <a:alpha val="37647"/>
              </a:srgbClr>
            </a:solidFill>
            <a:prstDash val="solid"/>
            <a:headEnd type="none" len="sm" w="sm"/>
            <a:tailEnd type="none" len="sm" w="sm"/>
          </a:ln>
        </p:spPr>
      </p:sp>
      <p:sp>
        <p:nvSpPr>
          <p:cNvPr name="Freeform 8" id="8"/>
          <p:cNvSpPr/>
          <p:nvPr/>
        </p:nvSpPr>
        <p:spPr>
          <a:xfrm flipH="false" flipV="false" rot="0">
            <a:off x="10345086" y="3064715"/>
            <a:ext cx="219117" cy="369140"/>
          </a:xfrm>
          <a:custGeom>
            <a:avLst/>
            <a:gdLst/>
            <a:ahLst/>
            <a:cxnLst/>
            <a:rect r="r" b="b" t="t" l="l"/>
            <a:pathLst>
              <a:path h="369140" w="219117">
                <a:moveTo>
                  <a:pt x="0" y="0"/>
                </a:moveTo>
                <a:lnTo>
                  <a:pt x="219117" y="0"/>
                </a:lnTo>
                <a:lnTo>
                  <a:pt x="219117"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t="0" r="0" b="0"/>
            </a:stretch>
          </a:blipFill>
        </p:spPr>
      </p:sp>
      <p:sp>
        <p:nvSpPr>
          <p:cNvPr name="Freeform 9" id="9"/>
          <p:cNvSpPr/>
          <p:nvPr/>
        </p:nvSpPr>
        <p:spPr>
          <a:xfrm flipH="false" flipV="false" rot="0">
            <a:off x="-1879949" y="4081984"/>
            <a:ext cx="3759898" cy="4114800"/>
          </a:xfrm>
          <a:custGeom>
            <a:avLst/>
            <a:gdLst/>
            <a:ahLst/>
            <a:cxnLst/>
            <a:rect r="r" b="b" t="t" l="l"/>
            <a:pathLst>
              <a:path h="4114800" w="3759898">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7113471" y="9015934"/>
            <a:ext cx="2349058" cy="1189211"/>
          </a:xfrm>
          <a:custGeom>
            <a:avLst/>
            <a:gdLst/>
            <a:ahLst/>
            <a:cxnLst/>
            <a:rect r="r" b="b" t="t" l="l"/>
            <a:pathLst>
              <a:path h="1189211" w="2349058">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326990" y="483440"/>
            <a:ext cx="9237213" cy="2447925"/>
          </a:xfrm>
          <a:prstGeom prst="rect">
            <a:avLst/>
          </a:prstGeom>
        </p:spPr>
        <p:txBody>
          <a:bodyPr anchor="t" rtlCol="false" tIns="0" lIns="0" bIns="0" rIns="0">
            <a:spAutoFit/>
          </a:bodyPr>
          <a:lstStyle/>
          <a:p>
            <a:pPr algn="l">
              <a:lnSpc>
                <a:spcPts val="9600"/>
              </a:lnSpc>
            </a:pPr>
            <a:r>
              <a:rPr lang="en-US" sz="8000" b="true">
                <a:solidFill>
                  <a:srgbClr val="FFFFFF"/>
                </a:solidFill>
                <a:latin typeface="Aileron Bold"/>
                <a:ea typeface="Aileron Bold"/>
                <a:cs typeface="Aileron Bold"/>
                <a:sym typeface="Aileron Bold"/>
              </a:rPr>
              <a:t>Step 2 — Nettoyag</a:t>
            </a:r>
            <a:r>
              <a:rPr lang="en-US" b="true" sz="8000">
                <a:solidFill>
                  <a:srgbClr val="FFFFFF"/>
                </a:solidFill>
                <a:latin typeface="Aileron Bold"/>
                <a:ea typeface="Aileron Bold"/>
                <a:cs typeface="Aileron Bold"/>
                <a:sym typeface="Aileron Bold"/>
              </a:rPr>
              <a:t>e</a:t>
            </a:r>
          </a:p>
        </p:txBody>
      </p:sp>
      <p:sp>
        <p:nvSpPr>
          <p:cNvPr name="TextBox 12" id="12"/>
          <p:cNvSpPr txBox="true"/>
          <p:nvPr/>
        </p:nvSpPr>
        <p:spPr>
          <a:xfrm rot="0">
            <a:off x="10942728" y="2969465"/>
            <a:ext cx="4055005" cy="485775"/>
          </a:xfrm>
          <a:prstGeom prst="rect">
            <a:avLst/>
          </a:prstGeom>
        </p:spPr>
        <p:txBody>
          <a:bodyPr anchor="t" rtlCol="false" tIns="0" lIns="0" bIns="0" rIns="0">
            <a:spAutoFit/>
          </a:bodyPr>
          <a:lstStyle/>
          <a:p>
            <a:pPr algn="l">
              <a:lnSpc>
                <a:spcPts val="3840"/>
              </a:lnSpc>
            </a:pPr>
            <a:r>
              <a:rPr lang="en-US" sz="3200" b="true">
                <a:solidFill>
                  <a:srgbClr val="FFFFFF"/>
                </a:solidFill>
                <a:latin typeface="Aileron Bold"/>
                <a:ea typeface="Aileron Bold"/>
                <a:cs typeface="Aileron Bold"/>
                <a:sym typeface="Aileron Bold"/>
              </a:rPr>
              <a:t>Etape 2 : </a:t>
            </a:r>
          </a:p>
        </p:txBody>
      </p:sp>
      <p:sp>
        <p:nvSpPr>
          <p:cNvPr name="TextBox 13" id="13"/>
          <p:cNvSpPr txBox="true"/>
          <p:nvPr/>
        </p:nvSpPr>
        <p:spPr>
          <a:xfrm rot="0">
            <a:off x="10942728" y="4192339"/>
            <a:ext cx="6316572" cy="3771900"/>
          </a:xfrm>
          <a:prstGeom prst="rect">
            <a:avLst/>
          </a:prstGeom>
        </p:spPr>
        <p:txBody>
          <a:bodyPr anchor="t" rtlCol="false" tIns="0" lIns="0" bIns="0" rIns="0">
            <a:spAutoFit/>
          </a:bodyPr>
          <a:lstStyle/>
          <a:p>
            <a:pPr algn="l">
              <a:lnSpc>
                <a:spcPts val="3360"/>
              </a:lnSpc>
            </a:pPr>
            <a:r>
              <a:rPr lang="en-US" sz="2800" b="true">
                <a:solidFill>
                  <a:srgbClr val="FFFFFF"/>
                </a:solidFill>
                <a:latin typeface="Aileron Bold"/>
                <a:ea typeface="Aileron Bold"/>
                <a:cs typeface="Aileron Bold"/>
                <a:sym typeface="Aileron Bold"/>
              </a:rPr>
              <a:t>Dans cette étape, j’ai nettoyé le dataset en supprimant les doublons, en corrigeant les types de données (dates et valeurs numériques), en traitant les valeurs manquantes et en harmonisant les colonnes texte. L’objectif était d’obtenir un dataset cohérent et exploitable pour les transformations suivantes.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0">
            <a:off x="15923816" y="-2052828"/>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4900970" y="8234172"/>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5" id="5"/>
          <p:cNvGrpSpPr/>
          <p:nvPr/>
        </p:nvGrpSpPr>
        <p:grpSpPr>
          <a:xfrm rot="0">
            <a:off x="4197150" y="2969465"/>
            <a:ext cx="5259208" cy="7317535"/>
            <a:chOff x="0" y="0"/>
            <a:chExt cx="814789" cy="1133678"/>
          </a:xfrm>
        </p:grpSpPr>
        <p:sp>
          <p:nvSpPr>
            <p:cNvPr name="Freeform 6" id="6"/>
            <p:cNvSpPr/>
            <p:nvPr/>
          </p:nvSpPr>
          <p:spPr>
            <a:xfrm flipH="false" flipV="false" rot="0">
              <a:off x="0" y="0"/>
              <a:ext cx="814789" cy="1133678"/>
            </a:xfrm>
            <a:custGeom>
              <a:avLst/>
              <a:gdLst/>
              <a:ahLst/>
              <a:cxnLst/>
              <a:rect r="r" b="b" t="t" l="l"/>
              <a:pathLst>
                <a:path h="1133678" w="814789">
                  <a:moveTo>
                    <a:pt x="0" y="0"/>
                  </a:moveTo>
                  <a:lnTo>
                    <a:pt x="814789" y="0"/>
                  </a:lnTo>
                  <a:lnTo>
                    <a:pt x="814789" y="1133678"/>
                  </a:lnTo>
                  <a:lnTo>
                    <a:pt x="0" y="1133678"/>
                  </a:lnTo>
                  <a:close/>
                </a:path>
              </a:pathLst>
            </a:custGeom>
            <a:blipFill>
              <a:blip r:embed="rId5"/>
              <a:stretch>
                <a:fillRect l="0" t="0" r="-29678" b="0"/>
              </a:stretch>
            </a:blipFill>
            <a:ln w="38100" cap="sq">
              <a:solidFill>
                <a:srgbClr val="000000"/>
              </a:solidFill>
              <a:prstDash val="solid"/>
              <a:miter/>
            </a:ln>
          </p:spPr>
        </p:sp>
      </p:grpSp>
      <p:sp>
        <p:nvSpPr>
          <p:cNvPr name="AutoShape 7" id="7"/>
          <p:cNvSpPr/>
          <p:nvPr/>
        </p:nvSpPr>
        <p:spPr>
          <a:xfrm flipH="true">
            <a:off x="10154586" y="3825627"/>
            <a:ext cx="7104714" cy="0"/>
          </a:xfrm>
          <a:prstGeom prst="line">
            <a:avLst/>
          </a:prstGeom>
          <a:ln cap="flat" w="9525">
            <a:solidFill>
              <a:srgbClr val="FFFFFF">
                <a:alpha val="37647"/>
              </a:srgbClr>
            </a:solidFill>
            <a:prstDash val="solid"/>
            <a:headEnd type="none" len="sm" w="sm"/>
            <a:tailEnd type="none" len="sm" w="sm"/>
          </a:ln>
        </p:spPr>
      </p:sp>
      <p:sp>
        <p:nvSpPr>
          <p:cNvPr name="Freeform 8" id="8"/>
          <p:cNvSpPr/>
          <p:nvPr/>
        </p:nvSpPr>
        <p:spPr>
          <a:xfrm flipH="false" flipV="false" rot="0">
            <a:off x="10345086" y="3064715"/>
            <a:ext cx="219117" cy="369140"/>
          </a:xfrm>
          <a:custGeom>
            <a:avLst/>
            <a:gdLst/>
            <a:ahLst/>
            <a:cxnLst/>
            <a:rect r="r" b="b" t="t" l="l"/>
            <a:pathLst>
              <a:path h="369140" w="219117">
                <a:moveTo>
                  <a:pt x="0" y="0"/>
                </a:moveTo>
                <a:lnTo>
                  <a:pt x="219117" y="0"/>
                </a:lnTo>
                <a:lnTo>
                  <a:pt x="219117"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t="0" r="0" b="0"/>
            </a:stretch>
          </a:blipFill>
        </p:spPr>
      </p:sp>
      <p:sp>
        <p:nvSpPr>
          <p:cNvPr name="Freeform 9" id="9"/>
          <p:cNvSpPr/>
          <p:nvPr/>
        </p:nvSpPr>
        <p:spPr>
          <a:xfrm flipH="false" flipV="false" rot="0">
            <a:off x="-1879949" y="4081984"/>
            <a:ext cx="3759898" cy="4114800"/>
          </a:xfrm>
          <a:custGeom>
            <a:avLst/>
            <a:gdLst/>
            <a:ahLst/>
            <a:cxnLst/>
            <a:rect r="r" b="b" t="t" l="l"/>
            <a:pathLst>
              <a:path h="4114800" w="3759898">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7113471" y="9015934"/>
            <a:ext cx="2349058" cy="1189211"/>
          </a:xfrm>
          <a:custGeom>
            <a:avLst/>
            <a:gdLst/>
            <a:ahLst/>
            <a:cxnLst/>
            <a:rect r="r" b="b" t="t" l="l"/>
            <a:pathLst>
              <a:path h="1189211" w="2349058">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326990" y="483440"/>
            <a:ext cx="9237213" cy="2447925"/>
          </a:xfrm>
          <a:prstGeom prst="rect">
            <a:avLst/>
          </a:prstGeom>
        </p:spPr>
        <p:txBody>
          <a:bodyPr anchor="t" rtlCol="false" tIns="0" lIns="0" bIns="0" rIns="0">
            <a:spAutoFit/>
          </a:bodyPr>
          <a:lstStyle/>
          <a:p>
            <a:pPr algn="l">
              <a:lnSpc>
                <a:spcPts val="9600"/>
              </a:lnSpc>
            </a:pPr>
            <a:r>
              <a:rPr lang="en-US" sz="8000" b="true">
                <a:solidFill>
                  <a:srgbClr val="FFFFFF"/>
                </a:solidFill>
                <a:latin typeface="Aileron Bold"/>
                <a:ea typeface="Aileron Bold"/>
                <a:cs typeface="Aileron Bold"/>
                <a:sym typeface="Aileron Bold"/>
              </a:rPr>
              <a:t>Step 3 — Transformation</a:t>
            </a:r>
          </a:p>
        </p:txBody>
      </p:sp>
      <p:sp>
        <p:nvSpPr>
          <p:cNvPr name="TextBox 12" id="12"/>
          <p:cNvSpPr txBox="true"/>
          <p:nvPr/>
        </p:nvSpPr>
        <p:spPr>
          <a:xfrm rot="0">
            <a:off x="10942728" y="2969465"/>
            <a:ext cx="4055005" cy="485775"/>
          </a:xfrm>
          <a:prstGeom prst="rect">
            <a:avLst/>
          </a:prstGeom>
        </p:spPr>
        <p:txBody>
          <a:bodyPr anchor="t" rtlCol="false" tIns="0" lIns="0" bIns="0" rIns="0">
            <a:spAutoFit/>
          </a:bodyPr>
          <a:lstStyle/>
          <a:p>
            <a:pPr algn="l">
              <a:lnSpc>
                <a:spcPts val="3840"/>
              </a:lnSpc>
            </a:pPr>
            <a:r>
              <a:rPr lang="en-US" sz="3200" b="true">
                <a:solidFill>
                  <a:srgbClr val="FFFFFF"/>
                </a:solidFill>
                <a:latin typeface="Aileron Bold"/>
                <a:ea typeface="Aileron Bold"/>
                <a:cs typeface="Aileron Bold"/>
                <a:sym typeface="Aileron Bold"/>
              </a:rPr>
              <a:t>Etape 3 : </a:t>
            </a:r>
          </a:p>
        </p:txBody>
      </p:sp>
      <p:sp>
        <p:nvSpPr>
          <p:cNvPr name="TextBox 13" id="13"/>
          <p:cNvSpPr txBox="true"/>
          <p:nvPr/>
        </p:nvSpPr>
        <p:spPr>
          <a:xfrm rot="0">
            <a:off x="10942728" y="4192339"/>
            <a:ext cx="6316572" cy="5448300"/>
          </a:xfrm>
          <a:prstGeom prst="rect">
            <a:avLst/>
          </a:prstGeom>
        </p:spPr>
        <p:txBody>
          <a:bodyPr anchor="t" rtlCol="false" tIns="0" lIns="0" bIns="0" rIns="0">
            <a:spAutoFit/>
          </a:bodyPr>
          <a:lstStyle/>
          <a:p>
            <a:pPr algn="l">
              <a:lnSpc>
                <a:spcPts val="3360"/>
              </a:lnSpc>
            </a:pPr>
            <a:r>
              <a:rPr lang="en-US" sz="2800" b="true">
                <a:solidFill>
                  <a:srgbClr val="FFFFFF"/>
                </a:solidFill>
                <a:latin typeface="Aileron Bold"/>
                <a:ea typeface="Aileron Bold"/>
                <a:cs typeface="Aileron Bold"/>
                <a:sym typeface="Aileron Bold"/>
              </a:rPr>
              <a:t>Dans cette étape, j’ai transformé le dataset en ajoutant des colonnes dérivées utiles pour l’analyse : extraction de l’année, du mois et du trimestre à partir des dates de commande, calcul d’indicateurs approximatifs comme la marge relative et les ratios basés sur les ventes, création du délai de livraison, et identification des valeurs aberrantes afin de préparer un dataset prêt pour l’analyse exploratoire.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0">
            <a:off x="15923816" y="-2052828"/>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4900970" y="8234172"/>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5" id="5"/>
          <p:cNvGrpSpPr/>
          <p:nvPr/>
        </p:nvGrpSpPr>
        <p:grpSpPr>
          <a:xfrm rot="0">
            <a:off x="4197150" y="2969465"/>
            <a:ext cx="5259208" cy="7317535"/>
            <a:chOff x="0" y="0"/>
            <a:chExt cx="814789" cy="1133678"/>
          </a:xfrm>
        </p:grpSpPr>
        <p:sp>
          <p:nvSpPr>
            <p:cNvPr name="Freeform 6" id="6"/>
            <p:cNvSpPr/>
            <p:nvPr/>
          </p:nvSpPr>
          <p:spPr>
            <a:xfrm flipH="false" flipV="false" rot="0">
              <a:off x="0" y="0"/>
              <a:ext cx="814789" cy="1133678"/>
            </a:xfrm>
            <a:custGeom>
              <a:avLst/>
              <a:gdLst/>
              <a:ahLst/>
              <a:cxnLst/>
              <a:rect r="r" b="b" t="t" l="l"/>
              <a:pathLst>
                <a:path h="1133678" w="814789">
                  <a:moveTo>
                    <a:pt x="0" y="0"/>
                  </a:moveTo>
                  <a:lnTo>
                    <a:pt x="814789" y="0"/>
                  </a:lnTo>
                  <a:lnTo>
                    <a:pt x="814789" y="1133678"/>
                  </a:lnTo>
                  <a:lnTo>
                    <a:pt x="0" y="1133678"/>
                  </a:lnTo>
                  <a:close/>
                </a:path>
              </a:pathLst>
            </a:custGeom>
            <a:blipFill>
              <a:blip r:embed="rId5"/>
              <a:stretch>
                <a:fillRect l="-1178" t="0" r="-29774" b="0"/>
              </a:stretch>
            </a:blipFill>
            <a:ln w="38100" cap="sq">
              <a:solidFill>
                <a:srgbClr val="000000"/>
              </a:solidFill>
              <a:prstDash val="solid"/>
              <a:miter/>
            </a:ln>
          </p:spPr>
        </p:sp>
      </p:grpSp>
      <p:sp>
        <p:nvSpPr>
          <p:cNvPr name="AutoShape 7" id="7"/>
          <p:cNvSpPr/>
          <p:nvPr/>
        </p:nvSpPr>
        <p:spPr>
          <a:xfrm flipH="true">
            <a:off x="10154586" y="3825627"/>
            <a:ext cx="7104714" cy="0"/>
          </a:xfrm>
          <a:prstGeom prst="line">
            <a:avLst/>
          </a:prstGeom>
          <a:ln cap="flat" w="9525">
            <a:solidFill>
              <a:srgbClr val="FFFFFF">
                <a:alpha val="37647"/>
              </a:srgbClr>
            </a:solidFill>
            <a:prstDash val="solid"/>
            <a:headEnd type="none" len="sm" w="sm"/>
            <a:tailEnd type="none" len="sm" w="sm"/>
          </a:ln>
        </p:spPr>
      </p:sp>
      <p:sp>
        <p:nvSpPr>
          <p:cNvPr name="Freeform 8" id="8"/>
          <p:cNvSpPr/>
          <p:nvPr/>
        </p:nvSpPr>
        <p:spPr>
          <a:xfrm flipH="false" flipV="false" rot="0">
            <a:off x="10345086" y="3064715"/>
            <a:ext cx="219117" cy="369140"/>
          </a:xfrm>
          <a:custGeom>
            <a:avLst/>
            <a:gdLst/>
            <a:ahLst/>
            <a:cxnLst/>
            <a:rect r="r" b="b" t="t" l="l"/>
            <a:pathLst>
              <a:path h="369140" w="219117">
                <a:moveTo>
                  <a:pt x="0" y="0"/>
                </a:moveTo>
                <a:lnTo>
                  <a:pt x="219117" y="0"/>
                </a:lnTo>
                <a:lnTo>
                  <a:pt x="219117"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t="0" r="0" b="0"/>
            </a:stretch>
          </a:blipFill>
        </p:spPr>
      </p:sp>
      <p:sp>
        <p:nvSpPr>
          <p:cNvPr name="Freeform 9" id="9"/>
          <p:cNvSpPr/>
          <p:nvPr/>
        </p:nvSpPr>
        <p:spPr>
          <a:xfrm flipH="false" flipV="false" rot="0">
            <a:off x="-1879949" y="4081984"/>
            <a:ext cx="3759898" cy="4114800"/>
          </a:xfrm>
          <a:custGeom>
            <a:avLst/>
            <a:gdLst/>
            <a:ahLst/>
            <a:cxnLst/>
            <a:rect r="r" b="b" t="t" l="l"/>
            <a:pathLst>
              <a:path h="4114800" w="3759898">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7113471" y="9015934"/>
            <a:ext cx="2349058" cy="1189211"/>
          </a:xfrm>
          <a:custGeom>
            <a:avLst/>
            <a:gdLst/>
            <a:ahLst/>
            <a:cxnLst/>
            <a:rect r="r" b="b" t="t" l="l"/>
            <a:pathLst>
              <a:path h="1189211" w="2349058">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326990" y="483440"/>
            <a:ext cx="9237213" cy="2447925"/>
          </a:xfrm>
          <a:prstGeom prst="rect">
            <a:avLst/>
          </a:prstGeom>
        </p:spPr>
        <p:txBody>
          <a:bodyPr anchor="t" rtlCol="false" tIns="0" lIns="0" bIns="0" rIns="0">
            <a:spAutoFit/>
          </a:bodyPr>
          <a:lstStyle/>
          <a:p>
            <a:pPr algn="l">
              <a:lnSpc>
                <a:spcPts val="9600"/>
              </a:lnSpc>
            </a:pPr>
            <a:r>
              <a:rPr lang="en-US" sz="8000" b="true">
                <a:solidFill>
                  <a:srgbClr val="FFFFFF"/>
                </a:solidFill>
                <a:latin typeface="Aileron Bold"/>
                <a:ea typeface="Aileron Bold"/>
                <a:cs typeface="Aileron Bold"/>
                <a:sym typeface="Aileron Bold"/>
              </a:rPr>
              <a:t>Step 4 — Analyse (EDA)</a:t>
            </a:r>
          </a:p>
        </p:txBody>
      </p:sp>
      <p:sp>
        <p:nvSpPr>
          <p:cNvPr name="TextBox 12" id="12"/>
          <p:cNvSpPr txBox="true"/>
          <p:nvPr/>
        </p:nvSpPr>
        <p:spPr>
          <a:xfrm rot="0">
            <a:off x="10942728" y="2969465"/>
            <a:ext cx="4055005" cy="485775"/>
          </a:xfrm>
          <a:prstGeom prst="rect">
            <a:avLst/>
          </a:prstGeom>
        </p:spPr>
        <p:txBody>
          <a:bodyPr anchor="t" rtlCol="false" tIns="0" lIns="0" bIns="0" rIns="0">
            <a:spAutoFit/>
          </a:bodyPr>
          <a:lstStyle/>
          <a:p>
            <a:pPr algn="l">
              <a:lnSpc>
                <a:spcPts val="3840"/>
              </a:lnSpc>
            </a:pPr>
            <a:r>
              <a:rPr lang="en-US" sz="3200" b="true">
                <a:solidFill>
                  <a:srgbClr val="FFFFFF"/>
                </a:solidFill>
                <a:latin typeface="Aileron Bold"/>
                <a:ea typeface="Aileron Bold"/>
                <a:cs typeface="Aileron Bold"/>
                <a:sym typeface="Aileron Bold"/>
              </a:rPr>
              <a:t>Etape 4 : </a:t>
            </a:r>
          </a:p>
        </p:txBody>
      </p:sp>
      <p:sp>
        <p:nvSpPr>
          <p:cNvPr name="TextBox 13" id="13"/>
          <p:cNvSpPr txBox="true"/>
          <p:nvPr/>
        </p:nvSpPr>
        <p:spPr>
          <a:xfrm rot="0">
            <a:off x="10942728" y="4192339"/>
            <a:ext cx="6316572" cy="5029200"/>
          </a:xfrm>
          <a:prstGeom prst="rect">
            <a:avLst/>
          </a:prstGeom>
        </p:spPr>
        <p:txBody>
          <a:bodyPr anchor="t" rtlCol="false" tIns="0" lIns="0" bIns="0" rIns="0">
            <a:spAutoFit/>
          </a:bodyPr>
          <a:lstStyle/>
          <a:p>
            <a:pPr algn="l">
              <a:lnSpc>
                <a:spcPts val="3360"/>
              </a:lnSpc>
            </a:pPr>
            <a:r>
              <a:rPr lang="en-US" sz="2800" b="true">
                <a:solidFill>
                  <a:srgbClr val="FFFFFF"/>
                </a:solidFill>
                <a:latin typeface="Aileron Bold"/>
                <a:ea typeface="Aileron Bold"/>
                <a:cs typeface="Aileron Bold"/>
                <a:sym typeface="Aileron Bold"/>
              </a:rPr>
              <a:t>Dans cette étape, j’ai réalisé une analyse exploratoire des données en calculant et visualisant plusieurs indicateurs clés : les ventes par catégorie et par région, le profit estimé par segment client, le classement des produits les plus performants ainsi que la croissance mensuelle des ventes. Cette analyse permet d’identifier les tendances commerciales et les opportunités d’amélioration.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0">
            <a:off x="15923816" y="-2052828"/>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4900970" y="8234172"/>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5" id="5"/>
          <p:cNvGrpSpPr/>
          <p:nvPr/>
        </p:nvGrpSpPr>
        <p:grpSpPr>
          <a:xfrm rot="0">
            <a:off x="4197150" y="2969465"/>
            <a:ext cx="5259208" cy="7317535"/>
            <a:chOff x="0" y="0"/>
            <a:chExt cx="814789" cy="1133678"/>
          </a:xfrm>
        </p:grpSpPr>
        <p:sp>
          <p:nvSpPr>
            <p:cNvPr name="Freeform 6" id="6"/>
            <p:cNvSpPr/>
            <p:nvPr/>
          </p:nvSpPr>
          <p:spPr>
            <a:xfrm flipH="false" flipV="false" rot="0">
              <a:off x="0" y="0"/>
              <a:ext cx="814789" cy="1133678"/>
            </a:xfrm>
            <a:custGeom>
              <a:avLst/>
              <a:gdLst/>
              <a:ahLst/>
              <a:cxnLst/>
              <a:rect r="r" b="b" t="t" l="l"/>
              <a:pathLst>
                <a:path h="1133678" w="814789">
                  <a:moveTo>
                    <a:pt x="0" y="0"/>
                  </a:moveTo>
                  <a:lnTo>
                    <a:pt x="814789" y="0"/>
                  </a:lnTo>
                  <a:lnTo>
                    <a:pt x="814789" y="1133678"/>
                  </a:lnTo>
                  <a:lnTo>
                    <a:pt x="0" y="1133678"/>
                  </a:lnTo>
                  <a:close/>
                </a:path>
              </a:pathLst>
            </a:custGeom>
            <a:blipFill>
              <a:blip r:embed="rId5"/>
              <a:stretch>
                <a:fillRect l="0" t="0" r="-54207" b="0"/>
              </a:stretch>
            </a:blipFill>
            <a:ln w="38100" cap="sq">
              <a:solidFill>
                <a:srgbClr val="000000"/>
              </a:solidFill>
              <a:prstDash val="solid"/>
              <a:miter/>
            </a:ln>
          </p:spPr>
        </p:sp>
      </p:grpSp>
      <p:sp>
        <p:nvSpPr>
          <p:cNvPr name="AutoShape 7" id="7"/>
          <p:cNvSpPr/>
          <p:nvPr/>
        </p:nvSpPr>
        <p:spPr>
          <a:xfrm flipH="true">
            <a:off x="10154586" y="3825627"/>
            <a:ext cx="7104714" cy="0"/>
          </a:xfrm>
          <a:prstGeom prst="line">
            <a:avLst/>
          </a:prstGeom>
          <a:ln cap="flat" w="9525">
            <a:solidFill>
              <a:srgbClr val="FFFFFF">
                <a:alpha val="37647"/>
              </a:srgbClr>
            </a:solidFill>
            <a:prstDash val="solid"/>
            <a:headEnd type="none" len="sm" w="sm"/>
            <a:tailEnd type="none" len="sm" w="sm"/>
          </a:ln>
        </p:spPr>
      </p:sp>
      <p:sp>
        <p:nvSpPr>
          <p:cNvPr name="Freeform 8" id="8"/>
          <p:cNvSpPr/>
          <p:nvPr/>
        </p:nvSpPr>
        <p:spPr>
          <a:xfrm flipH="false" flipV="false" rot="0">
            <a:off x="10345086" y="3064715"/>
            <a:ext cx="219117" cy="369140"/>
          </a:xfrm>
          <a:custGeom>
            <a:avLst/>
            <a:gdLst/>
            <a:ahLst/>
            <a:cxnLst/>
            <a:rect r="r" b="b" t="t" l="l"/>
            <a:pathLst>
              <a:path h="369140" w="219117">
                <a:moveTo>
                  <a:pt x="0" y="0"/>
                </a:moveTo>
                <a:lnTo>
                  <a:pt x="219117" y="0"/>
                </a:lnTo>
                <a:lnTo>
                  <a:pt x="219117"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t="0" r="0" b="0"/>
            </a:stretch>
          </a:blipFill>
        </p:spPr>
      </p:sp>
      <p:sp>
        <p:nvSpPr>
          <p:cNvPr name="Freeform 9" id="9"/>
          <p:cNvSpPr/>
          <p:nvPr/>
        </p:nvSpPr>
        <p:spPr>
          <a:xfrm flipH="false" flipV="false" rot="0">
            <a:off x="-1879949" y="4081984"/>
            <a:ext cx="3759898" cy="4114800"/>
          </a:xfrm>
          <a:custGeom>
            <a:avLst/>
            <a:gdLst/>
            <a:ahLst/>
            <a:cxnLst/>
            <a:rect r="r" b="b" t="t" l="l"/>
            <a:pathLst>
              <a:path h="4114800" w="3759898">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7113471" y="9015934"/>
            <a:ext cx="2349058" cy="1189211"/>
          </a:xfrm>
          <a:custGeom>
            <a:avLst/>
            <a:gdLst/>
            <a:ahLst/>
            <a:cxnLst/>
            <a:rect r="r" b="b" t="t" l="l"/>
            <a:pathLst>
              <a:path h="1189211" w="2349058">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326990" y="483440"/>
            <a:ext cx="9237213" cy="2447925"/>
          </a:xfrm>
          <a:prstGeom prst="rect">
            <a:avLst/>
          </a:prstGeom>
        </p:spPr>
        <p:txBody>
          <a:bodyPr anchor="t" rtlCol="false" tIns="0" lIns="0" bIns="0" rIns="0">
            <a:spAutoFit/>
          </a:bodyPr>
          <a:lstStyle/>
          <a:p>
            <a:pPr algn="l">
              <a:lnSpc>
                <a:spcPts val="9600"/>
              </a:lnSpc>
            </a:pPr>
            <a:r>
              <a:rPr lang="en-US" sz="8000" b="true">
                <a:solidFill>
                  <a:srgbClr val="FFFFFF"/>
                </a:solidFill>
                <a:latin typeface="Aileron Bold"/>
                <a:ea typeface="Aileron Bold"/>
                <a:cs typeface="Aileron Bold"/>
                <a:sym typeface="Aileron Bold"/>
              </a:rPr>
              <a:t>Step 5 — Export Final</a:t>
            </a:r>
          </a:p>
        </p:txBody>
      </p:sp>
      <p:sp>
        <p:nvSpPr>
          <p:cNvPr name="TextBox 12" id="12"/>
          <p:cNvSpPr txBox="true"/>
          <p:nvPr/>
        </p:nvSpPr>
        <p:spPr>
          <a:xfrm rot="0">
            <a:off x="10942728" y="2969465"/>
            <a:ext cx="4055005" cy="485775"/>
          </a:xfrm>
          <a:prstGeom prst="rect">
            <a:avLst/>
          </a:prstGeom>
        </p:spPr>
        <p:txBody>
          <a:bodyPr anchor="t" rtlCol="false" tIns="0" lIns="0" bIns="0" rIns="0">
            <a:spAutoFit/>
          </a:bodyPr>
          <a:lstStyle/>
          <a:p>
            <a:pPr algn="l">
              <a:lnSpc>
                <a:spcPts val="3840"/>
              </a:lnSpc>
            </a:pPr>
            <a:r>
              <a:rPr lang="en-US" sz="3200" b="true">
                <a:solidFill>
                  <a:srgbClr val="FFFFFF"/>
                </a:solidFill>
                <a:latin typeface="Aileron Bold"/>
                <a:ea typeface="Aileron Bold"/>
                <a:cs typeface="Aileron Bold"/>
                <a:sym typeface="Aileron Bold"/>
              </a:rPr>
              <a:t>Etape 5 : </a:t>
            </a:r>
          </a:p>
        </p:txBody>
      </p:sp>
      <p:sp>
        <p:nvSpPr>
          <p:cNvPr name="TextBox 13" id="13"/>
          <p:cNvSpPr txBox="true"/>
          <p:nvPr/>
        </p:nvSpPr>
        <p:spPr>
          <a:xfrm rot="0">
            <a:off x="10942728" y="4192339"/>
            <a:ext cx="6316572" cy="4191000"/>
          </a:xfrm>
          <a:prstGeom prst="rect">
            <a:avLst/>
          </a:prstGeom>
        </p:spPr>
        <p:txBody>
          <a:bodyPr anchor="t" rtlCol="false" tIns="0" lIns="0" bIns="0" rIns="0">
            <a:spAutoFit/>
          </a:bodyPr>
          <a:lstStyle/>
          <a:p>
            <a:pPr algn="l">
              <a:lnSpc>
                <a:spcPts val="3360"/>
              </a:lnSpc>
            </a:pPr>
            <a:r>
              <a:rPr lang="en-US" sz="2800" b="true">
                <a:solidFill>
                  <a:srgbClr val="FFFFFF"/>
                </a:solidFill>
                <a:latin typeface="Aileron Bold"/>
                <a:ea typeface="Aileron Bold"/>
                <a:cs typeface="Aileron Bold"/>
                <a:sym typeface="Aileron Bold"/>
              </a:rPr>
              <a:t>Dans cette dernière étape, j’ai vérifié la cohérence globale du dataset après nettoyage et transformation. Toutes les colonnes nécessaires ont été validées, puis le dataset final propre et enrichi a été exporté sous le nom superstore_clean.csv, prêt pour une utilisation dans une base de données SQL et pour la création de tableaux de bord.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0">
            <a:off x="15923816" y="-2052828"/>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4900970" y="8234172"/>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5" id="5"/>
          <p:cNvGrpSpPr/>
          <p:nvPr/>
        </p:nvGrpSpPr>
        <p:grpSpPr>
          <a:xfrm rot="0">
            <a:off x="4197150" y="2969465"/>
            <a:ext cx="5259208" cy="7317535"/>
            <a:chOff x="0" y="0"/>
            <a:chExt cx="814789" cy="1133678"/>
          </a:xfrm>
        </p:grpSpPr>
        <p:sp>
          <p:nvSpPr>
            <p:cNvPr name="Freeform 6" id="6"/>
            <p:cNvSpPr/>
            <p:nvPr/>
          </p:nvSpPr>
          <p:spPr>
            <a:xfrm flipH="false" flipV="false" rot="0">
              <a:off x="0" y="0"/>
              <a:ext cx="814789" cy="1133678"/>
            </a:xfrm>
            <a:custGeom>
              <a:avLst/>
              <a:gdLst/>
              <a:ahLst/>
              <a:cxnLst/>
              <a:rect r="r" b="b" t="t" l="l"/>
              <a:pathLst>
                <a:path h="1133678" w="814789">
                  <a:moveTo>
                    <a:pt x="0" y="0"/>
                  </a:moveTo>
                  <a:lnTo>
                    <a:pt x="814789" y="0"/>
                  </a:lnTo>
                  <a:lnTo>
                    <a:pt x="814789" y="1133678"/>
                  </a:lnTo>
                  <a:lnTo>
                    <a:pt x="0" y="1133678"/>
                  </a:lnTo>
                  <a:close/>
                </a:path>
              </a:pathLst>
            </a:custGeom>
            <a:blipFill>
              <a:blip r:embed="rId5"/>
              <a:stretch>
                <a:fillRect l="0" t="0" r="-37889" b="0"/>
              </a:stretch>
            </a:blipFill>
            <a:ln w="38100" cap="sq">
              <a:solidFill>
                <a:srgbClr val="000000"/>
              </a:solidFill>
              <a:prstDash val="solid"/>
              <a:miter/>
            </a:ln>
          </p:spPr>
        </p:sp>
      </p:grpSp>
      <p:sp>
        <p:nvSpPr>
          <p:cNvPr name="AutoShape 7" id="7"/>
          <p:cNvSpPr/>
          <p:nvPr/>
        </p:nvSpPr>
        <p:spPr>
          <a:xfrm flipH="true">
            <a:off x="9703401" y="3787527"/>
            <a:ext cx="7104714" cy="0"/>
          </a:xfrm>
          <a:prstGeom prst="line">
            <a:avLst/>
          </a:prstGeom>
          <a:ln cap="flat" w="9525">
            <a:solidFill>
              <a:srgbClr val="FFFFFF">
                <a:alpha val="37647"/>
              </a:srgbClr>
            </a:solidFill>
            <a:prstDash val="solid"/>
            <a:headEnd type="none" len="sm" w="sm"/>
            <a:tailEnd type="none" len="sm" w="sm"/>
          </a:ln>
        </p:spPr>
      </p:sp>
      <p:sp>
        <p:nvSpPr>
          <p:cNvPr name="Freeform 8" id="8"/>
          <p:cNvSpPr/>
          <p:nvPr/>
        </p:nvSpPr>
        <p:spPr>
          <a:xfrm flipH="false" flipV="false" rot="0">
            <a:off x="9893901" y="3026615"/>
            <a:ext cx="219117" cy="369140"/>
          </a:xfrm>
          <a:custGeom>
            <a:avLst/>
            <a:gdLst/>
            <a:ahLst/>
            <a:cxnLst/>
            <a:rect r="r" b="b" t="t" l="l"/>
            <a:pathLst>
              <a:path h="369140" w="219117">
                <a:moveTo>
                  <a:pt x="0" y="0"/>
                </a:moveTo>
                <a:lnTo>
                  <a:pt x="219118" y="0"/>
                </a:lnTo>
                <a:lnTo>
                  <a:pt x="219118"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t="0" r="0" b="0"/>
            </a:stretch>
          </a:blipFill>
        </p:spPr>
      </p:sp>
      <p:sp>
        <p:nvSpPr>
          <p:cNvPr name="Freeform 9" id="9"/>
          <p:cNvSpPr/>
          <p:nvPr/>
        </p:nvSpPr>
        <p:spPr>
          <a:xfrm flipH="false" flipV="false" rot="0">
            <a:off x="-1879949" y="4081984"/>
            <a:ext cx="3759898" cy="4114800"/>
          </a:xfrm>
          <a:custGeom>
            <a:avLst/>
            <a:gdLst/>
            <a:ahLst/>
            <a:cxnLst/>
            <a:rect r="r" b="b" t="t" l="l"/>
            <a:pathLst>
              <a:path h="4114800" w="3759898">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7113471" y="9015934"/>
            <a:ext cx="2349058" cy="1189211"/>
          </a:xfrm>
          <a:custGeom>
            <a:avLst/>
            <a:gdLst/>
            <a:ahLst/>
            <a:cxnLst/>
            <a:rect r="r" b="b" t="t" l="l"/>
            <a:pathLst>
              <a:path h="1189211" w="2349058">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326990" y="483440"/>
            <a:ext cx="9237213" cy="2447925"/>
          </a:xfrm>
          <a:prstGeom prst="rect">
            <a:avLst/>
          </a:prstGeom>
        </p:spPr>
        <p:txBody>
          <a:bodyPr anchor="t" rtlCol="false" tIns="0" lIns="0" bIns="0" rIns="0">
            <a:spAutoFit/>
          </a:bodyPr>
          <a:lstStyle/>
          <a:p>
            <a:pPr algn="l">
              <a:lnSpc>
                <a:spcPts val="9600"/>
              </a:lnSpc>
            </a:pPr>
            <a:r>
              <a:rPr lang="en-US" sz="8000" b="true">
                <a:solidFill>
                  <a:srgbClr val="FFFFFF"/>
                </a:solidFill>
                <a:latin typeface="Aileron Bold"/>
                <a:ea typeface="Aileron Bold"/>
                <a:cs typeface="Aileron Bold"/>
                <a:sym typeface="Aileron Bold"/>
              </a:rPr>
              <a:t>Step 6 — Documentation</a:t>
            </a:r>
          </a:p>
        </p:txBody>
      </p:sp>
      <p:sp>
        <p:nvSpPr>
          <p:cNvPr name="TextBox 12" id="12"/>
          <p:cNvSpPr txBox="true"/>
          <p:nvPr/>
        </p:nvSpPr>
        <p:spPr>
          <a:xfrm rot="0">
            <a:off x="10491544" y="2931365"/>
            <a:ext cx="4055005" cy="485775"/>
          </a:xfrm>
          <a:prstGeom prst="rect">
            <a:avLst/>
          </a:prstGeom>
        </p:spPr>
        <p:txBody>
          <a:bodyPr anchor="t" rtlCol="false" tIns="0" lIns="0" bIns="0" rIns="0">
            <a:spAutoFit/>
          </a:bodyPr>
          <a:lstStyle/>
          <a:p>
            <a:pPr algn="l">
              <a:lnSpc>
                <a:spcPts val="3840"/>
              </a:lnSpc>
            </a:pPr>
            <a:r>
              <a:rPr lang="en-US" sz="3200" b="true">
                <a:solidFill>
                  <a:srgbClr val="FFFFFF"/>
                </a:solidFill>
                <a:latin typeface="Aileron Bold"/>
                <a:ea typeface="Aileron Bold"/>
                <a:cs typeface="Aileron Bold"/>
                <a:sym typeface="Aileron Bold"/>
              </a:rPr>
              <a:t>Etape 6 : </a:t>
            </a:r>
          </a:p>
        </p:txBody>
      </p:sp>
      <p:sp>
        <p:nvSpPr>
          <p:cNvPr name="TextBox 13" id="13"/>
          <p:cNvSpPr txBox="true"/>
          <p:nvPr/>
        </p:nvSpPr>
        <p:spPr>
          <a:xfrm rot="0">
            <a:off x="10564203" y="4162239"/>
            <a:ext cx="7008388" cy="5448300"/>
          </a:xfrm>
          <a:prstGeom prst="rect">
            <a:avLst/>
          </a:prstGeom>
        </p:spPr>
        <p:txBody>
          <a:bodyPr anchor="t" rtlCol="false" tIns="0" lIns="0" bIns="0" rIns="0">
            <a:spAutoFit/>
          </a:bodyPr>
          <a:lstStyle/>
          <a:p>
            <a:pPr algn="l">
              <a:lnSpc>
                <a:spcPts val="3360"/>
              </a:lnSpc>
            </a:pPr>
            <a:r>
              <a:rPr lang="en-US" sz="2800" b="true">
                <a:solidFill>
                  <a:srgbClr val="FFFFFF"/>
                </a:solidFill>
                <a:latin typeface="Aileron Bold"/>
                <a:ea typeface="Aileron Bold"/>
                <a:cs typeface="Aileron Bold"/>
                <a:sym typeface="Aileron Bold"/>
              </a:rPr>
              <a:t>Cette étape consiste à générer un rapport final au format Word contenant toutes les informations du projet. Le document inclut les types de colonnes avant et après nettoyage, les transformations effectuées, les données anormales détectées ainsi que les résultats des analyses. Les tableaux récapitulatifs et les graphiques (ventes par catégorie, région, segment, top produits et évolution mensuelle) sont intégrés directement dans le rapport pour faciliter l’interprétation des résultats.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0">
            <a:off x="15923816" y="-2052828"/>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4900970" y="8234172"/>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5" id="5"/>
          <p:cNvGrpSpPr/>
          <p:nvPr/>
        </p:nvGrpSpPr>
        <p:grpSpPr>
          <a:xfrm rot="0">
            <a:off x="4197150" y="2969465"/>
            <a:ext cx="5259208" cy="7317535"/>
            <a:chOff x="0" y="0"/>
            <a:chExt cx="814789" cy="1133678"/>
          </a:xfrm>
        </p:grpSpPr>
        <p:sp>
          <p:nvSpPr>
            <p:cNvPr name="Freeform 6" id="6"/>
            <p:cNvSpPr/>
            <p:nvPr/>
          </p:nvSpPr>
          <p:spPr>
            <a:xfrm flipH="false" flipV="false" rot="0">
              <a:off x="0" y="0"/>
              <a:ext cx="814789" cy="1133678"/>
            </a:xfrm>
            <a:custGeom>
              <a:avLst/>
              <a:gdLst/>
              <a:ahLst/>
              <a:cxnLst/>
              <a:rect r="r" b="b" t="t" l="l"/>
              <a:pathLst>
                <a:path h="1133678" w="814789">
                  <a:moveTo>
                    <a:pt x="0" y="0"/>
                  </a:moveTo>
                  <a:lnTo>
                    <a:pt x="814789" y="0"/>
                  </a:lnTo>
                  <a:lnTo>
                    <a:pt x="814789" y="1133678"/>
                  </a:lnTo>
                  <a:lnTo>
                    <a:pt x="0" y="1133678"/>
                  </a:lnTo>
                  <a:close/>
                </a:path>
              </a:pathLst>
            </a:custGeom>
            <a:blipFill>
              <a:blip r:embed="rId5"/>
              <a:stretch>
                <a:fillRect l="0" t="0" r="-25515" b="0"/>
              </a:stretch>
            </a:blipFill>
            <a:ln w="38100" cap="sq">
              <a:solidFill>
                <a:srgbClr val="000000"/>
              </a:solidFill>
              <a:prstDash val="solid"/>
              <a:miter/>
            </a:ln>
          </p:spPr>
        </p:sp>
      </p:grpSp>
      <p:sp>
        <p:nvSpPr>
          <p:cNvPr name="AutoShape 7" id="7"/>
          <p:cNvSpPr/>
          <p:nvPr/>
        </p:nvSpPr>
        <p:spPr>
          <a:xfrm flipH="true">
            <a:off x="9703401" y="3787527"/>
            <a:ext cx="7104714" cy="0"/>
          </a:xfrm>
          <a:prstGeom prst="line">
            <a:avLst/>
          </a:prstGeom>
          <a:ln cap="flat" w="9525">
            <a:solidFill>
              <a:srgbClr val="FFFFFF">
                <a:alpha val="37647"/>
              </a:srgbClr>
            </a:solidFill>
            <a:prstDash val="solid"/>
            <a:headEnd type="none" len="sm" w="sm"/>
            <a:tailEnd type="none" len="sm" w="sm"/>
          </a:ln>
        </p:spPr>
      </p:sp>
      <p:sp>
        <p:nvSpPr>
          <p:cNvPr name="Freeform 8" id="8"/>
          <p:cNvSpPr/>
          <p:nvPr/>
        </p:nvSpPr>
        <p:spPr>
          <a:xfrm flipH="false" flipV="false" rot="0">
            <a:off x="9893901" y="3026615"/>
            <a:ext cx="219117" cy="369140"/>
          </a:xfrm>
          <a:custGeom>
            <a:avLst/>
            <a:gdLst/>
            <a:ahLst/>
            <a:cxnLst/>
            <a:rect r="r" b="b" t="t" l="l"/>
            <a:pathLst>
              <a:path h="369140" w="219117">
                <a:moveTo>
                  <a:pt x="0" y="0"/>
                </a:moveTo>
                <a:lnTo>
                  <a:pt x="219118" y="0"/>
                </a:lnTo>
                <a:lnTo>
                  <a:pt x="219118"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t="0" r="0" b="0"/>
            </a:stretch>
          </a:blipFill>
        </p:spPr>
      </p:sp>
      <p:sp>
        <p:nvSpPr>
          <p:cNvPr name="Freeform 9" id="9"/>
          <p:cNvSpPr/>
          <p:nvPr/>
        </p:nvSpPr>
        <p:spPr>
          <a:xfrm flipH="false" flipV="false" rot="0">
            <a:off x="-1879949" y="4081984"/>
            <a:ext cx="3759898" cy="4114800"/>
          </a:xfrm>
          <a:custGeom>
            <a:avLst/>
            <a:gdLst/>
            <a:ahLst/>
            <a:cxnLst/>
            <a:rect r="r" b="b" t="t" l="l"/>
            <a:pathLst>
              <a:path h="4114800" w="3759898">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7113471" y="9015934"/>
            <a:ext cx="2349058" cy="1189211"/>
          </a:xfrm>
          <a:custGeom>
            <a:avLst/>
            <a:gdLst/>
            <a:ahLst/>
            <a:cxnLst/>
            <a:rect r="r" b="b" t="t" l="l"/>
            <a:pathLst>
              <a:path h="1189211" w="2349058">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326990" y="824103"/>
            <a:ext cx="9237213" cy="1228725"/>
          </a:xfrm>
          <a:prstGeom prst="rect">
            <a:avLst/>
          </a:prstGeom>
        </p:spPr>
        <p:txBody>
          <a:bodyPr anchor="t" rtlCol="false" tIns="0" lIns="0" bIns="0" rIns="0">
            <a:spAutoFit/>
          </a:bodyPr>
          <a:lstStyle/>
          <a:p>
            <a:pPr algn="l">
              <a:lnSpc>
                <a:spcPts val="9600"/>
              </a:lnSpc>
            </a:pPr>
            <a:r>
              <a:rPr lang="en-US" sz="8000" b="true">
                <a:solidFill>
                  <a:srgbClr val="FFFFFF"/>
                </a:solidFill>
                <a:latin typeface="Aileron Bold"/>
                <a:ea typeface="Aileron Bold"/>
                <a:cs typeface="Aileron Bold"/>
                <a:sym typeface="Aileron Bold"/>
              </a:rPr>
              <a:t>Step 7 — Demo</a:t>
            </a:r>
          </a:p>
        </p:txBody>
      </p:sp>
      <p:sp>
        <p:nvSpPr>
          <p:cNvPr name="TextBox 12" id="12"/>
          <p:cNvSpPr txBox="true"/>
          <p:nvPr/>
        </p:nvSpPr>
        <p:spPr>
          <a:xfrm rot="0">
            <a:off x="10491544" y="2931365"/>
            <a:ext cx="4055005" cy="485775"/>
          </a:xfrm>
          <a:prstGeom prst="rect">
            <a:avLst/>
          </a:prstGeom>
        </p:spPr>
        <p:txBody>
          <a:bodyPr anchor="t" rtlCol="false" tIns="0" lIns="0" bIns="0" rIns="0">
            <a:spAutoFit/>
          </a:bodyPr>
          <a:lstStyle/>
          <a:p>
            <a:pPr algn="l">
              <a:lnSpc>
                <a:spcPts val="3840"/>
              </a:lnSpc>
            </a:pPr>
            <a:r>
              <a:rPr lang="en-US" sz="3200" b="true">
                <a:solidFill>
                  <a:srgbClr val="FFFFFF"/>
                </a:solidFill>
                <a:latin typeface="Aileron Bold"/>
                <a:ea typeface="Aileron Bold"/>
                <a:cs typeface="Aileron Bold"/>
                <a:sym typeface="Aileron Bold"/>
              </a:rPr>
              <a:t>Etape 7 : </a:t>
            </a:r>
          </a:p>
        </p:txBody>
      </p:sp>
      <p:sp>
        <p:nvSpPr>
          <p:cNvPr name="TextBox 13" id="13"/>
          <p:cNvSpPr txBox="true"/>
          <p:nvPr/>
        </p:nvSpPr>
        <p:spPr>
          <a:xfrm rot="0">
            <a:off x="10564203" y="4162239"/>
            <a:ext cx="7008388" cy="5029200"/>
          </a:xfrm>
          <a:prstGeom prst="rect">
            <a:avLst/>
          </a:prstGeom>
        </p:spPr>
        <p:txBody>
          <a:bodyPr anchor="t" rtlCol="false" tIns="0" lIns="0" bIns="0" rIns="0">
            <a:spAutoFit/>
          </a:bodyPr>
          <a:lstStyle/>
          <a:p>
            <a:pPr algn="l">
              <a:lnSpc>
                <a:spcPts val="3360"/>
              </a:lnSpc>
            </a:pPr>
            <a:r>
              <a:rPr lang="en-US" sz="2800" b="true">
                <a:solidFill>
                  <a:srgbClr val="FFFFFF"/>
                </a:solidFill>
                <a:latin typeface="Aileron Bold"/>
                <a:ea typeface="Aileron Bold"/>
                <a:cs typeface="Aileron Bold"/>
                <a:sym typeface="Aileron Bold"/>
              </a:rPr>
              <a:t>Cette étape consiste à préparer la démonstration finale du projet. Elle inclut la vérification du notebook pour s’assurer que tout fonctionne correctement (exécution sans erreurs, résultats visibles), la préparation d’une présentation claire expliquant les étapes du travail (nettoyage, transformations, analyses et visualisations), ainsi que la répétition de la présentation afin d’être prêt à expliquer les choix techniques et répondre aux questions.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0">
            <a:off x="15923816" y="-2052828"/>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4900970" y="8234172"/>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5" id="5"/>
          <p:cNvSpPr/>
          <p:nvPr/>
        </p:nvSpPr>
        <p:spPr>
          <a:xfrm flipH="false" flipV="false" rot="2700000">
            <a:off x="16714667" y="-579227"/>
            <a:ext cx="2291553" cy="2703897"/>
          </a:xfrm>
          <a:custGeom>
            <a:avLst/>
            <a:gdLst/>
            <a:ahLst/>
            <a:cxnLst/>
            <a:rect r="r" b="b" t="t" l="l"/>
            <a:pathLst>
              <a:path h="2703897" w="2291553">
                <a:moveTo>
                  <a:pt x="0" y="0"/>
                </a:moveTo>
                <a:lnTo>
                  <a:pt x="2291553" y="0"/>
                </a:lnTo>
                <a:lnTo>
                  <a:pt x="2291553" y="2703897"/>
                </a:lnTo>
                <a:lnTo>
                  <a:pt x="0" y="2703897"/>
                </a:lnTo>
                <a:lnTo>
                  <a:pt x="0" y="0"/>
                </a:lnTo>
                <a:close/>
              </a:path>
            </a:pathLst>
          </a:custGeom>
          <a:blipFill>
            <a:blip r:embed="rId5">
              <a:alphaModFix amt="39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6" id="6"/>
          <p:cNvGrpSpPr/>
          <p:nvPr/>
        </p:nvGrpSpPr>
        <p:grpSpPr>
          <a:xfrm rot="0">
            <a:off x="6997247" y="3303491"/>
            <a:ext cx="10262053" cy="5954809"/>
            <a:chOff x="0" y="0"/>
            <a:chExt cx="1432739" cy="831382"/>
          </a:xfrm>
        </p:grpSpPr>
        <p:sp>
          <p:nvSpPr>
            <p:cNvPr name="Freeform 7" id="7"/>
            <p:cNvSpPr/>
            <p:nvPr/>
          </p:nvSpPr>
          <p:spPr>
            <a:xfrm flipH="false" flipV="false" rot="0">
              <a:off x="0" y="0"/>
              <a:ext cx="1432739" cy="831382"/>
            </a:xfrm>
            <a:custGeom>
              <a:avLst/>
              <a:gdLst/>
              <a:ahLst/>
              <a:cxnLst/>
              <a:rect r="r" b="b" t="t" l="l"/>
              <a:pathLst>
                <a:path h="831382" w="1432739">
                  <a:moveTo>
                    <a:pt x="15088" y="0"/>
                  </a:moveTo>
                  <a:lnTo>
                    <a:pt x="1417650" y="0"/>
                  </a:lnTo>
                  <a:cubicBezTo>
                    <a:pt x="1425983" y="0"/>
                    <a:pt x="1432739" y="6755"/>
                    <a:pt x="1432739" y="15088"/>
                  </a:cubicBezTo>
                  <a:lnTo>
                    <a:pt x="1432739" y="816293"/>
                  </a:lnTo>
                  <a:cubicBezTo>
                    <a:pt x="1432739" y="824627"/>
                    <a:pt x="1425983" y="831382"/>
                    <a:pt x="1417650" y="831382"/>
                  </a:cubicBezTo>
                  <a:lnTo>
                    <a:pt x="15088" y="831382"/>
                  </a:lnTo>
                  <a:cubicBezTo>
                    <a:pt x="6755" y="831382"/>
                    <a:pt x="0" y="824627"/>
                    <a:pt x="0" y="816293"/>
                  </a:cubicBezTo>
                  <a:lnTo>
                    <a:pt x="0" y="15088"/>
                  </a:lnTo>
                  <a:cubicBezTo>
                    <a:pt x="0" y="6755"/>
                    <a:pt x="6755" y="0"/>
                    <a:pt x="15088" y="0"/>
                  </a:cubicBezTo>
                  <a:close/>
                </a:path>
              </a:pathLst>
            </a:custGeom>
            <a:ln w="19050" cap="sq">
              <a:solidFill>
                <a:srgbClr val="FFFFFF"/>
              </a:solidFill>
              <a:prstDash val="solid"/>
              <a:miter/>
            </a:ln>
          </p:spPr>
        </p:sp>
        <p:sp>
          <p:nvSpPr>
            <p:cNvPr name="TextBox 8" id="8"/>
            <p:cNvSpPr txBox="true"/>
            <p:nvPr/>
          </p:nvSpPr>
          <p:spPr>
            <a:xfrm>
              <a:off x="0" y="-9525"/>
              <a:ext cx="1432739" cy="840907"/>
            </a:xfrm>
            <a:prstGeom prst="rect">
              <a:avLst/>
            </a:prstGeom>
          </p:spPr>
          <p:txBody>
            <a:bodyPr anchor="ctr" rtlCol="false" tIns="50800" lIns="50800" bIns="50800" rIns="50800"/>
            <a:lstStyle/>
            <a:p>
              <a:pPr algn="ctr" marL="0" indent="0" lvl="0">
                <a:lnSpc>
                  <a:spcPts val="2880"/>
                </a:lnSpc>
                <a:spcBef>
                  <a:spcPct val="0"/>
                </a:spcBef>
              </a:pPr>
            </a:p>
          </p:txBody>
        </p:sp>
      </p:grpSp>
      <p:grpSp>
        <p:nvGrpSpPr>
          <p:cNvPr name="Group 9" id="9"/>
          <p:cNvGrpSpPr/>
          <p:nvPr/>
        </p:nvGrpSpPr>
        <p:grpSpPr>
          <a:xfrm rot="0">
            <a:off x="1028700" y="710079"/>
            <a:ext cx="6450258" cy="3657600"/>
            <a:chOff x="0" y="0"/>
            <a:chExt cx="8600343" cy="4876800"/>
          </a:xfrm>
        </p:grpSpPr>
        <p:sp>
          <p:nvSpPr>
            <p:cNvPr name="Freeform 10" id="10"/>
            <p:cNvSpPr/>
            <p:nvPr/>
          </p:nvSpPr>
          <p:spPr>
            <a:xfrm flipH="false" flipV="false" rot="0">
              <a:off x="6223672" y="1918071"/>
              <a:ext cx="1977142" cy="1243128"/>
            </a:xfrm>
            <a:custGeom>
              <a:avLst/>
              <a:gdLst/>
              <a:ahLst/>
              <a:cxnLst/>
              <a:rect r="r" b="b" t="t" l="l"/>
              <a:pathLst>
                <a:path h="1243128" w="1977142">
                  <a:moveTo>
                    <a:pt x="0" y="0"/>
                  </a:moveTo>
                  <a:lnTo>
                    <a:pt x="1977143" y="0"/>
                  </a:lnTo>
                  <a:lnTo>
                    <a:pt x="1977143" y="1243129"/>
                  </a:lnTo>
                  <a:lnTo>
                    <a:pt x="0" y="12431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0" y="-9525"/>
              <a:ext cx="8600343" cy="4886325"/>
            </a:xfrm>
            <a:prstGeom prst="rect">
              <a:avLst/>
            </a:prstGeom>
          </p:spPr>
          <p:txBody>
            <a:bodyPr anchor="t" rtlCol="false" tIns="0" lIns="0" bIns="0" rIns="0">
              <a:spAutoFit/>
            </a:bodyPr>
            <a:lstStyle/>
            <a:p>
              <a:pPr algn="l">
                <a:lnSpc>
                  <a:spcPts val="9600"/>
                </a:lnSpc>
              </a:pPr>
              <a:r>
                <a:rPr lang="en-US" sz="8000" b="true">
                  <a:solidFill>
                    <a:srgbClr val="FFFFFF"/>
                  </a:solidFill>
                  <a:latin typeface="Aileron Bold"/>
                  <a:ea typeface="Aileron Bold"/>
                  <a:cs typeface="Aileron Bold"/>
                  <a:sym typeface="Aileron Bold"/>
                </a:rPr>
                <a:t>Technologies Utilisées</a:t>
              </a:r>
            </a:p>
            <a:p>
              <a:pPr algn="l">
                <a:lnSpc>
                  <a:spcPts val="9600"/>
                </a:lnSpc>
              </a:pPr>
            </a:p>
          </p:txBody>
        </p:sp>
      </p:grpSp>
      <p:sp>
        <p:nvSpPr>
          <p:cNvPr name="TextBox 12" id="12"/>
          <p:cNvSpPr txBox="true"/>
          <p:nvPr/>
        </p:nvSpPr>
        <p:spPr>
          <a:xfrm rot="0">
            <a:off x="7284175" y="3842845"/>
            <a:ext cx="9688198" cy="4780852"/>
          </a:xfrm>
          <a:prstGeom prst="rect">
            <a:avLst/>
          </a:prstGeom>
        </p:spPr>
        <p:txBody>
          <a:bodyPr anchor="t" rtlCol="false" tIns="0" lIns="0" bIns="0" rIns="0">
            <a:spAutoFit/>
          </a:bodyPr>
          <a:lstStyle/>
          <a:p>
            <a:pPr algn="l">
              <a:lnSpc>
                <a:spcPts val="6338"/>
              </a:lnSpc>
            </a:pPr>
            <a:r>
              <a:rPr lang="en-US" sz="4527" u="sng">
                <a:solidFill>
                  <a:srgbClr val="FFFFFF"/>
                </a:solidFill>
                <a:latin typeface="Work Sans"/>
                <a:ea typeface="Work Sans"/>
                <a:cs typeface="Work Sans"/>
                <a:sym typeface="Work Sans"/>
              </a:rPr>
              <a:t>Pandas</a:t>
            </a:r>
            <a:r>
              <a:rPr lang="en-US" sz="4527">
                <a:solidFill>
                  <a:srgbClr val="FFFFFF"/>
                </a:solidFill>
                <a:latin typeface="Work Sans"/>
                <a:ea typeface="Work Sans"/>
                <a:cs typeface="Work Sans"/>
                <a:sym typeface="Work Sans"/>
              </a:rPr>
              <a:t> : Pour la manipulation et le nettoyage des données.</a:t>
            </a:r>
          </a:p>
          <a:p>
            <a:pPr algn="l">
              <a:lnSpc>
                <a:spcPts val="6338"/>
              </a:lnSpc>
            </a:pPr>
            <a:r>
              <a:rPr lang="en-US" sz="4527" u="sng">
                <a:solidFill>
                  <a:srgbClr val="FFFFFF"/>
                </a:solidFill>
                <a:latin typeface="Work Sans"/>
                <a:ea typeface="Work Sans"/>
                <a:cs typeface="Work Sans"/>
                <a:sym typeface="Work Sans"/>
              </a:rPr>
              <a:t>Matplotlib</a:t>
            </a:r>
            <a:r>
              <a:rPr lang="en-US" sz="4527">
                <a:solidFill>
                  <a:srgbClr val="FFFFFF"/>
                </a:solidFill>
                <a:latin typeface="Work Sans"/>
                <a:ea typeface="Work Sans"/>
                <a:cs typeface="Work Sans"/>
                <a:sym typeface="Work Sans"/>
              </a:rPr>
              <a:t> : Pour la création des graphiques.</a:t>
            </a:r>
          </a:p>
          <a:p>
            <a:pPr algn="l">
              <a:lnSpc>
                <a:spcPts val="6338"/>
              </a:lnSpc>
            </a:pPr>
            <a:r>
              <a:rPr lang="en-US" sz="4527" u="sng">
                <a:solidFill>
                  <a:srgbClr val="FFFFFF"/>
                </a:solidFill>
                <a:latin typeface="Work Sans"/>
                <a:ea typeface="Work Sans"/>
                <a:cs typeface="Work Sans"/>
                <a:sym typeface="Work Sans"/>
              </a:rPr>
              <a:t>Python-docx </a:t>
            </a:r>
            <a:r>
              <a:rPr lang="en-US" sz="4527">
                <a:solidFill>
                  <a:srgbClr val="FFFFFF"/>
                </a:solidFill>
                <a:latin typeface="Work Sans"/>
                <a:ea typeface="Work Sans"/>
                <a:cs typeface="Work Sans"/>
                <a:sym typeface="Work Sans"/>
              </a:rPr>
              <a:t>: Pour la génération automatisée de documents Word.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0">
            <a:off x="15923816" y="-2052828"/>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4900970" y="8234172"/>
            <a:ext cx="7315200" cy="4105656"/>
          </a:xfrm>
          <a:custGeom>
            <a:avLst/>
            <a:gdLst/>
            <a:ahLst/>
            <a:cxnLst/>
            <a:rect r="r" b="b" t="t" l="l"/>
            <a:pathLst>
              <a:path h="4105656" w="7315200">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5" id="5"/>
          <p:cNvGrpSpPr/>
          <p:nvPr/>
        </p:nvGrpSpPr>
        <p:grpSpPr>
          <a:xfrm rot="0">
            <a:off x="1028700" y="1150429"/>
            <a:ext cx="47625" cy="8107870"/>
            <a:chOff x="0" y="0"/>
            <a:chExt cx="12543" cy="2135632"/>
          </a:xfrm>
        </p:grpSpPr>
        <p:sp>
          <p:nvSpPr>
            <p:cNvPr name="Freeform 6" id="6"/>
            <p:cNvSpPr/>
            <p:nvPr/>
          </p:nvSpPr>
          <p:spPr>
            <a:xfrm flipH="false" flipV="false" rot="0">
              <a:off x="0" y="0"/>
              <a:ext cx="12543" cy="2135632"/>
            </a:xfrm>
            <a:custGeom>
              <a:avLst/>
              <a:gdLst/>
              <a:ahLst/>
              <a:cxnLst/>
              <a:rect r="r" b="b" t="t" l="l"/>
              <a:pathLst>
                <a:path h="2135632" w="12543">
                  <a:moveTo>
                    <a:pt x="12543" y="0"/>
                  </a:moveTo>
                  <a:lnTo>
                    <a:pt x="12543" y="2135632"/>
                  </a:lnTo>
                  <a:lnTo>
                    <a:pt x="0" y="2135632"/>
                  </a:lnTo>
                  <a:lnTo>
                    <a:pt x="0" y="0"/>
                  </a:lnTo>
                  <a:close/>
                </a:path>
              </a:pathLst>
            </a:custGeom>
            <a:ln w="19050" cap="sq">
              <a:solidFill>
                <a:srgbClr val="FFFFFF"/>
              </a:solidFill>
              <a:prstDash val="solid"/>
              <a:miter/>
            </a:ln>
          </p:spPr>
        </p:sp>
        <p:sp>
          <p:nvSpPr>
            <p:cNvPr name="TextBox 7" id="7"/>
            <p:cNvSpPr txBox="true"/>
            <p:nvPr/>
          </p:nvSpPr>
          <p:spPr>
            <a:xfrm>
              <a:off x="0" y="-19050"/>
              <a:ext cx="12543" cy="2154682"/>
            </a:xfrm>
            <a:prstGeom prst="rect">
              <a:avLst/>
            </a:prstGeom>
          </p:spPr>
          <p:txBody>
            <a:bodyPr anchor="ctr" rtlCol="false" tIns="50800" lIns="50800" bIns="50800" rIns="50800"/>
            <a:lstStyle/>
            <a:p>
              <a:pPr algn="ctr">
                <a:lnSpc>
                  <a:spcPts val="1800"/>
                </a:lnSpc>
              </a:pPr>
            </a:p>
          </p:txBody>
        </p:sp>
      </p:grpSp>
      <p:grpSp>
        <p:nvGrpSpPr>
          <p:cNvPr name="Group 8" id="8"/>
          <p:cNvGrpSpPr/>
          <p:nvPr/>
        </p:nvGrpSpPr>
        <p:grpSpPr>
          <a:xfrm rot="0">
            <a:off x="1052512" y="1710706"/>
            <a:ext cx="1579564" cy="47625"/>
            <a:chOff x="0" y="0"/>
            <a:chExt cx="416017" cy="12543"/>
          </a:xfrm>
        </p:grpSpPr>
        <p:sp>
          <p:nvSpPr>
            <p:cNvPr name="Freeform 9" id="9"/>
            <p:cNvSpPr/>
            <p:nvPr/>
          </p:nvSpPr>
          <p:spPr>
            <a:xfrm flipH="false" flipV="false" rot="0">
              <a:off x="0" y="0"/>
              <a:ext cx="416017" cy="12543"/>
            </a:xfrm>
            <a:custGeom>
              <a:avLst/>
              <a:gdLst/>
              <a:ahLst/>
              <a:cxnLst/>
              <a:rect r="r" b="b" t="t" l="l"/>
              <a:pathLst>
                <a:path h="12543" w="416017">
                  <a:moveTo>
                    <a:pt x="0" y="0"/>
                  </a:moveTo>
                  <a:lnTo>
                    <a:pt x="416017" y="0"/>
                  </a:lnTo>
                  <a:lnTo>
                    <a:pt x="416017" y="12543"/>
                  </a:lnTo>
                  <a:lnTo>
                    <a:pt x="0" y="12543"/>
                  </a:lnTo>
                  <a:close/>
                </a:path>
              </a:pathLst>
            </a:custGeom>
            <a:ln w="19050" cap="sq">
              <a:solidFill>
                <a:srgbClr val="FFFFFF"/>
              </a:solidFill>
              <a:prstDash val="solid"/>
              <a:miter/>
            </a:ln>
          </p:spPr>
        </p:sp>
        <p:sp>
          <p:nvSpPr>
            <p:cNvPr name="TextBox 10" id="10"/>
            <p:cNvSpPr txBox="true"/>
            <p:nvPr/>
          </p:nvSpPr>
          <p:spPr>
            <a:xfrm>
              <a:off x="0" y="-19050"/>
              <a:ext cx="416017" cy="31593"/>
            </a:xfrm>
            <a:prstGeom prst="rect">
              <a:avLst/>
            </a:prstGeom>
          </p:spPr>
          <p:txBody>
            <a:bodyPr anchor="ctr" rtlCol="false" tIns="50800" lIns="50800" bIns="50800" rIns="50800"/>
            <a:lstStyle/>
            <a:p>
              <a:pPr algn="ctr" marL="0" indent="0" lvl="0">
                <a:lnSpc>
                  <a:spcPts val="1800"/>
                </a:lnSpc>
                <a:spcBef>
                  <a:spcPct val="0"/>
                </a:spcBef>
              </a:pPr>
            </a:p>
          </p:txBody>
        </p:sp>
      </p:grpSp>
      <p:grpSp>
        <p:nvGrpSpPr>
          <p:cNvPr name="Group 11" id="11"/>
          <p:cNvGrpSpPr/>
          <p:nvPr/>
        </p:nvGrpSpPr>
        <p:grpSpPr>
          <a:xfrm rot="0">
            <a:off x="3656193" y="3100691"/>
            <a:ext cx="4557379" cy="657388"/>
            <a:chOff x="0" y="0"/>
            <a:chExt cx="1200297" cy="173139"/>
          </a:xfrm>
        </p:grpSpPr>
        <p:sp>
          <p:nvSpPr>
            <p:cNvPr name="Freeform 12" id="12"/>
            <p:cNvSpPr/>
            <p:nvPr/>
          </p:nvSpPr>
          <p:spPr>
            <a:xfrm flipH="false" flipV="false" rot="0">
              <a:off x="0" y="0"/>
              <a:ext cx="1200297" cy="173139"/>
            </a:xfrm>
            <a:custGeom>
              <a:avLst/>
              <a:gdLst/>
              <a:ahLst/>
              <a:cxnLst/>
              <a:rect r="r" b="b" t="t" l="l"/>
              <a:pathLst>
                <a:path h="173139" w="1200297">
                  <a:moveTo>
                    <a:pt x="33975" y="0"/>
                  </a:moveTo>
                  <a:lnTo>
                    <a:pt x="1166322" y="0"/>
                  </a:lnTo>
                  <a:cubicBezTo>
                    <a:pt x="1185086" y="0"/>
                    <a:pt x="1200297" y="15211"/>
                    <a:pt x="1200297" y="33975"/>
                  </a:cubicBezTo>
                  <a:lnTo>
                    <a:pt x="1200297" y="139164"/>
                  </a:lnTo>
                  <a:cubicBezTo>
                    <a:pt x="1200297" y="157928"/>
                    <a:pt x="1185086" y="173139"/>
                    <a:pt x="1166322" y="173139"/>
                  </a:cubicBezTo>
                  <a:lnTo>
                    <a:pt x="33975" y="173139"/>
                  </a:lnTo>
                  <a:cubicBezTo>
                    <a:pt x="15211" y="173139"/>
                    <a:pt x="0" y="157928"/>
                    <a:pt x="0" y="139164"/>
                  </a:cubicBezTo>
                  <a:lnTo>
                    <a:pt x="0" y="33975"/>
                  </a:lnTo>
                  <a:cubicBezTo>
                    <a:pt x="0" y="15211"/>
                    <a:pt x="15211" y="0"/>
                    <a:pt x="33975" y="0"/>
                  </a:cubicBezTo>
                  <a:close/>
                </a:path>
              </a:pathLst>
            </a:custGeom>
            <a:ln w="19050" cap="sq">
              <a:solidFill>
                <a:srgbClr val="FFFFFF"/>
              </a:solidFill>
              <a:prstDash val="solid"/>
              <a:miter/>
            </a:ln>
          </p:spPr>
        </p:sp>
        <p:sp>
          <p:nvSpPr>
            <p:cNvPr name="TextBox 13" id="13"/>
            <p:cNvSpPr txBox="true"/>
            <p:nvPr/>
          </p:nvSpPr>
          <p:spPr>
            <a:xfrm>
              <a:off x="0" y="-9525"/>
              <a:ext cx="1200297" cy="182664"/>
            </a:xfrm>
            <a:prstGeom prst="rect">
              <a:avLst/>
            </a:prstGeom>
          </p:spPr>
          <p:txBody>
            <a:bodyPr anchor="ctr" rtlCol="false" tIns="50800" lIns="50800" bIns="50800" rIns="50800"/>
            <a:lstStyle/>
            <a:p>
              <a:pPr algn="ctr" marL="0" indent="0" lvl="0">
                <a:lnSpc>
                  <a:spcPts val="2880"/>
                </a:lnSpc>
                <a:spcBef>
                  <a:spcPct val="0"/>
                </a:spcBef>
              </a:pPr>
            </a:p>
          </p:txBody>
        </p:sp>
      </p:grpSp>
      <p:sp>
        <p:nvSpPr>
          <p:cNvPr name="Freeform 14" id="14"/>
          <p:cNvSpPr/>
          <p:nvPr/>
        </p:nvSpPr>
        <p:spPr>
          <a:xfrm flipH="false" flipV="false" rot="0">
            <a:off x="14076914" y="4941378"/>
            <a:ext cx="956998" cy="802682"/>
          </a:xfrm>
          <a:custGeom>
            <a:avLst/>
            <a:gdLst/>
            <a:ahLst/>
            <a:cxnLst/>
            <a:rect r="r" b="b" t="t" l="l"/>
            <a:pathLst>
              <a:path h="802682" w="956998">
                <a:moveTo>
                  <a:pt x="0" y="0"/>
                </a:moveTo>
                <a:lnTo>
                  <a:pt x="956998" y="0"/>
                </a:lnTo>
                <a:lnTo>
                  <a:pt x="956998" y="802682"/>
                </a:lnTo>
                <a:lnTo>
                  <a:pt x="0" y="8026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5" id="15"/>
          <p:cNvSpPr/>
          <p:nvPr/>
        </p:nvSpPr>
        <p:spPr>
          <a:xfrm flipH="false" flipV="false" rot="2700000">
            <a:off x="16714667" y="-579227"/>
            <a:ext cx="2291553" cy="2703897"/>
          </a:xfrm>
          <a:custGeom>
            <a:avLst/>
            <a:gdLst/>
            <a:ahLst/>
            <a:cxnLst/>
            <a:rect r="r" b="b" t="t" l="l"/>
            <a:pathLst>
              <a:path h="2703897" w="2291553">
                <a:moveTo>
                  <a:pt x="0" y="0"/>
                </a:moveTo>
                <a:lnTo>
                  <a:pt x="2291553" y="0"/>
                </a:lnTo>
                <a:lnTo>
                  <a:pt x="2291553" y="2703897"/>
                </a:lnTo>
                <a:lnTo>
                  <a:pt x="0" y="2703897"/>
                </a:lnTo>
                <a:lnTo>
                  <a:pt x="0" y="0"/>
                </a:lnTo>
                <a:close/>
              </a:path>
            </a:pathLst>
          </a:custGeom>
          <a:blipFill>
            <a:blip r:embed="rId7">
              <a:alphaModFix amt="39000"/>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16" id="16"/>
          <p:cNvSpPr txBox="true"/>
          <p:nvPr/>
        </p:nvSpPr>
        <p:spPr>
          <a:xfrm rot="0">
            <a:off x="10147306" y="3445760"/>
            <a:ext cx="6450258" cy="2447925"/>
          </a:xfrm>
          <a:prstGeom prst="rect">
            <a:avLst/>
          </a:prstGeom>
        </p:spPr>
        <p:txBody>
          <a:bodyPr anchor="t" rtlCol="false" tIns="0" lIns="0" bIns="0" rIns="0">
            <a:spAutoFit/>
          </a:bodyPr>
          <a:lstStyle/>
          <a:p>
            <a:pPr algn="l">
              <a:lnSpc>
                <a:spcPts val="9600"/>
              </a:lnSpc>
            </a:pPr>
            <a:r>
              <a:rPr lang="en-US" sz="8000" b="true">
                <a:solidFill>
                  <a:srgbClr val="FFFFFF"/>
                </a:solidFill>
                <a:latin typeface="Aileron Bold"/>
                <a:ea typeface="Aileron Bold"/>
                <a:cs typeface="Aileron Bold"/>
                <a:sym typeface="Aileron Bold"/>
              </a:rPr>
              <a:t>Chema des Fichier</a:t>
            </a:r>
          </a:p>
        </p:txBody>
      </p:sp>
      <p:sp>
        <p:nvSpPr>
          <p:cNvPr name="TextBox 17" id="17"/>
          <p:cNvSpPr txBox="true"/>
          <p:nvPr/>
        </p:nvSpPr>
        <p:spPr>
          <a:xfrm rot="0">
            <a:off x="3024115" y="1498298"/>
            <a:ext cx="4028350" cy="415289"/>
          </a:xfrm>
          <a:prstGeom prst="rect">
            <a:avLst/>
          </a:prstGeom>
        </p:spPr>
        <p:txBody>
          <a:bodyPr anchor="t" rtlCol="false" tIns="0" lIns="0" bIns="0" rIns="0">
            <a:spAutoFit/>
          </a:bodyPr>
          <a:lstStyle/>
          <a:p>
            <a:pPr algn="l">
              <a:lnSpc>
                <a:spcPts val="3360"/>
              </a:lnSpc>
            </a:pPr>
            <a:r>
              <a:rPr lang="en-US" sz="2400">
                <a:solidFill>
                  <a:srgbClr val="FFFFFF"/>
                </a:solidFill>
                <a:latin typeface="Work Sans"/>
                <a:ea typeface="Work Sans"/>
                <a:cs typeface="Work Sans"/>
                <a:sym typeface="Work Sans"/>
              </a:rPr>
              <a:t>main.py</a:t>
            </a:r>
          </a:p>
        </p:txBody>
      </p:sp>
      <p:grpSp>
        <p:nvGrpSpPr>
          <p:cNvPr name="Group 18" id="18"/>
          <p:cNvGrpSpPr/>
          <p:nvPr/>
        </p:nvGrpSpPr>
        <p:grpSpPr>
          <a:xfrm rot="0">
            <a:off x="1052512" y="2335997"/>
            <a:ext cx="1579564" cy="47625"/>
            <a:chOff x="0" y="0"/>
            <a:chExt cx="416017" cy="12543"/>
          </a:xfrm>
        </p:grpSpPr>
        <p:sp>
          <p:nvSpPr>
            <p:cNvPr name="Freeform 19" id="19"/>
            <p:cNvSpPr/>
            <p:nvPr/>
          </p:nvSpPr>
          <p:spPr>
            <a:xfrm flipH="false" flipV="false" rot="0">
              <a:off x="0" y="0"/>
              <a:ext cx="416017" cy="12543"/>
            </a:xfrm>
            <a:custGeom>
              <a:avLst/>
              <a:gdLst/>
              <a:ahLst/>
              <a:cxnLst/>
              <a:rect r="r" b="b" t="t" l="l"/>
              <a:pathLst>
                <a:path h="12543" w="416017">
                  <a:moveTo>
                    <a:pt x="0" y="0"/>
                  </a:moveTo>
                  <a:lnTo>
                    <a:pt x="416017" y="0"/>
                  </a:lnTo>
                  <a:lnTo>
                    <a:pt x="416017" y="12543"/>
                  </a:lnTo>
                  <a:lnTo>
                    <a:pt x="0" y="12543"/>
                  </a:lnTo>
                  <a:close/>
                </a:path>
              </a:pathLst>
            </a:custGeom>
            <a:ln w="19050" cap="sq">
              <a:solidFill>
                <a:srgbClr val="FFFFFF"/>
              </a:solidFill>
              <a:prstDash val="solid"/>
              <a:miter/>
            </a:ln>
          </p:spPr>
        </p:sp>
        <p:sp>
          <p:nvSpPr>
            <p:cNvPr name="TextBox 20" id="20"/>
            <p:cNvSpPr txBox="true"/>
            <p:nvPr/>
          </p:nvSpPr>
          <p:spPr>
            <a:xfrm>
              <a:off x="0" y="-19050"/>
              <a:ext cx="416017" cy="3159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21" id="21"/>
          <p:cNvSpPr txBox="true"/>
          <p:nvPr/>
        </p:nvSpPr>
        <p:spPr>
          <a:xfrm rot="0">
            <a:off x="3024115" y="2123590"/>
            <a:ext cx="4028350" cy="415289"/>
          </a:xfrm>
          <a:prstGeom prst="rect">
            <a:avLst/>
          </a:prstGeom>
        </p:spPr>
        <p:txBody>
          <a:bodyPr anchor="t" rtlCol="false" tIns="0" lIns="0" bIns="0" rIns="0">
            <a:spAutoFit/>
          </a:bodyPr>
          <a:lstStyle/>
          <a:p>
            <a:pPr algn="l">
              <a:lnSpc>
                <a:spcPts val="3360"/>
              </a:lnSpc>
            </a:pPr>
            <a:r>
              <a:rPr lang="en-US" sz="2400">
                <a:solidFill>
                  <a:srgbClr val="FFFFFF"/>
                </a:solidFill>
                <a:latin typeface="Work Sans"/>
                <a:ea typeface="Work Sans"/>
                <a:cs typeface="Work Sans"/>
                <a:sym typeface="Work Sans"/>
              </a:rPr>
              <a:t>fichier_data</a:t>
            </a:r>
          </a:p>
        </p:txBody>
      </p:sp>
      <p:grpSp>
        <p:nvGrpSpPr>
          <p:cNvPr name="Group 22" id="22"/>
          <p:cNvGrpSpPr/>
          <p:nvPr/>
        </p:nvGrpSpPr>
        <p:grpSpPr>
          <a:xfrm rot="5323429">
            <a:off x="3529616" y="2775179"/>
            <a:ext cx="350253" cy="89319"/>
            <a:chOff x="0" y="0"/>
            <a:chExt cx="92248" cy="23524"/>
          </a:xfrm>
        </p:grpSpPr>
        <p:sp>
          <p:nvSpPr>
            <p:cNvPr name="Freeform 23" id="23"/>
            <p:cNvSpPr/>
            <p:nvPr/>
          </p:nvSpPr>
          <p:spPr>
            <a:xfrm flipH="false" flipV="false" rot="0">
              <a:off x="0" y="0"/>
              <a:ext cx="92248" cy="23524"/>
            </a:xfrm>
            <a:custGeom>
              <a:avLst/>
              <a:gdLst/>
              <a:ahLst/>
              <a:cxnLst/>
              <a:rect r="r" b="b" t="t" l="l"/>
              <a:pathLst>
                <a:path h="23524" w="92248">
                  <a:moveTo>
                    <a:pt x="0" y="0"/>
                  </a:moveTo>
                  <a:lnTo>
                    <a:pt x="92248" y="0"/>
                  </a:lnTo>
                  <a:lnTo>
                    <a:pt x="92248" y="23524"/>
                  </a:lnTo>
                  <a:lnTo>
                    <a:pt x="0" y="23524"/>
                  </a:lnTo>
                  <a:close/>
                </a:path>
              </a:pathLst>
            </a:custGeom>
            <a:ln w="19050" cap="sq">
              <a:solidFill>
                <a:srgbClr val="FFFFFF"/>
              </a:solidFill>
              <a:prstDash val="solid"/>
              <a:miter/>
            </a:ln>
          </p:spPr>
        </p:sp>
        <p:sp>
          <p:nvSpPr>
            <p:cNvPr name="TextBox 24" id="24"/>
            <p:cNvSpPr txBox="true"/>
            <p:nvPr/>
          </p:nvSpPr>
          <p:spPr>
            <a:xfrm>
              <a:off x="0" y="-19050"/>
              <a:ext cx="92248" cy="42574"/>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25" id="25"/>
          <p:cNvSpPr txBox="true"/>
          <p:nvPr/>
        </p:nvSpPr>
        <p:spPr>
          <a:xfrm rot="0">
            <a:off x="3920708" y="3193166"/>
            <a:ext cx="4028350" cy="415289"/>
          </a:xfrm>
          <a:prstGeom prst="rect">
            <a:avLst/>
          </a:prstGeom>
        </p:spPr>
        <p:txBody>
          <a:bodyPr anchor="t" rtlCol="false" tIns="0" lIns="0" bIns="0" rIns="0">
            <a:spAutoFit/>
          </a:bodyPr>
          <a:lstStyle/>
          <a:p>
            <a:pPr algn="l">
              <a:lnSpc>
                <a:spcPts val="3360"/>
              </a:lnSpc>
            </a:pPr>
            <a:r>
              <a:rPr lang="en-US" sz="2400">
                <a:solidFill>
                  <a:srgbClr val="FFFFFF"/>
                </a:solidFill>
                <a:latin typeface="Work Sans"/>
                <a:ea typeface="Work Sans"/>
                <a:cs typeface="Work Sans"/>
                <a:sym typeface="Work Sans"/>
              </a:rPr>
              <a:t>store.csv</a:t>
            </a:r>
          </a:p>
        </p:txBody>
      </p:sp>
      <p:grpSp>
        <p:nvGrpSpPr>
          <p:cNvPr name="Group 26" id="26"/>
          <p:cNvGrpSpPr/>
          <p:nvPr/>
        </p:nvGrpSpPr>
        <p:grpSpPr>
          <a:xfrm rot="0">
            <a:off x="3632381" y="5097131"/>
            <a:ext cx="4557379" cy="1950783"/>
            <a:chOff x="0" y="0"/>
            <a:chExt cx="1200297" cy="513786"/>
          </a:xfrm>
        </p:grpSpPr>
        <p:sp>
          <p:nvSpPr>
            <p:cNvPr name="Freeform 27" id="27"/>
            <p:cNvSpPr/>
            <p:nvPr/>
          </p:nvSpPr>
          <p:spPr>
            <a:xfrm flipH="false" flipV="false" rot="0">
              <a:off x="0" y="0"/>
              <a:ext cx="1200297" cy="513786"/>
            </a:xfrm>
            <a:custGeom>
              <a:avLst/>
              <a:gdLst/>
              <a:ahLst/>
              <a:cxnLst/>
              <a:rect r="r" b="b" t="t" l="l"/>
              <a:pathLst>
                <a:path h="513786" w="1200297">
                  <a:moveTo>
                    <a:pt x="33975" y="0"/>
                  </a:moveTo>
                  <a:lnTo>
                    <a:pt x="1166322" y="0"/>
                  </a:lnTo>
                  <a:cubicBezTo>
                    <a:pt x="1185086" y="0"/>
                    <a:pt x="1200297" y="15211"/>
                    <a:pt x="1200297" y="33975"/>
                  </a:cubicBezTo>
                  <a:lnTo>
                    <a:pt x="1200297" y="479811"/>
                  </a:lnTo>
                  <a:cubicBezTo>
                    <a:pt x="1200297" y="498575"/>
                    <a:pt x="1185086" y="513786"/>
                    <a:pt x="1166322" y="513786"/>
                  </a:cubicBezTo>
                  <a:lnTo>
                    <a:pt x="33975" y="513786"/>
                  </a:lnTo>
                  <a:cubicBezTo>
                    <a:pt x="15211" y="513786"/>
                    <a:pt x="0" y="498575"/>
                    <a:pt x="0" y="479811"/>
                  </a:cubicBezTo>
                  <a:lnTo>
                    <a:pt x="0" y="33975"/>
                  </a:lnTo>
                  <a:cubicBezTo>
                    <a:pt x="0" y="15211"/>
                    <a:pt x="15211" y="0"/>
                    <a:pt x="33975" y="0"/>
                  </a:cubicBezTo>
                  <a:close/>
                </a:path>
              </a:pathLst>
            </a:custGeom>
            <a:ln w="19050" cap="sq">
              <a:solidFill>
                <a:srgbClr val="FFFFFF"/>
              </a:solidFill>
              <a:prstDash val="solid"/>
              <a:miter/>
            </a:ln>
          </p:spPr>
        </p:sp>
        <p:sp>
          <p:nvSpPr>
            <p:cNvPr name="TextBox 28" id="28"/>
            <p:cNvSpPr txBox="true"/>
            <p:nvPr/>
          </p:nvSpPr>
          <p:spPr>
            <a:xfrm>
              <a:off x="0" y="-9525"/>
              <a:ext cx="1200297" cy="523311"/>
            </a:xfrm>
            <a:prstGeom prst="rect">
              <a:avLst/>
            </a:prstGeom>
          </p:spPr>
          <p:txBody>
            <a:bodyPr anchor="ctr" rtlCol="false" tIns="50800" lIns="50800" bIns="50800" rIns="50800"/>
            <a:lstStyle/>
            <a:p>
              <a:pPr algn="ctr" marL="0" indent="0" lvl="0">
                <a:lnSpc>
                  <a:spcPts val="2880"/>
                </a:lnSpc>
                <a:spcBef>
                  <a:spcPct val="0"/>
                </a:spcBef>
              </a:pPr>
            </a:p>
          </p:txBody>
        </p:sp>
      </p:grpSp>
      <p:grpSp>
        <p:nvGrpSpPr>
          <p:cNvPr name="Group 29" id="29"/>
          <p:cNvGrpSpPr/>
          <p:nvPr/>
        </p:nvGrpSpPr>
        <p:grpSpPr>
          <a:xfrm rot="0">
            <a:off x="1028700" y="4332437"/>
            <a:ext cx="1579564" cy="47625"/>
            <a:chOff x="0" y="0"/>
            <a:chExt cx="416017" cy="12543"/>
          </a:xfrm>
        </p:grpSpPr>
        <p:sp>
          <p:nvSpPr>
            <p:cNvPr name="Freeform 30" id="30"/>
            <p:cNvSpPr/>
            <p:nvPr/>
          </p:nvSpPr>
          <p:spPr>
            <a:xfrm flipH="false" flipV="false" rot="0">
              <a:off x="0" y="0"/>
              <a:ext cx="416017" cy="12543"/>
            </a:xfrm>
            <a:custGeom>
              <a:avLst/>
              <a:gdLst/>
              <a:ahLst/>
              <a:cxnLst/>
              <a:rect r="r" b="b" t="t" l="l"/>
              <a:pathLst>
                <a:path h="12543" w="416017">
                  <a:moveTo>
                    <a:pt x="0" y="0"/>
                  </a:moveTo>
                  <a:lnTo>
                    <a:pt x="416017" y="0"/>
                  </a:lnTo>
                  <a:lnTo>
                    <a:pt x="416017" y="12543"/>
                  </a:lnTo>
                  <a:lnTo>
                    <a:pt x="0" y="12543"/>
                  </a:lnTo>
                  <a:close/>
                </a:path>
              </a:pathLst>
            </a:custGeom>
            <a:ln w="19050" cap="sq">
              <a:solidFill>
                <a:srgbClr val="FFFFFF"/>
              </a:solidFill>
              <a:prstDash val="solid"/>
              <a:miter/>
            </a:ln>
          </p:spPr>
        </p:sp>
        <p:sp>
          <p:nvSpPr>
            <p:cNvPr name="TextBox 31" id="31"/>
            <p:cNvSpPr txBox="true"/>
            <p:nvPr/>
          </p:nvSpPr>
          <p:spPr>
            <a:xfrm>
              <a:off x="0" y="-19050"/>
              <a:ext cx="416017" cy="3159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32" id="32"/>
          <p:cNvSpPr txBox="true"/>
          <p:nvPr/>
        </p:nvSpPr>
        <p:spPr>
          <a:xfrm rot="0">
            <a:off x="3000303" y="4120029"/>
            <a:ext cx="4028350" cy="415289"/>
          </a:xfrm>
          <a:prstGeom prst="rect">
            <a:avLst/>
          </a:prstGeom>
        </p:spPr>
        <p:txBody>
          <a:bodyPr anchor="t" rtlCol="false" tIns="0" lIns="0" bIns="0" rIns="0">
            <a:spAutoFit/>
          </a:bodyPr>
          <a:lstStyle/>
          <a:p>
            <a:pPr algn="l">
              <a:lnSpc>
                <a:spcPts val="3360"/>
              </a:lnSpc>
            </a:pPr>
            <a:r>
              <a:rPr lang="en-US" sz="2400">
                <a:solidFill>
                  <a:srgbClr val="FFFFFF"/>
                </a:solidFill>
                <a:latin typeface="Work Sans"/>
                <a:ea typeface="Work Sans"/>
                <a:cs typeface="Work Sans"/>
                <a:sym typeface="Work Sans"/>
              </a:rPr>
              <a:t>fichier_py</a:t>
            </a:r>
          </a:p>
        </p:txBody>
      </p:sp>
      <p:grpSp>
        <p:nvGrpSpPr>
          <p:cNvPr name="Group 33" id="33"/>
          <p:cNvGrpSpPr/>
          <p:nvPr/>
        </p:nvGrpSpPr>
        <p:grpSpPr>
          <a:xfrm rot="5323429">
            <a:off x="3505803" y="4771619"/>
            <a:ext cx="350253" cy="89319"/>
            <a:chOff x="0" y="0"/>
            <a:chExt cx="92248" cy="23524"/>
          </a:xfrm>
        </p:grpSpPr>
        <p:sp>
          <p:nvSpPr>
            <p:cNvPr name="Freeform 34" id="34"/>
            <p:cNvSpPr/>
            <p:nvPr/>
          </p:nvSpPr>
          <p:spPr>
            <a:xfrm flipH="false" flipV="false" rot="0">
              <a:off x="0" y="0"/>
              <a:ext cx="92248" cy="23524"/>
            </a:xfrm>
            <a:custGeom>
              <a:avLst/>
              <a:gdLst/>
              <a:ahLst/>
              <a:cxnLst/>
              <a:rect r="r" b="b" t="t" l="l"/>
              <a:pathLst>
                <a:path h="23524" w="92248">
                  <a:moveTo>
                    <a:pt x="0" y="0"/>
                  </a:moveTo>
                  <a:lnTo>
                    <a:pt x="92248" y="0"/>
                  </a:lnTo>
                  <a:lnTo>
                    <a:pt x="92248" y="23524"/>
                  </a:lnTo>
                  <a:lnTo>
                    <a:pt x="0" y="23524"/>
                  </a:lnTo>
                  <a:close/>
                </a:path>
              </a:pathLst>
            </a:custGeom>
            <a:ln w="19050" cap="sq">
              <a:solidFill>
                <a:srgbClr val="FFFFFF"/>
              </a:solidFill>
              <a:prstDash val="solid"/>
              <a:miter/>
            </a:ln>
          </p:spPr>
        </p:sp>
        <p:sp>
          <p:nvSpPr>
            <p:cNvPr name="TextBox 35" id="35"/>
            <p:cNvSpPr txBox="true"/>
            <p:nvPr/>
          </p:nvSpPr>
          <p:spPr>
            <a:xfrm>
              <a:off x="0" y="-19050"/>
              <a:ext cx="92248" cy="42574"/>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36" id="36"/>
          <p:cNvSpPr txBox="true"/>
          <p:nvPr/>
        </p:nvSpPr>
        <p:spPr>
          <a:xfrm rot="0">
            <a:off x="3896895" y="5189605"/>
            <a:ext cx="4028350" cy="1672589"/>
          </a:xfrm>
          <a:prstGeom prst="rect">
            <a:avLst/>
          </a:prstGeom>
        </p:spPr>
        <p:txBody>
          <a:bodyPr anchor="t" rtlCol="false" tIns="0" lIns="0" bIns="0" rIns="0">
            <a:spAutoFit/>
          </a:bodyPr>
          <a:lstStyle/>
          <a:p>
            <a:pPr algn="l">
              <a:lnSpc>
                <a:spcPts val="3360"/>
              </a:lnSpc>
            </a:pPr>
            <a:r>
              <a:rPr lang="en-US" sz="2400">
                <a:solidFill>
                  <a:srgbClr val="FFFFFF"/>
                </a:solidFill>
                <a:latin typeface="Work Sans"/>
                <a:ea typeface="Work Sans"/>
                <a:cs typeface="Work Sans"/>
                <a:sym typeface="Work Sans"/>
              </a:rPr>
              <a:t>fun.py</a:t>
            </a:r>
          </a:p>
          <a:p>
            <a:pPr algn="l">
              <a:lnSpc>
                <a:spcPts val="3360"/>
              </a:lnSpc>
            </a:pPr>
            <a:r>
              <a:rPr lang="en-US" sz="2400">
                <a:solidFill>
                  <a:srgbClr val="FFFFFF"/>
                </a:solidFill>
                <a:latin typeface="Work Sans"/>
                <a:ea typeface="Work Sans"/>
                <a:cs typeface="Work Sans"/>
                <a:sym typeface="Work Sans"/>
              </a:rPr>
              <a:t>read_clean_data.py</a:t>
            </a:r>
          </a:p>
          <a:p>
            <a:pPr algn="l">
              <a:lnSpc>
                <a:spcPts val="3360"/>
              </a:lnSpc>
            </a:pPr>
            <a:r>
              <a:rPr lang="en-US" sz="2400">
                <a:solidFill>
                  <a:srgbClr val="FFFFFF"/>
                </a:solidFill>
                <a:latin typeface="Work Sans"/>
                <a:ea typeface="Work Sans"/>
                <a:cs typeface="Work Sans"/>
                <a:sym typeface="Work Sans"/>
              </a:rPr>
              <a:t>graphes.py</a:t>
            </a:r>
          </a:p>
          <a:p>
            <a:pPr algn="l">
              <a:lnSpc>
                <a:spcPts val="3360"/>
              </a:lnSpc>
            </a:pPr>
            <a:r>
              <a:rPr lang="en-US" sz="2400">
                <a:solidFill>
                  <a:srgbClr val="FFFFFF"/>
                </a:solidFill>
                <a:latin typeface="Work Sans"/>
                <a:ea typeface="Work Sans"/>
                <a:cs typeface="Work Sans"/>
                <a:sym typeface="Work Sans"/>
              </a:rPr>
              <a:t>rapport.py</a:t>
            </a:r>
          </a:p>
        </p:txBody>
      </p:sp>
      <p:grpSp>
        <p:nvGrpSpPr>
          <p:cNvPr name="Group 37" id="37"/>
          <p:cNvGrpSpPr/>
          <p:nvPr/>
        </p:nvGrpSpPr>
        <p:grpSpPr>
          <a:xfrm rot="0">
            <a:off x="3632381" y="8225040"/>
            <a:ext cx="4557379" cy="1033260"/>
            <a:chOff x="0" y="0"/>
            <a:chExt cx="1200297" cy="272134"/>
          </a:xfrm>
        </p:grpSpPr>
        <p:sp>
          <p:nvSpPr>
            <p:cNvPr name="Freeform 38" id="38"/>
            <p:cNvSpPr/>
            <p:nvPr/>
          </p:nvSpPr>
          <p:spPr>
            <a:xfrm flipH="false" flipV="false" rot="0">
              <a:off x="0" y="0"/>
              <a:ext cx="1200297" cy="272134"/>
            </a:xfrm>
            <a:custGeom>
              <a:avLst/>
              <a:gdLst/>
              <a:ahLst/>
              <a:cxnLst/>
              <a:rect r="r" b="b" t="t" l="l"/>
              <a:pathLst>
                <a:path h="272134" w="1200297">
                  <a:moveTo>
                    <a:pt x="33975" y="0"/>
                  </a:moveTo>
                  <a:lnTo>
                    <a:pt x="1166322" y="0"/>
                  </a:lnTo>
                  <a:cubicBezTo>
                    <a:pt x="1185086" y="0"/>
                    <a:pt x="1200297" y="15211"/>
                    <a:pt x="1200297" y="33975"/>
                  </a:cubicBezTo>
                  <a:lnTo>
                    <a:pt x="1200297" y="238159"/>
                  </a:lnTo>
                  <a:cubicBezTo>
                    <a:pt x="1200297" y="256923"/>
                    <a:pt x="1185086" y="272134"/>
                    <a:pt x="1166322" y="272134"/>
                  </a:cubicBezTo>
                  <a:lnTo>
                    <a:pt x="33975" y="272134"/>
                  </a:lnTo>
                  <a:cubicBezTo>
                    <a:pt x="15211" y="272134"/>
                    <a:pt x="0" y="256923"/>
                    <a:pt x="0" y="238159"/>
                  </a:cubicBezTo>
                  <a:lnTo>
                    <a:pt x="0" y="33975"/>
                  </a:lnTo>
                  <a:cubicBezTo>
                    <a:pt x="0" y="15211"/>
                    <a:pt x="15211" y="0"/>
                    <a:pt x="33975" y="0"/>
                  </a:cubicBezTo>
                  <a:close/>
                </a:path>
              </a:pathLst>
            </a:custGeom>
            <a:ln w="19050" cap="sq">
              <a:solidFill>
                <a:srgbClr val="FFFFFF"/>
              </a:solidFill>
              <a:prstDash val="solid"/>
              <a:miter/>
            </a:ln>
          </p:spPr>
        </p:sp>
        <p:sp>
          <p:nvSpPr>
            <p:cNvPr name="TextBox 39" id="39"/>
            <p:cNvSpPr txBox="true"/>
            <p:nvPr/>
          </p:nvSpPr>
          <p:spPr>
            <a:xfrm>
              <a:off x="0" y="-9525"/>
              <a:ext cx="1200297" cy="281659"/>
            </a:xfrm>
            <a:prstGeom prst="rect">
              <a:avLst/>
            </a:prstGeom>
          </p:spPr>
          <p:txBody>
            <a:bodyPr anchor="ctr" rtlCol="false" tIns="50800" lIns="50800" bIns="50800" rIns="50800"/>
            <a:lstStyle/>
            <a:p>
              <a:pPr algn="ctr" marL="0" indent="0" lvl="0">
                <a:lnSpc>
                  <a:spcPts val="2880"/>
                </a:lnSpc>
                <a:spcBef>
                  <a:spcPct val="0"/>
                </a:spcBef>
              </a:pPr>
            </a:p>
          </p:txBody>
        </p:sp>
      </p:grpSp>
      <p:grpSp>
        <p:nvGrpSpPr>
          <p:cNvPr name="Group 40" id="40"/>
          <p:cNvGrpSpPr/>
          <p:nvPr/>
        </p:nvGrpSpPr>
        <p:grpSpPr>
          <a:xfrm rot="0">
            <a:off x="1028700" y="7460346"/>
            <a:ext cx="1579564" cy="47625"/>
            <a:chOff x="0" y="0"/>
            <a:chExt cx="416017" cy="12543"/>
          </a:xfrm>
        </p:grpSpPr>
        <p:sp>
          <p:nvSpPr>
            <p:cNvPr name="Freeform 41" id="41"/>
            <p:cNvSpPr/>
            <p:nvPr/>
          </p:nvSpPr>
          <p:spPr>
            <a:xfrm flipH="false" flipV="false" rot="0">
              <a:off x="0" y="0"/>
              <a:ext cx="416017" cy="12543"/>
            </a:xfrm>
            <a:custGeom>
              <a:avLst/>
              <a:gdLst/>
              <a:ahLst/>
              <a:cxnLst/>
              <a:rect r="r" b="b" t="t" l="l"/>
              <a:pathLst>
                <a:path h="12543" w="416017">
                  <a:moveTo>
                    <a:pt x="0" y="0"/>
                  </a:moveTo>
                  <a:lnTo>
                    <a:pt x="416017" y="0"/>
                  </a:lnTo>
                  <a:lnTo>
                    <a:pt x="416017" y="12543"/>
                  </a:lnTo>
                  <a:lnTo>
                    <a:pt x="0" y="12543"/>
                  </a:lnTo>
                  <a:close/>
                </a:path>
              </a:pathLst>
            </a:custGeom>
            <a:ln w="19050" cap="sq">
              <a:solidFill>
                <a:srgbClr val="FFFFFF"/>
              </a:solidFill>
              <a:prstDash val="solid"/>
              <a:miter/>
            </a:ln>
          </p:spPr>
        </p:sp>
        <p:sp>
          <p:nvSpPr>
            <p:cNvPr name="TextBox 42" id="42"/>
            <p:cNvSpPr txBox="true"/>
            <p:nvPr/>
          </p:nvSpPr>
          <p:spPr>
            <a:xfrm>
              <a:off x="0" y="-19050"/>
              <a:ext cx="416017" cy="3159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43" id="43"/>
          <p:cNvSpPr txBox="true"/>
          <p:nvPr/>
        </p:nvSpPr>
        <p:spPr>
          <a:xfrm rot="0">
            <a:off x="3000303" y="7247938"/>
            <a:ext cx="4028350" cy="415289"/>
          </a:xfrm>
          <a:prstGeom prst="rect">
            <a:avLst/>
          </a:prstGeom>
        </p:spPr>
        <p:txBody>
          <a:bodyPr anchor="t" rtlCol="false" tIns="0" lIns="0" bIns="0" rIns="0">
            <a:spAutoFit/>
          </a:bodyPr>
          <a:lstStyle/>
          <a:p>
            <a:pPr algn="l">
              <a:lnSpc>
                <a:spcPts val="3360"/>
              </a:lnSpc>
            </a:pPr>
            <a:r>
              <a:rPr lang="en-US" sz="2400">
                <a:solidFill>
                  <a:srgbClr val="FFFFFF"/>
                </a:solidFill>
                <a:latin typeface="Work Sans"/>
                <a:ea typeface="Work Sans"/>
                <a:cs typeface="Work Sans"/>
                <a:sym typeface="Work Sans"/>
              </a:rPr>
              <a:t>fichier_livrable</a:t>
            </a:r>
          </a:p>
        </p:txBody>
      </p:sp>
      <p:grpSp>
        <p:nvGrpSpPr>
          <p:cNvPr name="Group 44" id="44"/>
          <p:cNvGrpSpPr/>
          <p:nvPr/>
        </p:nvGrpSpPr>
        <p:grpSpPr>
          <a:xfrm rot="5323429">
            <a:off x="3505803" y="7899528"/>
            <a:ext cx="350253" cy="89319"/>
            <a:chOff x="0" y="0"/>
            <a:chExt cx="92248" cy="23524"/>
          </a:xfrm>
        </p:grpSpPr>
        <p:sp>
          <p:nvSpPr>
            <p:cNvPr name="Freeform 45" id="45"/>
            <p:cNvSpPr/>
            <p:nvPr/>
          </p:nvSpPr>
          <p:spPr>
            <a:xfrm flipH="false" flipV="false" rot="0">
              <a:off x="0" y="0"/>
              <a:ext cx="92248" cy="23524"/>
            </a:xfrm>
            <a:custGeom>
              <a:avLst/>
              <a:gdLst/>
              <a:ahLst/>
              <a:cxnLst/>
              <a:rect r="r" b="b" t="t" l="l"/>
              <a:pathLst>
                <a:path h="23524" w="92248">
                  <a:moveTo>
                    <a:pt x="0" y="0"/>
                  </a:moveTo>
                  <a:lnTo>
                    <a:pt x="92248" y="0"/>
                  </a:lnTo>
                  <a:lnTo>
                    <a:pt x="92248" y="23524"/>
                  </a:lnTo>
                  <a:lnTo>
                    <a:pt x="0" y="23524"/>
                  </a:lnTo>
                  <a:close/>
                </a:path>
              </a:pathLst>
            </a:custGeom>
            <a:ln w="19050" cap="sq">
              <a:solidFill>
                <a:srgbClr val="FFFFFF"/>
              </a:solidFill>
              <a:prstDash val="solid"/>
              <a:miter/>
            </a:ln>
          </p:spPr>
        </p:sp>
        <p:sp>
          <p:nvSpPr>
            <p:cNvPr name="TextBox 46" id="46"/>
            <p:cNvSpPr txBox="true"/>
            <p:nvPr/>
          </p:nvSpPr>
          <p:spPr>
            <a:xfrm>
              <a:off x="0" y="-19050"/>
              <a:ext cx="92248" cy="42574"/>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47" id="47"/>
          <p:cNvSpPr txBox="true"/>
          <p:nvPr/>
        </p:nvSpPr>
        <p:spPr>
          <a:xfrm rot="0">
            <a:off x="3896895" y="8317514"/>
            <a:ext cx="4028350" cy="834389"/>
          </a:xfrm>
          <a:prstGeom prst="rect">
            <a:avLst/>
          </a:prstGeom>
        </p:spPr>
        <p:txBody>
          <a:bodyPr anchor="t" rtlCol="false" tIns="0" lIns="0" bIns="0" rIns="0">
            <a:spAutoFit/>
          </a:bodyPr>
          <a:lstStyle/>
          <a:p>
            <a:pPr algn="l">
              <a:lnSpc>
                <a:spcPts val="3360"/>
              </a:lnSpc>
            </a:pPr>
            <a:r>
              <a:rPr lang="en-US" sz="2400">
                <a:solidFill>
                  <a:srgbClr val="FFFFFF"/>
                </a:solidFill>
                <a:latin typeface="Work Sans"/>
                <a:ea typeface="Work Sans"/>
                <a:cs typeface="Work Sans"/>
                <a:sym typeface="Work Sans"/>
              </a:rPr>
              <a:t>superstore_clean.csv</a:t>
            </a:r>
          </a:p>
          <a:p>
            <a:pPr algn="l">
              <a:lnSpc>
                <a:spcPts val="3360"/>
              </a:lnSpc>
            </a:pPr>
            <a:r>
              <a:rPr lang="en-US" sz="2400">
                <a:solidFill>
                  <a:srgbClr val="FFFFFF"/>
                </a:solidFill>
                <a:latin typeface="Work Sans"/>
                <a:ea typeface="Work Sans"/>
                <a:cs typeface="Work Sans"/>
                <a:sym typeface="Work Sans"/>
              </a:rPr>
              <a:t>rapport.docx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DAHCJD7U0f8</dc:identifier>
  <dcterms:modified xsi:type="dcterms:W3CDTF">2011-08-01T06:04:30Z</dcterms:modified>
  <cp:revision>1</cp:revision>
  <dc:title>Superstore  _  Soubi-Charaf</dc:title>
</cp:coreProperties>
</file>