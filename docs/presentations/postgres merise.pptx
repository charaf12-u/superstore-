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61" r:id="rId5"/>
    <p:sldId id="262" r:id="rId6"/>
    <p:sldId id="263" r:id="rId7"/>
    <p:sldId id="264" r:id="rId8"/>
  </p:sldIdLst>
  <p:sldSz cx="18288000" cy="10287000"/>
  <p:notesSz cx="6858000" cy="9144000"/>
  <p:embeddedFontLst>
    <p:embeddedFont>
      <p:font typeface="Gagalin" panose="020B0604020202020204" charset="0"/>
      <p:regular r:id="rId9"/>
    </p:embeddedFont>
    <p:embeddedFont>
      <p:font typeface="League Spartan" panose="020B0604020202020204" charset="0"/>
      <p:regular r:id="rId10"/>
    </p:embeddedFont>
    <p:embeddedFont>
      <p:font typeface="Questrial" pitchFamily="2" charset="0"/>
      <p:regular r:id="rId11"/>
    </p:embeddedFont>
    <p:embeddedFont>
      <p:font typeface="Roboto" panose="02000000000000000000" pitchFamily="2" charset="0"/>
      <p:regular r:id="rId12"/>
      <p:bold r:id="rId13"/>
      <p:italic r:id="rId14"/>
      <p:boldItalic r:id="rId15"/>
    </p:embeddedFont>
    <p:embeddedFont>
      <p:font typeface="Some Time Later"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117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8561916" y="2012971"/>
            <a:ext cx="9231242" cy="4143514"/>
          </a:xfrm>
          <a:prstGeom prst="rect">
            <a:avLst/>
          </a:prstGeom>
        </p:spPr>
        <p:txBody>
          <a:bodyPr lIns="0" tIns="0" rIns="0" bIns="0" rtlCol="0" anchor="t">
            <a:spAutoFit/>
          </a:bodyPr>
          <a:lstStyle/>
          <a:p>
            <a:pPr algn="l">
              <a:lnSpc>
                <a:spcPts val="10732"/>
              </a:lnSpc>
            </a:pPr>
            <a:r>
              <a:rPr lang="en-US" sz="10319">
                <a:solidFill>
                  <a:srgbClr val="FFFFFF"/>
                </a:solidFill>
                <a:latin typeface="League Spartan"/>
                <a:ea typeface="League Spartan"/>
                <a:cs typeface="League Spartan"/>
                <a:sym typeface="League Spartan"/>
              </a:rPr>
              <a:t>base de données du superstore</a:t>
            </a:r>
          </a:p>
        </p:txBody>
      </p:sp>
      <p:sp>
        <p:nvSpPr>
          <p:cNvPr id="3" name="TextBox 3"/>
          <p:cNvSpPr txBox="1"/>
          <p:nvPr/>
        </p:nvSpPr>
        <p:spPr>
          <a:xfrm>
            <a:off x="8561916" y="8675922"/>
            <a:ext cx="7651458" cy="273685"/>
          </a:xfrm>
          <a:prstGeom prst="rect">
            <a:avLst/>
          </a:prstGeom>
        </p:spPr>
        <p:txBody>
          <a:bodyPr lIns="0" tIns="0" rIns="0" bIns="0" rtlCol="0" anchor="t">
            <a:spAutoFit/>
          </a:bodyPr>
          <a:lstStyle/>
          <a:p>
            <a:pPr algn="l">
              <a:lnSpc>
                <a:spcPts val="2239"/>
              </a:lnSpc>
            </a:pPr>
            <a:r>
              <a:rPr lang="en-US" sz="1599">
                <a:solidFill>
                  <a:srgbClr val="FFFFFF"/>
                </a:solidFill>
                <a:latin typeface="Questrial"/>
                <a:ea typeface="Questrial"/>
                <a:cs typeface="Questrial"/>
                <a:sym typeface="Questrial"/>
              </a:rPr>
              <a:t>soubicharaf@gmail.com</a:t>
            </a:r>
          </a:p>
        </p:txBody>
      </p:sp>
      <p:sp>
        <p:nvSpPr>
          <p:cNvPr id="4" name="Freeform 4"/>
          <p:cNvSpPr/>
          <p:nvPr/>
        </p:nvSpPr>
        <p:spPr>
          <a:xfrm>
            <a:off x="15248455" y="265007"/>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5" name="Freeform 5"/>
          <p:cNvSpPr/>
          <p:nvPr/>
        </p:nvSpPr>
        <p:spPr>
          <a:xfrm>
            <a:off x="16887778" y="5402361"/>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grpSp>
        <p:nvGrpSpPr>
          <p:cNvPr id="6" name="Group 6"/>
          <p:cNvGrpSpPr/>
          <p:nvPr/>
        </p:nvGrpSpPr>
        <p:grpSpPr>
          <a:xfrm>
            <a:off x="8561916" y="6504006"/>
            <a:ext cx="2967069" cy="807119"/>
            <a:chOff x="0" y="0"/>
            <a:chExt cx="418225" cy="113768"/>
          </a:xfrm>
        </p:grpSpPr>
        <p:sp>
          <p:nvSpPr>
            <p:cNvPr id="7" name="Freeform 7"/>
            <p:cNvSpPr/>
            <p:nvPr/>
          </p:nvSpPr>
          <p:spPr>
            <a:xfrm>
              <a:off x="0" y="0"/>
              <a:ext cx="418225" cy="113768"/>
            </a:xfrm>
            <a:custGeom>
              <a:avLst/>
              <a:gdLst/>
              <a:ahLst/>
              <a:cxnLst/>
              <a:rect l="l" t="t" r="r" b="b"/>
              <a:pathLst>
                <a:path w="418225" h="113768">
                  <a:moveTo>
                    <a:pt x="0" y="0"/>
                  </a:moveTo>
                  <a:lnTo>
                    <a:pt x="418225" y="0"/>
                  </a:lnTo>
                  <a:lnTo>
                    <a:pt x="418225" y="113768"/>
                  </a:lnTo>
                  <a:lnTo>
                    <a:pt x="0" y="113768"/>
                  </a:lnTo>
                  <a:close/>
                </a:path>
              </a:pathLst>
            </a:custGeom>
            <a:gradFill rotWithShape="1">
              <a:gsLst>
                <a:gs pos="0">
                  <a:srgbClr val="396BA5">
                    <a:alpha val="85000"/>
                  </a:srgbClr>
                </a:gs>
                <a:gs pos="100000">
                  <a:srgbClr val="062C3F">
                    <a:alpha val="85000"/>
                  </a:srgbClr>
                </a:gs>
              </a:gsLst>
              <a:lin ang="0"/>
            </a:gradFill>
            <a:ln cap="sq">
              <a:noFill/>
              <a:prstDash val="solid"/>
              <a:miter/>
            </a:ln>
          </p:spPr>
        </p:sp>
        <p:sp>
          <p:nvSpPr>
            <p:cNvPr id="8" name="TextBox 8"/>
            <p:cNvSpPr txBox="1"/>
            <p:nvPr/>
          </p:nvSpPr>
          <p:spPr>
            <a:xfrm>
              <a:off x="0" y="-38100"/>
              <a:ext cx="418225" cy="151868"/>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548977" y="1226896"/>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10" name="Freeform 10"/>
          <p:cNvSpPr/>
          <p:nvPr/>
        </p:nvSpPr>
        <p:spPr>
          <a:xfrm>
            <a:off x="15743297" y="8442712"/>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11" name="Freeform 11"/>
          <p:cNvSpPr/>
          <p:nvPr/>
        </p:nvSpPr>
        <p:spPr>
          <a:xfrm>
            <a:off x="-3753845" y="6504006"/>
            <a:ext cx="5089406" cy="2203289"/>
          </a:xfrm>
          <a:custGeom>
            <a:avLst/>
            <a:gdLst/>
            <a:ahLst/>
            <a:cxnLst/>
            <a:rect l="l" t="t" r="r" b="b"/>
            <a:pathLst>
              <a:path w="5089406" h="2203289">
                <a:moveTo>
                  <a:pt x="0" y="0"/>
                </a:moveTo>
                <a:lnTo>
                  <a:pt x="5089407" y="0"/>
                </a:lnTo>
                <a:lnTo>
                  <a:pt x="5089407" y="2203288"/>
                </a:lnTo>
                <a:lnTo>
                  <a:pt x="0" y="2203288"/>
                </a:lnTo>
                <a:lnTo>
                  <a:pt x="0" y="0"/>
                </a:lnTo>
                <a:close/>
              </a:path>
            </a:pathLst>
          </a:custGeom>
          <a:blipFill>
            <a:blip r:embed="rId2"/>
            <a:stretch>
              <a:fillRect/>
            </a:stretch>
          </a:blipFill>
        </p:spPr>
      </p:sp>
      <p:sp>
        <p:nvSpPr>
          <p:cNvPr id="12" name="Freeform 12"/>
          <p:cNvSpPr/>
          <p:nvPr/>
        </p:nvSpPr>
        <p:spPr>
          <a:xfrm>
            <a:off x="719823" y="1366652"/>
            <a:ext cx="6830821" cy="8217529"/>
          </a:xfrm>
          <a:custGeom>
            <a:avLst/>
            <a:gdLst/>
            <a:ahLst/>
            <a:cxnLst/>
            <a:rect l="l" t="t" r="r" b="b"/>
            <a:pathLst>
              <a:path w="6830821" h="8217529">
                <a:moveTo>
                  <a:pt x="0" y="0"/>
                </a:moveTo>
                <a:lnTo>
                  <a:pt x="6830821" y="0"/>
                </a:lnTo>
                <a:lnTo>
                  <a:pt x="6830821" y="8217529"/>
                </a:lnTo>
                <a:lnTo>
                  <a:pt x="0" y="8217529"/>
                </a:lnTo>
                <a:lnTo>
                  <a:pt x="0" y="0"/>
                </a:lnTo>
                <a:close/>
              </a:path>
            </a:pathLst>
          </a:custGeom>
          <a:blipFill>
            <a:blip r:embed="rId3"/>
            <a:stretch>
              <a:fillRect/>
            </a:stretch>
          </a:blipFill>
        </p:spPr>
      </p:sp>
      <p:sp>
        <p:nvSpPr>
          <p:cNvPr id="13" name="TextBox 13"/>
          <p:cNvSpPr txBox="1"/>
          <p:nvPr/>
        </p:nvSpPr>
        <p:spPr>
          <a:xfrm>
            <a:off x="8561916" y="6746021"/>
            <a:ext cx="2967069" cy="332613"/>
          </a:xfrm>
          <a:prstGeom prst="rect">
            <a:avLst/>
          </a:prstGeom>
        </p:spPr>
        <p:txBody>
          <a:bodyPr lIns="0" tIns="0" rIns="0" bIns="0" rtlCol="0" anchor="t">
            <a:spAutoFit/>
          </a:bodyPr>
          <a:lstStyle/>
          <a:p>
            <a:pPr algn="ctr">
              <a:lnSpc>
                <a:spcPts val="2691"/>
              </a:lnSpc>
            </a:pPr>
            <a:r>
              <a:rPr lang="en-US" sz="2300" spc="236">
                <a:solidFill>
                  <a:srgbClr val="FFFFFF"/>
                </a:solidFill>
                <a:latin typeface="League Spartan"/>
                <a:ea typeface="League Spartan"/>
                <a:cs typeface="League Spartan"/>
                <a:sym typeface="League Spartan"/>
              </a:rPr>
              <a:t>SOUBI CHARAF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812709" y="7779031"/>
            <a:ext cx="2967069" cy="807119"/>
            <a:chOff x="0" y="0"/>
            <a:chExt cx="418225" cy="113768"/>
          </a:xfrm>
        </p:grpSpPr>
        <p:sp>
          <p:nvSpPr>
            <p:cNvPr id="3" name="Freeform 3"/>
            <p:cNvSpPr/>
            <p:nvPr/>
          </p:nvSpPr>
          <p:spPr>
            <a:xfrm>
              <a:off x="0" y="0"/>
              <a:ext cx="418225" cy="113768"/>
            </a:xfrm>
            <a:custGeom>
              <a:avLst/>
              <a:gdLst/>
              <a:ahLst/>
              <a:cxnLst/>
              <a:rect l="l" t="t" r="r" b="b"/>
              <a:pathLst>
                <a:path w="418225" h="113768">
                  <a:moveTo>
                    <a:pt x="0" y="0"/>
                  </a:moveTo>
                  <a:lnTo>
                    <a:pt x="418225" y="0"/>
                  </a:lnTo>
                  <a:lnTo>
                    <a:pt x="418225" y="113768"/>
                  </a:lnTo>
                  <a:lnTo>
                    <a:pt x="0" y="113768"/>
                  </a:lnTo>
                  <a:close/>
                </a:path>
              </a:pathLst>
            </a:custGeom>
            <a:gradFill rotWithShape="1">
              <a:gsLst>
                <a:gs pos="0">
                  <a:srgbClr val="396BA5">
                    <a:alpha val="85000"/>
                  </a:srgbClr>
                </a:gs>
                <a:gs pos="100000">
                  <a:srgbClr val="062C3F">
                    <a:alpha val="85000"/>
                  </a:srgbClr>
                </a:gs>
              </a:gsLst>
              <a:lin ang="0"/>
            </a:gradFill>
            <a:ln cap="sq">
              <a:noFill/>
              <a:prstDash val="solid"/>
              <a:miter/>
            </a:ln>
          </p:spPr>
        </p:sp>
        <p:sp>
          <p:nvSpPr>
            <p:cNvPr id="4" name="TextBox 4"/>
            <p:cNvSpPr txBox="1"/>
            <p:nvPr/>
          </p:nvSpPr>
          <p:spPr>
            <a:xfrm>
              <a:off x="0" y="-38100"/>
              <a:ext cx="418225" cy="15186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0" y="5616699"/>
            <a:ext cx="8874682" cy="4670301"/>
          </a:xfrm>
          <a:custGeom>
            <a:avLst/>
            <a:gdLst/>
            <a:ahLst/>
            <a:cxnLst/>
            <a:rect l="l" t="t" r="r" b="b"/>
            <a:pathLst>
              <a:path w="8874682" h="4670301">
                <a:moveTo>
                  <a:pt x="0" y="0"/>
                </a:moveTo>
                <a:lnTo>
                  <a:pt x="8874682" y="0"/>
                </a:lnTo>
                <a:lnTo>
                  <a:pt x="8874682" y="4670301"/>
                </a:lnTo>
                <a:lnTo>
                  <a:pt x="0" y="4670301"/>
                </a:lnTo>
                <a:lnTo>
                  <a:pt x="0" y="0"/>
                </a:lnTo>
                <a:close/>
              </a:path>
            </a:pathLst>
          </a:custGeom>
          <a:blipFill>
            <a:blip r:embed="rId2"/>
            <a:stretch>
              <a:fillRect/>
            </a:stretch>
          </a:blipFill>
        </p:spPr>
      </p:sp>
      <p:sp>
        <p:nvSpPr>
          <p:cNvPr id="6" name="TextBox 6"/>
          <p:cNvSpPr txBox="1"/>
          <p:nvPr/>
        </p:nvSpPr>
        <p:spPr>
          <a:xfrm>
            <a:off x="9812709" y="2024975"/>
            <a:ext cx="7629291" cy="1247639"/>
          </a:xfrm>
          <a:prstGeom prst="rect">
            <a:avLst/>
          </a:prstGeom>
        </p:spPr>
        <p:txBody>
          <a:bodyPr lIns="0" tIns="0" rIns="0" bIns="0" rtlCol="0" anchor="t">
            <a:spAutoFit/>
          </a:bodyPr>
          <a:lstStyle/>
          <a:p>
            <a:pPr algn="l">
              <a:lnSpc>
                <a:spcPts val="9429"/>
              </a:lnSpc>
            </a:pPr>
            <a:r>
              <a:rPr lang="en-US" sz="9066">
                <a:solidFill>
                  <a:srgbClr val="FFFFFF"/>
                </a:solidFill>
                <a:latin typeface="League Spartan"/>
                <a:ea typeface="League Spartan"/>
                <a:cs typeface="League Spartan"/>
                <a:sym typeface="League Spartan"/>
              </a:rPr>
              <a:t>Planification</a:t>
            </a:r>
          </a:p>
        </p:txBody>
      </p:sp>
      <p:sp>
        <p:nvSpPr>
          <p:cNvPr id="7" name="Freeform 7"/>
          <p:cNvSpPr/>
          <p:nvPr/>
        </p:nvSpPr>
        <p:spPr>
          <a:xfrm>
            <a:off x="15248455" y="265007"/>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3"/>
            <a:stretch>
              <a:fillRect/>
            </a:stretch>
          </a:blipFill>
        </p:spPr>
      </p:sp>
      <p:sp>
        <p:nvSpPr>
          <p:cNvPr id="8" name="Freeform 8"/>
          <p:cNvSpPr/>
          <p:nvPr/>
        </p:nvSpPr>
        <p:spPr>
          <a:xfrm>
            <a:off x="16068309" y="7055011"/>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3"/>
            <a:stretch>
              <a:fillRect/>
            </a:stretch>
          </a:blipFill>
        </p:spPr>
      </p:sp>
      <p:sp>
        <p:nvSpPr>
          <p:cNvPr id="9" name="Freeform 9"/>
          <p:cNvSpPr/>
          <p:nvPr/>
        </p:nvSpPr>
        <p:spPr>
          <a:xfrm>
            <a:off x="6836023" y="8819433"/>
            <a:ext cx="4077318" cy="1765139"/>
          </a:xfrm>
          <a:custGeom>
            <a:avLst/>
            <a:gdLst/>
            <a:ahLst/>
            <a:cxnLst/>
            <a:rect l="l" t="t" r="r" b="b"/>
            <a:pathLst>
              <a:path w="4077318" h="1765139">
                <a:moveTo>
                  <a:pt x="0" y="0"/>
                </a:moveTo>
                <a:lnTo>
                  <a:pt x="4077318" y="0"/>
                </a:lnTo>
                <a:lnTo>
                  <a:pt x="4077318" y="1765139"/>
                </a:lnTo>
                <a:lnTo>
                  <a:pt x="0" y="1765139"/>
                </a:lnTo>
                <a:lnTo>
                  <a:pt x="0" y="0"/>
                </a:lnTo>
                <a:close/>
              </a:path>
            </a:pathLst>
          </a:custGeom>
          <a:blipFill>
            <a:blip r:embed="rId3"/>
            <a:stretch>
              <a:fillRect/>
            </a:stretch>
          </a:blipFill>
        </p:spPr>
      </p:sp>
      <p:sp>
        <p:nvSpPr>
          <p:cNvPr id="10" name="Freeform 10"/>
          <p:cNvSpPr/>
          <p:nvPr/>
        </p:nvSpPr>
        <p:spPr>
          <a:xfrm>
            <a:off x="-2755502" y="1028700"/>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3"/>
            <a:stretch>
              <a:fillRect/>
            </a:stretch>
          </a:blipFill>
        </p:spPr>
      </p:sp>
      <p:sp>
        <p:nvSpPr>
          <p:cNvPr id="11" name="Freeform 11"/>
          <p:cNvSpPr/>
          <p:nvPr/>
        </p:nvSpPr>
        <p:spPr>
          <a:xfrm>
            <a:off x="557125" y="2343733"/>
            <a:ext cx="8317557" cy="7943267"/>
          </a:xfrm>
          <a:custGeom>
            <a:avLst/>
            <a:gdLst/>
            <a:ahLst/>
            <a:cxnLst/>
            <a:rect l="l" t="t" r="r" b="b"/>
            <a:pathLst>
              <a:path w="8317557" h="7943267">
                <a:moveTo>
                  <a:pt x="0" y="0"/>
                </a:moveTo>
                <a:lnTo>
                  <a:pt x="8317557" y="0"/>
                </a:lnTo>
                <a:lnTo>
                  <a:pt x="8317557" y="7943267"/>
                </a:lnTo>
                <a:lnTo>
                  <a:pt x="0" y="7943267"/>
                </a:lnTo>
                <a:lnTo>
                  <a:pt x="0" y="0"/>
                </a:lnTo>
                <a:close/>
              </a:path>
            </a:pathLst>
          </a:custGeom>
          <a:blipFill>
            <a:blip r:embed="rId4"/>
            <a:stretch>
              <a:fillRect/>
            </a:stretch>
          </a:blipFill>
        </p:spPr>
      </p:sp>
      <p:sp>
        <p:nvSpPr>
          <p:cNvPr id="12" name="TextBox 12"/>
          <p:cNvSpPr txBox="1"/>
          <p:nvPr/>
        </p:nvSpPr>
        <p:spPr>
          <a:xfrm>
            <a:off x="9812709" y="3449955"/>
            <a:ext cx="7446591" cy="3339465"/>
          </a:xfrm>
          <a:prstGeom prst="rect">
            <a:avLst/>
          </a:prstGeom>
        </p:spPr>
        <p:txBody>
          <a:bodyPr lIns="0" tIns="0" rIns="0" bIns="0" rtlCol="0" anchor="t">
            <a:spAutoFit/>
          </a:bodyPr>
          <a:lstStyle/>
          <a:p>
            <a:pPr algn="just">
              <a:lnSpc>
                <a:spcPts val="3359"/>
              </a:lnSpc>
            </a:pPr>
            <a:r>
              <a:rPr lang="en-US" sz="2400">
                <a:solidFill>
                  <a:srgbClr val="FFFFFF"/>
                </a:solidFill>
                <a:latin typeface="Questrial"/>
                <a:ea typeface="Questrial"/>
                <a:cs typeface="Questrial"/>
                <a:sym typeface="Questrial"/>
              </a:rPr>
              <a:t>Le projet a été organisé sur Trello en différentes listes correspondant aux phases principales : configuration de l’environnement, conception du modèle relationnel, création des tables, chargement des données, analyse avec requêtes SQL, préparation de la démonstration et documentation finale. Chaque phase contient des tâches claires permettant de suivre l’avancement et d’assurer la cohérence et la qualité du projet.</a:t>
            </a:r>
          </a:p>
        </p:txBody>
      </p:sp>
      <p:sp>
        <p:nvSpPr>
          <p:cNvPr id="13" name="TextBox 13"/>
          <p:cNvSpPr txBox="1"/>
          <p:nvPr/>
        </p:nvSpPr>
        <p:spPr>
          <a:xfrm>
            <a:off x="9812709" y="8021047"/>
            <a:ext cx="2967069" cy="332613"/>
          </a:xfrm>
          <a:prstGeom prst="rect">
            <a:avLst/>
          </a:prstGeom>
        </p:spPr>
        <p:txBody>
          <a:bodyPr lIns="0" tIns="0" rIns="0" bIns="0" rtlCol="0" anchor="t">
            <a:spAutoFit/>
          </a:bodyPr>
          <a:lstStyle/>
          <a:p>
            <a:pPr algn="ctr">
              <a:lnSpc>
                <a:spcPts val="2691"/>
              </a:lnSpc>
            </a:pPr>
            <a:r>
              <a:rPr lang="en-US" sz="2300" spc="236">
                <a:solidFill>
                  <a:srgbClr val="FFFFFF"/>
                </a:solidFill>
                <a:latin typeface="League Spartan"/>
                <a:ea typeface="League Spartan"/>
                <a:cs typeface="League Spartan"/>
                <a:sym typeface="League Spartan"/>
              </a:rPr>
              <a:t>TRELLO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3109582" y="1699387"/>
            <a:ext cx="4900975" cy="4873221"/>
            <a:chOff x="0" y="0"/>
            <a:chExt cx="759289" cy="754989"/>
          </a:xfrm>
        </p:grpSpPr>
        <p:sp>
          <p:nvSpPr>
            <p:cNvPr id="3" name="Freeform 3"/>
            <p:cNvSpPr/>
            <p:nvPr/>
          </p:nvSpPr>
          <p:spPr>
            <a:xfrm>
              <a:off x="0" y="0"/>
              <a:ext cx="759289" cy="754989"/>
            </a:xfrm>
            <a:custGeom>
              <a:avLst/>
              <a:gdLst/>
              <a:ahLst/>
              <a:cxnLst/>
              <a:rect l="l" t="t" r="r" b="b"/>
              <a:pathLst>
                <a:path w="759289" h="754989">
                  <a:moveTo>
                    <a:pt x="0" y="0"/>
                  </a:moveTo>
                  <a:lnTo>
                    <a:pt x="759289" y="0"/>
                  </a:lnTo>
                  <a:lnTo>
                    <a:pt x="759289" y="754989"/>
                  </a:lnTo>
                  <a:lnTo>
                    <a:pt x="0" y="754989"/>
                  </a:lnTo>
                  <a:close/>
                </a:path>
              </a:pathLst>
            </a:custGeom>
            <a:blipFill>
              <a:blip r:embed="rId2">
                <a:alphaModFix amt="90000"/>
              </a:blip>
              <a:stretch>
                <a:fillRect l="-9490" r="-79456"/>
              </a:stretch>
            </a:blipFill>
            <a:ln w="66675" cap="sq">
              <a:gradFill>
                <a:gsLst>
                  <a:gs pos="0">
                    <a:srgbClr val="396BA5">
                      <a:alpha val="90000"/>
                    </a:srgbClr>
                  </a:gs>
                  <a:gs pos="100000">
                    <a:srgbClr val="062C3F">
                      <a:alpha val="90000"/>
                    </a:srgbClr>
                  </a:gs>
                </a:gsLst>
                <a:lin ang="0"/>
              </a:gradFill>
              <a:prstDash val="solid"/>
              <a:miter/>
            </a:ln>
          </p:spPr>
        </p:sp>
      </p:grpSp>
      <p:grpSp>
        <p:nvGrpSpPr>
          <p:cNvPr id="4" name="Group 4"/>
          <p:cNvGrpSpPr/>
          <p:nvPr/>
        </p:nvGrpSpPr>
        <p:grpSpPr>
          <a:xfrm>
            <a:off x="8248304" y="1699387"/>
            <a:ext cx="4900975" cy="4873221"/>
            <a:chOff x="0" y="0"/>
            <a:chExt cx="759289" cy="754989"/>
          </a:xfrm>
        </p:grpSpPr>
        <p:sp>
          <p:nvSpPr>
            <p:cNvPr id="5" name="Freeform 5"/>
            <p:cNvSpPr/>
            <p:nvPr/>
          </p:nvSpPr>
          <p:spPr>
            <a:xfrm>
              <a:off x="0" y="0"/>
              <a:ext cx="759289" cy="754989"/>
            </a:xfrm>
            <a:custGeom>
              <a:avLst/>
              <a:gdLst/>
              <a:ahLst/>
              <a:cxnLst/>
              <a:rect l="l" t="t" r="r" b="b"/>
              <a:pathLst>
                <a:path w="759289" h="754989">
                  <a:moveTo>
                    <a:pt x="0" y="0"/>
                  </a:moveTo>
                  <a:lnTo>
                    <a:pt x="759289" y="0"/>
                  </a:lnTo>
                  <a:lnTo>
                    <a:pt x="759289" y="754989"/>
                  </a:lnTo>
                  <a:lnTo>
                    <a:pt x="0" y="754989"/>
                  </a:lnTo>
                  <a:close/>
                </a:path>
              </a:pathLst>
            </a:custGeom>
            <a:blipFill>
              <a:blip r:embed="rId3">
                <a:alphaModFix amt="90000"/>
              </a:blip>
              <a:stretch>
                <a:fillRect r="-239680"/>
              </a:stretch>
            </a:blipFill>
            <a:ln w="66675" cap="sq">
              <a:gradFill>
                <a:gsLst>
                  <a:gs pos="0">
                    <a:srgbClr val="396BA5">
                      <a:alpha val="90000"/>
                    </a:srgbClr>
                  </a:gs>
                  <a:gs pos="100000">
                    <a:srgbClr val="062C3F">
                      <a:alpha val="90000"/>
                    </a:srgbClr>
                  </a:gs>
                </a:gsLst>
                <a:lin ang="0"/>
              </a:gradFill>
              <a:prstDash val="solid"/>
              <a:miter/>
            </a:ln>
          </p:spPr>
        </p:sp>
      </p:grpSp>
      <p:grpSp>
        <p:nvGrpSpPr>
          <p:cNvPr id="6" name="Group 6"/>
          <p:cNvGrpSpPr/>
          <p:nvPr/>
        </p:nvGrpSpPr>
        <p:grpSpPr>
          <a:xfrm>
            <a:off x="13387025" y="1699387"/>
            <a:ext cx="4900975" cy="2436610"/>
            <a:chOff x="0" y="0"/>
            <a:chExt cx="759289" cy="377495"/>
          </a:xfrm>
        </p:grpSpPr>
        <p:sp>
          <p:nvSpPr>
            <p:cNvPr id="7" name="Freeform 7"/>
            <p:cNvSpPr/>
            <p:nvPr/>
          </p:nvSpPr>
          <p:spPr>
            <a:xfrm>
              <a:off x="0" y="0"/>
              <a:ext cx="759289" cy="377495"/>
            </a:xfrm>
            <a:custGeom>
              <a:avLst/>
              <a:gdLst/>
              <a:ahLst/>
              <a:cxnLst/>
              <a:rect l="l" t="t" r="r" b="b"/>
              <a:pathLst>
                <a:path w="759289" h="377495">
                  <a:moveTo>
                    <a:pt x="0" y="0"/>
                  </a:moveTo>
                  <a:lnTo>
                    <a:pt x="759289" y="0"/>
                  </a:lnTo>
                  <a:lnTo>
                    <a:pt x="759289" y="377495"/>
                  </a:lnTo>
                  <a:lnTo>
                    <a:pt x="0" y="377495"/>
                  </a:lnTo>
                  <a:close/>
                </a:path>
              </a:pathLst>
            </a:custGeom>
            <a:blipFill>
              <a:blip r:embed="rId4">
                <a:alphaModFix amt="90000"/>
              </a:blip>
              <a:stretch>
                <a:fillRect l="-13932" t="-168005" r="-65997" b="-53204"/>
              </a:stretch>
            </a:blipFill>
            <a:ln w="66675" cap="sq">
              <a:gradFill>
                <a:gsLst>
                  <a:gs pos="0">
                    <a:srgbClr val="396BA5">
                      <a:alpha val="90000"/>
                    </a:srgbClr>
                  </a:gs>
                  <a:gs pos="100000">
                    <a:srgbClr val="062C3F">
                      <a:alpha val="90000"/>
                    </a:srgbClr>
                  </a:gs>
                </a:gsLst>
                <a:lin ang="0"/>
              </a:gradFill>
              <a:prstDash val="solid"/>
              <a:miter/>
            </a:ln>
          </p:spPr>
        </p:sp>
      </p:grpSp>
      <p:sp>
        <p:nvSpPr>
          <p:cNvPr id="8" name="Freeform 8"/>
          <p:cNvSpPr/>
          <p:nvPr/>
        </p:nvSpPr>
        <p:spPr>
          <a:xfrm>
            <a:off x="-2217949" y="4628735"/>
            <a:ext cx="5089406" cy="2203289"/>
          </a:xfrm>
          <a:custGeom>
            <a:avLst/>
            <a:gdLst/>
            <a:ahLst/>
            <a:cxnLst/>
            <a:rect l="l" t="t" r="r" b="b"/>
            <a:pathLst>
              <a:path w="5089406" h="2203289">
                <a:moveTo>
                  <a:pt x="0" y="0"/>
                </a:moveTo>
                <a:lnTo>
                  <a:pt x="5089406" y="0"/>
                </a:lnTo>
                <a:lnTo>
                  <a:pt x="5089406" y="2203288"/>
                </a:lnTo>
                <a:lnTo>
                  <a:pt x="0" y="2203288"/>
                </a:lnTo>
                <a:lnTo>
                  <a:pt x="0" y="0"/>
                </a:lnTo>
                <a:close/>
              </a:path>
            </a:pathLst>
          </a:custGeom>
          <a:blipFill>
            <a:blip r:embed="rId5"/>
            <a:stretch>
              <a:fillRect/>
            </a:stretch>
          </a:blipFill>
        </p:spPr>
      </p:sp>
      <p:sp>
        <p:nvSpPr>
          <p:cNvPr id="9" name="Freeform 9"/>
          <p:cNvSpPr/>
          <p:nvPr/>
        </p:nvSpPr>
        <p:spPr>
          <a:xfrm>
            <a:off x="-3060613" y="597743"/>
            <a:ext cx="5089406" cy="2203289"/>
          </a:xfrm>
          <a:custGeom>
            <a:avLst/>
            <a:gdLst/>
            <a:ahLst/>
            <a:cxnLst/>
            <a:rect l="l" t="t" r="r" b="b"/>
            <a:pathLst>
              <a:path w="5089406" h="2203289">
                <a:moveTo>
                  <a:pt x="0" y="0"/>
                </a:moveTo>
                <a:lnTo>
                  <a:pt x="5089406" y="0"/>
                </a:lnTo>
                <a:lnTo>
                  <a:pt x="5089406" y="2203288"/>
                </a:lnTo>
                <a:lnTo>
                  <a:pt x="0" y="2203288"/>
                </a:lnTo>
                <a:lnTo>
                  <a:pt x="0" y="0"/>
                </a:lnTo>
                <a:close/>
              </a:path>
            </a:pathLst>
          </a:custGeom>
          <a:blipFill>
            <a:blip r:embed="rId5"/>
            <a:stretch>
              <a:fillRect/>
            </a:stretch>
          </a:blipFill>
        </p:spPr>
      </p:sp>
      <p:sp>
        <p:nvSpPr>
          <p:cNvPr id="10" name="Freeform 10"/>
          <p:cNvSpPr/>
          <p:nvPr/>
        </p:nvSpPr>
        <p:spPr>
          <a:xfrm>
            <a:off x="15575107" y="-319552"/>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5"/>
            <a:stretch>
              <a:fillRect/>
            </a:stretch>
          </a:blipFill>
        </p:spPr>
      </p:sp>
      <p:sp>
        <p:nvSpPr>
          <p:cNvPr id="11" name="Freeform 11"/>
          <p:cNvSpPr/>
          <p:nvPr/>
        </p:nvSpPr>
        <p:spPr>
          <a:xfrm>
            <a:off x="16772325" y="8254682"/>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5"/>
            <a:stretch>
              <a:fillRect/>
            </a:stretch>
          </a:blipFill>
        </p:spPr>
      </p:sp>
      <p:grpSp>
        <p:nvGrpSpPr>
          <p:cNvPr id="12" name="Group 12"/>
          <p:cNvGrpSpPr/>
          <p:nvPr/>
        </p:nvGrpSpPr>
        <p:grpSpPr>
          <a:xfrm>
            <a:off x="13387404" y="4135997"/>
            <a:ext cx="4900975" cy="2436610"/>
            <a:chOff x="0" y="0"/>
            <a:chExt cx="759289" cy="377495"/>
          </a:xfrm>
        </p:grpSpPr>
        <p:sp>
          <p:nvSpPr>
            <p:cNvPr id="13" name="Freeform 13"/>
            <p:cNvSpPr/>
            <p:nvPr/>
          </p:nvSpPr>
          <p:spPr>
            <a:xfrm>
              <a:off x="0" y="0"/>
              <a:ext cx="759289" cy="377495"/>
            </a:xfrm>
            <a:custGeom>
              <a:avLst/>
              <a:gdLst/>
              <a:ahLst/>
              <a:cxnLst/>
              <a:rect l="l" t="t" r="r" b="b"/>
              <a:pathLst>
                <a:path w="759289" h="377495">
                  <a:moveTo>
                    <a:pt x="0" y="0"/>
                  </a:moveTo>
                  <a:lnTo>
                    <a:pt x="759289" y="0"/>
                  </a:lnTo>
                  <a:lnTo>
                    <a:pt x="759289" y="377495"/>
                  </a:lnTo>
                  <a:lnTo>
                    <a:pt x="0" y="377495"/>
                  </a:lnTo>
                  <a:close/>
                </a:path>
              </a:pathLst>
            </a:custGeom>
            <a:blipFill>
              <a:blip r:embed="rId6">
                <a:alphaModFix amt="90000"/>
              </a:blip>
              <a:stretch>
                <a:fillRect t="-4905" b="-4905"/>
              </a:stretch>
            </a:blipFill>
            <a:ln w="66675" cap="sq">
              <a:gradFill>
                <a:gsLst>
                  <a:gs pos="0">
                    <a:srgbClr val="396BA5">
                      <a:alpha val="90000"/>
                    </a:srgbClr>
                  </a:gs>
                  <a:gs pos="100000">
                    <a:srgbClr val="062C3F">
                      <a:alpha val="90000"/>
                    </a:srgbClr>
                  </a:gs>
                </a:gsLst>
                <a:lin ang="0"/>
              </a:gradFill>
              <a:prstDash val="solid"/>
              <a:miter/>
            </a:ln>
          </p:spPr>
        </p:sp>
      </p:grpSp>
      <p:sp>
        <p:nvSpPr>
          <p:cNvPr id="14" name="TextBox 14"/>
          <p:cNvSpPr txBox="1"/>
          <p:nvPr/>
        </p:nvSpPr>
        <p:spPr>
          <a:xfrm>
            <a:off x="1028700" y="7621201"/>
            <a:ext cx="14333393" cy="2781439"/>
          </a:xfrm>
          <a:prstGeom prst="rect">
            <a:avLst/>
          </a:prstGeom>
        </p:spPr>
        <p:txBody>
          <a:bodyPr lIns="0" tIns="0" rIns="0" bIns="0" rtlCol="0" anchor="t">
            <a:spAutoFit/>
          </a:bodyPr>
          <a:lstStyle/>
          <a:p>
            <a:pPr algn="l">
              <a:lnSpc>
                <a:spcPts val="10732"/>
              </a:lnSpc>
            </a:pPr>
            <a:r>
              <a:rPr lang="en-US" sz="10319">
                <a:solidFill>
                  <a:srgbClr val="FFFFFF"/>
                </a:solidFill>
                <a:latin typeface="League Spartan"/>
                <a:ea typeface="League Spartan"/>
                <a:cs typeface="League Spartan"/>
                <a:sym typeface="League Spartan"/>
              </a:rPr>
              <a:t>Setup &amp; Connexion – Résumé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7709707" cy="3172965"/>
            <a:chOff x="0" y="0"/>
            <a:chExt cx="967214" cy="398062"/>
          </a:xfrm>
        </p:grpSpPr>
        <p:sp>
          <p:nvSpPr>
            <p:cNvPr id="3" name="Freeform 3"/>
            <p:cNvSpPr/>
            <p:nvPr/>
          </p:nvSpPr>
          <p:spPr>
            <a:xfrm>
              <a:off x="0" y="0"/>
              <a:ext cx="967214" cy="398062"/>
            </a:xfrm>
            <a:custGeom>
              <a:avLst/>
              <a:gdLst/>
              <a:ahLst/>
              <a:cxnLst/>
              <a:rect l="l" t="t" r="r" b="b"/>
              <a:pathLst>
                <a:path w="967214" h="398062">
                  <a:moveTo>
                    <a:pt x="0" y="0"/>
                  </a:moveTo>
                  <a:lnTo>
                    <a:pt x="967214" y="0"/>
                  </a:lnTo>
                  <a:lnTo>
                    <a:pt x="967214" y="398062"/>
                  </a:lnTo>
                  <a:lnTo>
                    <a:pt x="0" y="398062"/>
                  </a:lnTo>
                  <a:close/>
                </a:path>
              </a:pathLst>
            </a:custGeom>
            <a:gradFill rotWithShape="1">
              <a:gsLst>
                <a:gs pos="0">
                  <a:srgbClr val="396BA5">
                    <a:alpha val="85000"/>
                  </a:srgbClr>
                </a:gs>
                <a:gs pos="100000">
                  <a:srgbClr val="062C3F">
                    <a:alpha val="85000"/>
                  </a:srgbClr>
                </a:gs>
              </a:gsLst>
              <a:lin ang="0"/>
            </a:gradFill>
            <a:ln cap="sq">
              <a:noFill/>
              <a:prstDash val="solid"/>
              <a:miter/>
            </a:ln>
          </p:spPr>
        </p:sp>
        <p:sp>
          <p:nvSpPr>
            <p:cNvPr id="4" name="TextBox 4"/>
            <p:cNvSpPr txBox="1"/>
            <p:nvPr/>
          </p:nvSpPr>
          <p:spPr>
            <a:xfrm>
              <a:off x="0" y="-38100"/>
              <a:ext cx="967214" cy="436162"/>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515587" y="1713002"/>
            <a:ext cx="6901015" cy="2174456"/>
          </a:xfrm>
          <a:prstGeom prst="rect">
            <a:avLst/>
          </a:prstGeom>
        </p:spPr>
        <p:txBody>
          <a:bodyPr lIns="0" tIns="0" rIns="0" bIns="0" rtlCol="0" anchor="t">
            <a:spAutoFit/>
          </a:bodyPr>
          <a:lstStyle/>
          <a:p>
            <a:pPr algn="just">
              <a:lnSpc>
                <a:spcPts val="2516"/>
              </a:lnSpc>
            </a:pPr>
            <a:r>
              <a:rPr lang="en-US" sz="1797">
                <a:solidFill>
                  <a:srgbClr val="FFFFFF"/>
                </a:solidFill>
                <a:latin typeface="Questrial"/>
                <a:ea typeface="Questrial"/>
                <a:cs typeface="Questrial"/>
                <a:sym typeface="Questrial"/>
              </a:rPr>
              <a:t>Installer PostgreSQL sur l’ordinateur local.</a:t>
            </a:r>
          </a:p>
          <a:p>
            <a:pPr algn="just">
              <a:lnSpc>
                <a:spcPts val="2516"/>
              </a:lnSpc>
            </a:pPr>
            <a:r>
              <a:rPr lang="en-US" sz="1797">
                <a:solidFill>
                  <a:srgbClr val="FFFFFF"/>
                </a:solidFill>
                <a:latin typeface="Questrial"/>
                <a:ea typeface="Questrial"/>
                <a:cs typeface="Questrial"/>
                <a:sym typeface="Questrial"/>
              </a:rPr>
              <a:t>Installer Python packages nécessaires :</a:t>
            </a:r>
          </a:p>
          <a:p>
            <a:pPr marL="388123" lvl="1" indent="-194061" algn="just">
              <a:lnSpc>
                <a:spcPts val="2516"/>
              </a:lnSpc>
              <a:buFont typeface="Arial"/>
              <a:buChar char="•"/>
            </a:pPr>
            <a:r>
              <a:rPr lang="en-US" sz="1797">
                <a:solidFill>
                  <a:srgbClr val="FFFFFF"/>
                </a:solidFill>
                <a:latin typeface="Questrial"/>
                <a:ea typeface="Questrial"/>
                <a:cs typeface="Questrial"/>
                <a:sym typeface="Questrial"/>
              </a:rPr>
              <a:t>SQLAlchemy pour ORM</a:t>
            </a:r>
          </a:p>
          <a:p>
            <a:pPr marL="388123" lvl="1" indent="-194061" algn="just">
              <a:lnSpc>
                <a:spcPts val="2516"/>
              </a:lnSpc>
              <a:buFont typeface="Arial"/>
              <a:buChar char="•"/>
            </a:pPr>
            <a:r>
              <a:rPr lang="en-US" sz="1797">
                <a:solidFill>
                  <a:srgbClr val="FFFFFF"/>
                </a:solidFill>
                <a:latin typeface="Questrial"/>
                <a:ea typeface="Questrial"/>
                <a:cs typeface="Questrial"/>
                <a:sym typeface="Questrial"/>
              </a:rPr>
              <a:t>psycopg2-binary pour connecter Python à PostgreSQL</a:t>
            </a:r>
          </a:p>
          <a:p>
            <a:pPr algn="just">
              <a:lnSpc>
                <a:spcPts val="2516"/>
              </a:lnSpc>
            </a:pPr>
            <a:r>
              <a:rPr lang="en-US" sz="1797">
                <a:solidFill>
                  <a:srgbClr val="FFFFFF"/>
                </a:solidFill>
                <a:latin typeface="Questrial"/>
                <a:ea typeface="Questrial"/>
                <a:cs typeface="Questrial"/>
                <a:sym typeface="Questrial"/>
              </a:rPr>
              <a:t>Tester la connexion locale : vérifier que PostgreSQL fonctionne et que la base est accessible via psql ou pgAdmin.</a:t>
            </a:r>
          </a:p>
          <a:p>
            <a:pPr algn="just">
              <a:lnSpc>
                <a:spcPts val="2516"/>
              </a:lnSpc>
            </a:pPr>
            <a:endParaRPr lang="en-US" sz="1797">
              <a:solidFill>
                <a:srgbClr val="FFFFFF"/>
              </a:solidFill>
              <a:latin typeface="Questrial"/>
              <a:ea typeface="Questrial"/>
              <a:cs typeface="Questrial"/>
              <a:sym typeface="Questrial"/>
            </a:endParaRPr>
          </a:p>
        </p:txBody>
      </p:sp>
      <p:sp>
        <p:nvSpPr>
          <p:cNvPr id="6" name="TextBox 6"/>
          <p:cNvSpPr txBox="1"/>
          <p:nvPr/>
        </p:nvSpPr>
        <p:spPr>
          <a:xfrm>
            <a:off x="1515587" y="1352433"/>
            <a:ext cx="6688435" cy="374888"/>
          </a:xfrm>
          <a:prstGeom prst="rect">
            <a:avLst/>
          </a:prstGeom>
        </p:spPr>
        <p:txBody>
          <a:bodyPr lIns="0" tIns="0" rIns="0" bIns="0" rtlCol="0" anchor="t">
            <a:spAutoFit/>
          </a:bodyPr>
          <a:lstStyle/>
          <a:p>
            <a:pPr algn="l">
              <a:lnSpc>
                <a:spcPts val="3023"/>
              </a:lnSpc>
            </a:pPr>
            <a:r>
              <a:rPr lang="en-US" sz="2584" spc="266">
                <a:solidFill>
                  <a:srgbClr val="FFFFFF"/>
                </a:solidFill>
                <a:latin typeface="League Spartan"/>
                <a:ea typeface="League Spartan"/>
                <a:cs typeface="League Spartan"/>
                <a:sym typeface="League Spartan"/>
              </a:rPr>
              <a:t>INSTALLATION &amp; PRÉPARATION</a:t>
            </a:r>
          </a:p>
        </p:txBody>
      </p:sp>
      <p:sp>
        <p:nvSpPr>
          <p:cNvPr id="7" name="Freeform 7"/>
          <p:cNvSpPr/>
          <p:nvPr/>
        </p:nvSpPr>
        <p:spPr>
          <a:xfrm>
            <a:off x="7778614" y="6367020"/>
            <a:ext cx="12375131" cy="6512413"/>
          </a:xfrm>
          <a:custGeom>
            <a:avLst/>
            <a:gdLst/>
            <a:ahLst/>
            <a:cxnLst/>
            <a:rect l="l" t="t" r="r" b="b"/>
            <a:pathLst>
              <a:path w="12375131" h="6512413">
                <a:moveTo>
                  <a:pt x="0" y="0"/>
                </a:moveTo>
                <a:lnTo>
                  <a:pt x="12375132" y="0"/>
                </a:lnTo>
                <a:lnTo>
                  <a:pt x="12375132" y="6512413"/>
                </a:lnTo>
                <a:lnTo>
                  <a:pt x="0" y="6512413"/>
                </a:lnTo>
                <a:lnTo>
                  <a:pt x="0" y="0"/>
                </a:lnTo>
                <a:close/>
              </a:path>
            </a:pathLst>
          </a:custGeom>
          <a:blipFill>
            <a:blip r:embed="rId2"/>
            <a:stretch>
              <a:fillRect/>
            </a:stretch>
          </a:blipFill>
        </p:spPr>
      </p:sp>
      <p:sp>
        <p:nvSpPr>
          <p:cNvPr id="8" name="Freeform 8"/>
          <p:cNvSpPr/>
          <p:nvPr/>
        </p:nvSpPr>
        <p:spPr>
          <a:xfrm>
            <a:off x="5233911" y="7779031"/>
            <a:ext cx="5089406" cy="2203289"/>
          </a:xfrm>
          <a:custGeom>
            <a:avLst/>
            <a:gdLst/>
            <a:ahLst/>
            <a:cxnLst/>
            <a:rect l="l" t="t" r="r" b="b"/>
            <a:pathLst>
              <a:path w="5089406" h="2203289">
                <a:moveTo>
                  <a:pt x="0" y="0"/>
                </a:moveTo>
                <a:lnTo>
                  <a:pt x="5089407" y="0"/>
                </a:lnTo>
                <a:lnTo>
                  <a:pt x="5089407" y="2203289"/>
                </a:lnTo>
                <a:lnTo>
                  <a:pt x="0" y="2203289"/>
                </a:lnTo>
                <a:lnTo>
                  <a:pt x="0" y="0"/>
                </a:lnTo>
                <a:close/>
              </a:path>
            </a:pathLst>
          </a:custGeom>
          <a:blipFill>
            <a:blip r:embed="rId3"/>
            <a:stretch>
              <a:fillRect/>
            </a:stretch>
          </a:blipFill>
        </p:spPr>
      </p:sp>
      <p:sp>
        <p:nvSpPr>
          <p:cNvPr id="9" name="Freeform 9"/>
          <p:cNvSpPr/>
          <p:nvPr/>
        </p:nvSpPr>
        <p:spPr>
          <a:xfrm>
            <a:off x="-3573819" y="515645"/>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3"/>
            <a:stretch>
              <a:fillRect/>
            </a:stretch>
          </a:blipFill>
        </p:spPr>
      </p:sp>
      <p:sp>
        <p:nvSpPr>
          <p:cNvPr id="10" name="Freeform 10"/>
          <p:cNvSpPr/>
          <p:nvPr/>
        </p:nvSpPr>
        <p:spPr>
          <a:xfrm>
            <a:off x="16454991" y="-72944"/>
            <a:ext cx="5089406" cy="2203289"/>
          </a:xfrm>
          <a:custGeom>
            <a:avLst/>
            <a:gdLst/>
            <a:ahLst/>
            <a:cxnLst/>
            <a:rect l="l" t="t" r="r" b="b"/>
            <a:pathLst>
              <a:path w="5089406" h="2203289">
                <a:moveTo>
                  <a:pt x="0" y="0"/>
                </a:moveTo>
                <a:lnTo>
                  <a:pt x="5089407" y="0"/>
                </a:lnTo>
                <a:lnTo>
                  <a:pt x="5089407" y="2203288"/>
                </a:lnTo>
                <a:lnTo>
                  <a:pt x="0" y="2203288"/>
                </a:lnTo>
                <a:lnTo>
                  <a:pt x="0" y="0"/>
                </a:lnTo>
                <a:close/>
              </a:path>
            </a:pathLst>
          </a:custGeom>
          <a:blipFill>
            <a:blip r:embed="rId3"/>
            <a:stretch>
              <a:fillRect/>
            </a:stretch>
          </a:blipFill>
        </p:spPr>
      </p:sp>
      <p:sp>
        <p:nvSpPr>
          <p:cNvPr id="11" name="Freeform 11"/>
          <p:cNvSpPr/>
          <p:nvPr/>
        </p:nvSpPr>
        <p:spPr>
          <a:xfrm>
            <a:off x="17078317" y="7252015"/>
            <a:ext cx="5089406" cy="2203289"/>
          </a:xfrm>
          <a:custGeom>
            <a:avLst/>
            <a:gdLst/>
            <a:ahLst/>
            <a:cxnLst/>
            <a:rect l="l" t="t" r="r" b="b"/>
            <a:pathLst>
              <a:path w="5089406" h="2203289">
                <a:moveTo>
                  <a:pt x="0" y="0"/>
                </a:moveTo>
                <a:lnTo>
                  <a:pt x="5089407" y="0"/>
                </a:lnTo>
                <a:lnTo>
                  <a:pt x="5089407" y="2203289"/>
                </a:lnTo>
                <a:lnTo>
                  <a:pt x="0" y="2203289"/>
                </a:lnTo>
                <a:lnTo>
                  <a:pt x="0" y="0"/>
                </a:lnTo>
                <a:close/>
              </a:path>
            </a:pathLst>
          </a:custGeom>
          <a:blipFill>
            <a:blip r:embed="rId3"/>
            <a:stretch>
              <a:fillRect/>
            </a:stretch>
          </a:blipFill>
        </p:spPr>
      </p:sp>
      <p:sp>
        <p:nvSpPr>
          <p:cNvPr id="12" name="Freeform 12"/>
          <p:cNvSpPr/>
          <p:nvPr/>
        </p:nvSpPr>
        <p:spPr>
          <a:xfrm>
            <a:off x="-3765140" y="8182591"/>
            <a:ext cx="5089406" cy="2203289"/>
          </a:xfrm>
          <a:custGeom>
            <a:avLst/>
            <a:gdLst/>
            <a:ahLst/>
            <a:cxnLst/>
            <a:rect l="l" t="t" r="r" b="b"/>
            <a:pathLst>
              <a:path w="5089406" h="2203289">
                <a:moveTo>
                  <a:pt x="0" y="0"/>
                </a:moveTo>
                <a:lnTo>
                  <a:pt x="5089406" y="0"/>
                </a:lnTo>
                <a:lnTo>
                  <a:pt x="5089406" y="2203288"/>
                </a:lnTo>
                <a:lnTo>
                  <a:pt x="0" y="2203288"/>
                </a:lnTo>
                <a:lnTo>
                  <a:pt x="0" y="0"/>
                </a:lnTo>
                <a:close/>
              </a:path>
            </a:pathLst>
          </a:custGeom>
          <a:blipFill>
            <a:blip r:embed="rId3"/>
            <a:stretch>
              <a:fillRect/>
            </a:stretch>
          </a:blipFill>
        </p:spPr>
      </p:sp>
      <p:grpSp>
        <p:nvGrpSpPr>
          <p:cNvPr id="13" name="Group 13"/>
          <p:cNvGrpSpPr/>
          <p:nvPr/>
        </p:nvGrpSpPr>
        <p:grpSpPr>
          <a:xfrm>
            <a:off x="9368610" y="3368205"/>
            <a:ext cx="7709707" cy="3172965"/>
            <a:chOff x="0" y="0"/>
            <a:chExt cx="967214" cy="398062"/>
          </a:xfrm>
        </p:grpSpPr>
        <p:sp>
          <p:nvSpPr>
            <p:cNvPr id="14" name="Freeform 14"/>
            <p:cNvSpPr/>
            <p:nvPr/>
          </p:nvSpPr>
          <p:spPr>
            <a:xfrm>
              <a:off x="0" y="0"/>
              <a:ext cx="967214" cy="398062"/>
            </a:xfrm>
            <a:custGeom>
              <a:avLst/>
              <a:gdLst/>
              <a:ahLst/>
              <a:cxnLst/>
              <a:rect l="l" t="t" r="r" b="b"/>
              <a:pathLst>
                <a:path w="967214" h="398062">
                  <a:moveTo>
                    <a:pt x="0" y="0"/>
                  </a:moveTo>
                  <a:lnTo>
                    <a:pt x="967214" y="0"/>
                  </a:lnTo>
                  <a:lnTo>
                    <a:pt x="967214" y="398062"/>
                  </a:lnTo>
                  <a:lnTo>
                    <a:pt x="0" y="398062"/>
                  </a:lnTo>
                  <a:close/>
                </a:path>
              </a:pathLst>
            </a:custGeom>
            <a:gradFill rotWithShape="1">
              <a:gsLst>
                <a:gs pos="0">
                  <a:srgbClr val="396BA5">
                    <a:alpha val="85000"/>
                  </a:srgbClr>
                </a:gs>
                <a:gs pos="100000">
                  <a:srgbClr val="062C3F">
                    <a:alpha val="85000"/>
                  </a:srgbClr>
                </a:gs>
              </a:gsLst>
              <a:lin ang="0"/>
            </a:gradFill>
            <a:ln cap="sq">
              <a:noFill/>
              <a:prstDash val="solid"/>
              <a:miter/>
            </a:ln>
          </p:spPr>
        </p:sp>
        <p:sp>
          <p:nvSpPr>
            <p:cNvPr id="15" name="TextBox 15"/>
            <p:cNvSpPr txBox="1"/>
            <p:nvPr/>
          </p:nvSpPr>
          <p:spPr>
            <a:xfrm>
              <a:off x="0" y="-38100"/>
              <a:ext cx="967214" cy="43616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9855497" y="4052507"/>
            <a:ext cx="6901015" cy="2174456"/>
          </a:xfrm>
          <a:prstGeom prst="rect">
            <a:avLst/>
          </a:prstGeom>
        </p:spPr>
        <p:txBody>
          <a:bodyPr lIns="0" tIns="0" rIns="0" bIns="0" rtlCol="0" anchor="t">
            <a:spAutoFit/>
          </a:bodyPr>
          <a:lstStyle/>
          <a:p>
            <a:pPr algn="just">
              <a:lnSpc>
                <a:spcPts val="2516"/>
              </a:lnSpc>
            </a:pPr>
            <a:r>
              <a:rPr lang="en-US" sz="1797">
                <a:solidFill>
                  <a:srgbClr val="FFFFFF"/>
                </a:solidFill>
                <a:latin typeface="Questrial"/>
                <a:ea typeface="Questrial"/>
                <a:cs typeface="Questrial"/>
                <a:sym typeface="Questrial"/>
              </a:rPr>
              <a:t>Créer la base superstore_db.</a:t>
            </a:r>
          </a:p>
          <a:p>
            <a:pPr algn="just">
              <a:lnSpc>
                <a:spcPts val="2516"/>
              </a:lnSpc>
            </a:pPr>
            <a:r>
              <a:rPr lang="en-US" sz="1797">
                <a:solidFill>
                  <a:srgbClr val="FFFFFF"/>
                </a:solidFill>
                <a:latin typeface="Questrial"/>
                <a:ea typeface="Questrial"/>
                <a:cs typeface="Questrial"/>
                <a:sym typeface="Questrial"/>
              </a:rPr>
              <a:t>Vérifier l’accès via :</a:t>
            </a:r>
          </a:p>
          <a:p>
            <a:pPr marL="388123" lvl="1" indent="-194061" algn="just">
              <a:lnSpc>
                <a:spcPts val="2516"/>
              </a:lnSpc>
              <a:buFont typeface="Arial"/>
              <a:buChar char="•"/>
            </a:pPr>
            <a:r>
              <a:rPr lang="en-US" sz="1797">
                <a:solidFill>
                  <a:srgbClr val="FFFFFF"/>
                </a:solidFill>
                <a:latin typeface="Questrial"/>
                <a:ea typeface="Questrial"/>
                <a:cs typeface="Questrial"/>
                <a:sym typeface="Questrial"/>
              </a:rPr>
              <a:t>pgAdmin (interface graphique)</a:t>
            </a:r>
          </a:p>
          <a:p>
            <a:pPr marL="388123" lvl="1" indent="-194061" algn="just">
              <a:lnSpc>
                <a:spcPts val="2516"/>
              </a:lnSpc>
              <a:buFont typeface="Arial"/>
              <a:buChar char="•"/>
            </a:pPr>
            <a:r>
              <a:rPr lang="en-US" sz="1797">
                <a:solidFill>
                  <a:srgbClr val="FFFFFF"/>
                </a:solidFill>
                <a:latin typeface="Questrial"/>
                <a:ea typeface="Questrial"/>
                <a:cs typeface="Questrial"/>
                <a:sym typeface="Questrial"/>
              </a:rPr>
              <a:t>psql (terminal / console)</a:t>
            </a:r>
          </a:p>
          <a:p>
            <a:pPr algn="just">
              <a:lnSpc>
                <a:spcPts val="2516"/>
              </a:lnSpc>
            </a:pPr>
            <a:r>
              <a:rPr lang="en-US" sz="1797">
                <a:solidFill>
                  <a:srgbClr val="FFFFFF"/>
                </a:solidFill>
                <a:latin typeface="Questrial"/>
                <a:ea typeface="Questrial"/>
                <a:cs typeface="Questrial"/>
                <a:sym typeface="Questrial"/>
              </a:rPr>
              <a:t>Objectif : confirmer que l’utilisateur PostgreSQL et la base sont correctement configurés pour Python.</a:t>
            </a:r>
          </a:p>
          <a:p>
            <a:pPr algn="just">
              <a:lnSpc>
                <a:spcPts val="2516"/>
              </a:lnSpc>
            </a:pPr>
            <a:endParaRPr lang="en-US" sz="1797">
              <a:solidFill>
                <a:srgbClr val="FFFFFF"/>
              </a:solidFill>
              <a:latin typeface="Questrial"/>
              <a:ea typeface="Questrial"/>
              <a:cs typeface="Questrial"/>
              <a:sym typeface="Questrial"/>
            </a:endParaRPr>
          </a:p>
        </p:txBody>
      </p:sp>
      <p:sp>
        <p:nvSpPr>
          <p:cNvPr id="17" name="TextBox 17"/>
          <p:cNvSpPr txBox="1"/>
          <p:nvPr/>
        </p:nvSpPr>
        <p:spPr>
          <a:xfrm>
            <a:off x="9855497" y="3691938"/>
            <a:ext cx="7222820" cy="374888"/>
          </a:xfrm>
          <a:prstGeom prst="rect">
            <a:avLst/>
          </a:prstGeom>
        </p:spPr>
        <p:txBody>
          <a:bodyPr lIns="0" tIns="0" rIns="0" bIns="0" rtlCol="0" anchor="t">
            <a:spAutoFit/>
          </a:bodyPr>
          <a:lstStyle/>
          <a:p>
            <a:pPr algn="l">
              <a:lnSpc>
                <a:spcPts val="3023"/>
              </a:lnSpc>
            </a:pPr>
            <a:r>
              <a:rPr lang="en-US" sz="2584" spc="266">
                <a:solidFill>
                  <a:srgbClr val="FFFFFF"/>
                </a:solidFill>
                <a:latin typeface="League Spartan"/>
                <a:ea typeface="League Spartan"/>
                <a:cs typeface="League Spartan"/>
                <a:sym typeface="League Spartan"/>
              </a:rPr>
              <a:t>CRÉATION DE LA BASE DE DONNÉES</a:t>
            </a:r>
          </a:p>
        </p:txBody>
      </p:sp>
      <p:grpSp>
        <p:nvGrpSpPr>
          <p:cNvPr id="18" name="Group 18"/>
          <p:cNvGrpSpPr/>
          <p:nvPr/>
        </p:nvGrpSpPr>
        <p:grpSpPr>
          <a:xfrm>
            <a:off x="1028700" y="5143500"/>
            <a:ext cx="7709707" cy="3479470"/>
            <a:chOff x="0" y="0"/>
            <a:chExt cx="967214" cy="436514"/>
          </a:xfrm>
        </p:grpSpPr>
        <p:sp>
          <p:nvSpPr>
            <p:cNvPr id="19" name="Freeform 19"/>
            <p:cNvSpPr/>
            <p:nvPr/>
          </p:nvSpPr>
          <p:spPr>
            <a:xfrm>
              <a:off x="0" y="0"/>
              <a:ext cx="967214" cy="436514"/>
            </a:xfrm>
            <a:custGeom>
              <a:avLst/>
              <a:gdLst/>
              <a:ahLst/>
              <a:cxnLst/>
              <a:rect l="l" t="t" r="r" b="b"/>
              <a:pathLst>
                <a:path w="967214" h="436514">
                  <a:moveTo>
                    <a:pt x="0" y="0"/>
                  </a:moveTo>
                  <a:lnTo>
                    <a:pt x="967214" y="0"/>
                  </a:lnTo>
                  <a:lnTo>
                    <a:pt x="967214" y="436514"/>
                  </a:lnTo>
                  <a:lnTo>
                    <a:pt x="0" y="436514"/>
                  </a:lnTo>
                  <a:close/>
                </a:path>
              </a:pathLst>
            </a:custGeom>
            <a:gradFill rotWithShape="1">
              <a:gsLst>
                <a:gs pos="0">
                  <a:srgbClr val="396BA5">
                    <a:alpha val="85000"/>
                  </a:srgbClr>
                </a:gs>
                <a:gs pos="100000">
                  <a:srgbClr val="062C3F">
                    <a:alpha val="85000"/>
                  </a:srgbClr>
                </a:gs>
              </a:gsLst>
              <a:lin ang="0"/>
            </a:gradFill>
            <a:ln cap="sq">
              <a:noFill/>
              <a:prstDash val="solid"/>
              <a:miter/>
            </a:ln>
          </p:spPr>
        </p:sp>
        <p:sp>
          <p:nvSpPr>
            <p:cNvPr id="20" name="TextBox 20"/>
            <p:cNvSpPr txBox="1"/>
            <p:nvPr/>
          </p:nvSpPr>
          <p:spPr>
            <a:xfrm>
              <a:off x="0" y="-38100"/>
              <a:ext cx="967214" cy="474614"/>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1515587" y="5827802"/>
            <a:ext cx="6901015" cy="2795168"/>
          </a:xfrm>
          <a:prstGeom prst="rect">
            <a:avLst/>
          </a:prstGeom>
        </p:spPr>
        <p:txBody>
          <a:bodyPr lIns="0" tIns="0" rIns="0" bIns="0" rtlCol="0" anchor="t">
            <a:spAutoFit/>
          </a:bodyPr>
          <a:lstStyle/>
          <a:p>
            <a:pPr algn="just">
              <a:lnSpc>
                <a:spcPts val="2516"/>
              </a:lnSpc>
            </a:pPr>
            <a:r>
              <a:rPr lang="en-US" sz="1797">
                <a:solidFill>
                  <a:srgbClr val="FFFFFF"/>
                </a:solidFill>
                <a:latin typeface="Questrial"/>
                <a:ea typeface="Questrial"/>
                <a:cs typeface="Questrial"/>
                <a:sym typeface="Questrial"/>
              </a:rPr>
              <a:t>Configurer l’engine SQLAlchemy :</a:t>
            </a:r>
          </a:p>
          <a:p>
            <a:pPr marL="388123" lvl="1" indent="-194061" algn="just">
              <a:lnSpc>
                <a:spcPts val="2516"/>
              </a:lnSpc>
              <a:buFont typeface="Arial"/>
              <a:buChar char="•"/>
            </a:pPr>
            <a:r>
              <a:rPr lang="en-US" sz="1797">
                <a:solidFill>
                  <a:srgbClr val="FFFFFF"/>
                </a:solidFill>
                <a:latin typeface="Questrial"/>
                <a:ea typeface="Questrial"/>
                <a:cs typeface="Questrial"/>
                <a:sym typeface="Questrial"/>
              </a:rPr>
              <a:t>Créer un engine avec create_engine et les paramètres PostgreSQL (host, port, user, password, database).</a:t>
            </a:r>
          </a:p>
          <a:p>
            <a:pPr algn="just">
              <a:lnSpc>
                <a:spcPts val="2516"/>
              </a:lnSpc>
            </a:pPr>
            <a:r>
              <a:rPr lang="en-US" sz="1797">
                <a:solidFill>
                  <a:srgbClr val="FFFFFF"/>
                </a:solidFill>
                <a:latin typeface="Questrial"/>
                <a:ea typeface="Questrial"/>
                <a:cs typeface="Questrial"/>
                <a:sym typeface="Questrial"/>
              </a:rPr>
              <a:t>Créer la table clients via SQLAlchemy si elle n’existe pas.</a:t>
            </a:r>
          </a:p>
          <a:p>
            <a:pPr algn="just">
              <a:lnSpc>
                <a:spcPts val="2516"/>
              </a:lnSpc>
            </a:pPr>
            <a:r>
              <a:rPr lang="en-US" sz="1797">
                <a:solidFill>
                  <a:srgbClr val="FFFFFF"/>
                </a:solidFill>
                <a:latin typeface="Questrial"/>
                <a:ea typeface="Questrial"/>
                <a:cs typeface="Questrial"/>
                <a:sym typeface="Questrial"/>
              </a:rPr>
              <a:t>Tester insertion simple : insérer un row (name="Ahmed") et vérifier que l’insertion fonctionne.</a:t>
            </a:r>
          </a:p>
          <a:p>
            <a:pPr algn="just">
              <a:lnSpc>
                <a:spcPts val="2516"/>
              </a:lnSpc>
            </a:pPr>
            <a:r>
              <a:rPr lang="en-US" sz="1797">
                <a:solidFill>
                  <a:srgbClr val="FFFFFF"/>
                </a:solidFill>
                <a:latin typeface="Questrial"/>
                <a:ea typeface="Questrial"/>
                <a:cs typeface="Questrial"/>
                <a:sym typeface="Questrial"/>
              </a:rPr>
              <a:t>Vérification des données : sélectionner et afficher les rows pour confirmer le bon fonctionnement.</a:t>
            </a:r>
          </a:p>
          <a:p>
            <a:pPr algn="just">
              <a:lnSpc>
                <a:spcPts val="2516"/>
              </a:lnSpc>
            </a:pPr>
            <a:endParaRPr lang="en-US" sz="1797">
              <a:solidFill>
                <a:srgbClr val="FFFFFF"/>
              </a:solidFill>
              <a:latin typeface="Questrial"/>
              <a:ea typeface="Questrial"/>
              <a:cs typeface="Questrial"/>
              <a:sym typeface="Questrial"/>
            </a:endParaRPr>
          </a:p>
        </p:txBody>
      </p:sp>
      <p:sp>
        <p:nvSpPr>
          <p:cNvPr id="22" name="TextBox 22"/>
          <p:cNvSpPr txBox="1"/>
          <p:nvPr/>
        </p:nvSpPr>
        <p:spPr>
          <a:xfrm>
            <a:off x="1515587" y="5467233"/>
            <a:ext cx="6901015" cy="374888"/>
          </a:xfrm>
          <a:prstGeom prst="rect">
            <a:avLst/>
          </a:prstGeom>
        </p:spPr>
        <p:txBody>
          <a:bodyPr lIns="0" tIns="0" rIns="0" bIns="0" rtlCol="0" anchor="t">
            <a:spAutoFit/>
          </a:bodyPr>
          <a:lstStyle/>
          <a:p>
            <a:pPr algn="l">
              <a:lnSpc>
                <a:spcPts val="3023"/>
              </a:lnSpc>
            </a:pPr>
            <a:r>
              <a:rPr lang="en-US" sz="2584" spc="266">
                <a:solidFill>
                  <a:srgbClr val="FFFFFF"/>
                </a:solidFill>
                <a:latin typeface="League Spartan"/>
                <a:ea typeface="League Spartan"/>
                <a:cs typeface="League Spartan"/>
                <a:sym typeface="League Spartan"/>
              </a:rPr>
              <a:t>CONNEXION PYTHON &amp; TEST SQL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376882" y="7832930"/>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3" name="Freeform 3"/>
          <p:cNvSpPr/>
          <p:nvPr/>
        </p:nvSpPr>
        <p:spPr>
          <a:xfrm>
            <a:off x="-2910341" y="80706"/>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4" name="Freeform 4"/>
          <p:cNvSpPr/>
          <p:nvPr/>
        </p:nvSpPr>
        <p:spPr>
          <a:xfrm>
            <a:off x="-3756669" y="6085378"/>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5" name="Freeform 5"/>
          <p:cNvSpPr/>
          <p:nvPr/>
        </p:nvSpPr>
        <p:spPr>
          <a:xfrm>
            <a:off x="1028700" y="1890037"/>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AutoShape 6"/>
          <p:cNvSpPr/>
          <p:nvPr/>
        </p:nvSpPr>
        <p:spPr>
          <a:xfrm>
            <a:off x="1100554" y="2605208"/>
            <a:ext cx="2526676" cy="0"/>
          </a:xfrm>
          <a:prstGeom prst="line">
            <a:avLst/>
          </a:prstGeom>
          <a:ln w="47625" cap="flat">
            <a:solidFill>
              <a:srgbClr val="FFFFFF"/>
            </a:solidFill>
            <a:prstDash val="solid"/>
            <a:headEnd type="none" w="sm" len="sm"/>
            <a:tailEnd type="none" w="sm" len="sm"/>
          </a:ln>
        </p:spPr>
      </p:sp>
      <p:sp>
        <p:nvSpPr>
          <p:cNvPr id="7" name="Freeform 7"/>
          <p:cNvSpPr/>
          <p:nvPr/>
        </p:nvSpPr>
        <p:spPr>
          <a:xfrm>
            <a:off x="10213719" y="1890037"/>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AutoShape 8"/>
          <p:cNvSpPr/>
          <p:nvPr/>
        </p:nvSpPr>
        <p:spPr>
          <a:xfrm>
            <a:off x="10285573" y="2605208"/>
            <a:ext cx="2526676" cy="0"/>
          </a:xfrm>
          <a:prstGeom prst="line">
            <a:avLst/>
          </a:prstGeom>
          <a:ln w="47625" cap="flat">
            <a:solidFill>
              <a:srgbClr val="FFFFFF"/>
            </a:solidFill>
            <a:prstDash val="solid"/>
            <a:headEnd type="none" w="sm" len="sm"/>
            <a:tailEnd type="none" w="sm" len="sm"/>
          </a:ln>
        </p:spPr>
      </p:sp>
      <p:sp>
        <p:nvSpPr>
          <p:cNvPr id="9" name="Freeform 9"/>
          <p:cNvSpPr/>
          <p:nvPr/>
        </p:nvSpPr>
        <p:spPr>
          <a:xfrm>
            <a:off x="11549919" y="5764966"/>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AutoShape 10"/>
          <p:cNvSpPr/>
          <p:nvPr/>
        </p:nvSpPr>
        <p:spPr>
          <a:xfrm>
            <a:off x="11621773" y="6480137"/>
            <a:ext cx="2526676" cy="0"/>
          </a:xfrm>
          <a:prstGeom prst="line">
            <a:avLst/>
          </a:prstGeom>
          <a:ln w="47625" cap="flat">
            <a:solidFill>
              <a:srgbClr val="FFFFFF"/>
            </a:solidFill>
            <a:prstDash val="solid"/>
            <a:headEnd type="none" w="sm" len="sm"/>
            <a:tailEnd type="none" w="sm" len="sm"/>
          </a:ln>
        </p:spPr>
      </p:sp>
      <p:sp>
        <p:nvSpPr>
          <p:cNvPr id="11" name="Freeform 11"/>
          <p:cNvSpPr/>
          <p:nvPr/>
        </p:nvSpPr>
        <p:spPr>
          <a:xfrm>
            <a:off x="4183955" y="5764966"/>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AutoShape 12"/>
          <p:cNvSpPr/>
          <p:nvPr/>
        </p:nvSpPr>
        <p:spPr>
          <a:xfrm>
            <a:off x="4255809" y="6480137"/>
            <a:ext cx="2526676" cy="0"/>
          </a:xfrm>
          <a:prstGeom prst="line">
            <a:avLst/>
          </a:prstGeom>
          <a:ln w="47625" cap="flat">
            <a:solidFill>
              <a:srgbClr val="FFFFFF"/>
            </a:solidFill>
            <a:prstDash val="solid"/>
            <a:headEnd type="none" w="sm" len="sm"/>
            <a:tailEnd type="none" w="sm" len="sm"/>
          </a:ln>
        </p:spPr>
      </p:sp>
      <p:sp>
        <p:nvSpPr>
          <p:cNvPr id="13" name="Freeform 13"/>
          <p:cNvSpPr/>
          <p:nvPr/>
        </p:nvSpPr>
        <p:spPr>
          <a:xfrm>
            <a:off x="14586900" y="1890037"/>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AutoShape 14"/>
          <p:cNvSpPr/>
          <p:nvPr/>
        </p:nvSpPr>
        <p:spPr>
          <a:xfrm>
            <a:off x="14658754" y="2605208"/>
            <a:ext cx="2526676" cy="0"/>
          </a:xfrm>
          <a:prstGeom prst="line">
            <a:avLst/>
          </a:prstGeom>
          <a:ln w="47625" cap="flat">
            <a:solidFill>
              <a:srgbClr val="FFFFFF"/>
            </a:solidFill>
            <a:prstDash val="solid"/>
            <a:headEnd type="none" w="sm" len="sm"/>
            <a:tailEnd type="none" w="sm" len="sm"/>
          </a:ln>
        </p:spPr>
      </p:sp>
      <p:sp>
        <p:nvSpPr>
          <p:cNvPr id="15" name="AutoShape 15"/>
          <p:cNvSpPr/>
          <p:nvPr/>
        </p:nvSpPr>
        <p:spPr>
          <a:xfrm flipV="1">
            <a:off x="6782485" y="7575006"/>
            <a:ext cx="4825247" cy="0"/>
          </a:xfrm>
          <a:prstGeom prst="line">
            <a:avLst/>
          </a:prstGeom>
          <a:ln w="47625" cap="flat">
            <a:solidFill>
              <a:srgbClr val="FFFFFF"/>
            </a:solidFill>
            <a:prstDash val="solid"/>
            <a:headEnd type="none" w="sm" len="sm"/>
            <a:tailEnd type="none" w="sm" len="sm"/>
          </a:ln>
        </p:spPr>
      </p:sp>
      <p:sp>
        <p:nvSpPr>
          <p:cNvPr id="16" name="TextBox 16"/>
          <p:cNvSpPr txBox="1"/>
          <p:nvPr/>
        </p:nvSpPr>
        <p:spPr>
          <a:xfrm>
            <a:off x="1286290" y="2663817"/>
            <a:ext cx="1938882" cy="868976"/>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RCustomer ID </a:t>
            </a:r>
          </a:p>
          <a:p>
            <a:pPr algn="l">
              <a:lnSpc>
                <a:spcPts val="2381"/>
              </a:lnSpc>
            </a:pPr>
            <a:r>
              <a:rPr lang="en-US" sz="1701">
                <a:solidFill>
                  <a:srgbClr val="FFFFFF"/>
                </a:solidFill>
                <a:latin typeface="Roboto"/>
                <a:ea typeface="Roboto"/>
                <a:cs typeface="Roboto"/>
                <a:sym typeface="Roboto"/>
              </a:rPr>
              <a:t>Customer Name </a:t>
            </a:r>
          </a:p>
          <a:p>
            <a:pPr algn="l">
              <a:lnSpc>
                <a:spcPts val="2381"/>
              </a:lnSpc>
            </a:pPr>
            <a:r>
              <a:rPr lang="en-US" sz="1701">
                <a:solidFill>
                  <a:srgbClr val="FFFFFF"/>
                </a:solidFill>
                <a:latin typeface="Roboto"/>
                <a:ea typeface="Roboto"/>
                <a:cs typeface="Roboto"/>
                <a:sym typeface="Roboto"/>
              </a:rPr>
              <a:t>Segment </a:t>
            </a:r>
          </a:p>
        </p:txBody>
      </p:sp>
      <p:sp>
        <p:nvSpPr>
          <p:cNvPr id="17" name="TextBox 17"/>
          <p:cNvSpPr txBox="1"/>
          <p:nvPr/>
        </p:nvSpPr>
        <p:spPr>
          <a:xfrm>
            <a:off x="1417317" y="2218033"/>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CLIENT</a:t>
            </a:r>
          </a:p>
        </p:txBody>
      </p:sp>
      <p:sp>
        <p:nvSpPr>
          <p:cNvPr id="18" name="TextBox 18"/>
          <p:cNvSpPr txBox="1"/>
          <p:nvPr/>
        </p:nvSpPr>
        <p:spPr>
          <a:xfrm rot="-74722">
            <a:off x="1252008" y="115351"/>
            <a:ext cx="2378908" cy="2006392"/>
          </a:xfrm>
          <a:prstGeom prst="rect">
            <a:avLst/>
          </a:prstGeom>
        </p:spPr>
        <p:txBody>
          <a:bodyPr lIns="0" tIns="0" rIns="0" bIns="0" rtlCol="0" anchor="t">
            <a:spAutoFit/>
          </a:bodyPr>
          <a:lstStyle/>
          <a:p>
            <a:pPr algn="ctr">
              <a:lnSpc>
                <a:spcPts val="15141"/>
              </a:lnSpc>
            </a:pPr>
            <a:r>
              <a:rPr lang="en-US" sz="10815" spc="681">
                <a:solidFill>
                  <a:srgbClr val="FFFFFF"/>
                </a:solidFill>
                <a:latin typeface="Some Time Later"/>
                <a:ea typeface="Some Time Later"/>
                <a:cs typeface="Some Time Later"/>
                <a:sym typeface="Some Time Later"/>
              </a:rPr>
              <a:t>MCD</a:t>
            </a:r>
          </a:p>
        </p:txBody>
      </p:sp>
      <p:sp>
        <p:nvSpPr>
          <p:cNvPr id="19" name="TextBox 19"/>
          <p:cNvSpPr txBox="1"/>
          <p:nvPr/>
        </p:nvSpPr>
        <p:spPr>
          <a:xfrm>
            <a:off x="10471309" y="2663817"/>
            <a:ext cx="1938882" cy="1743059"/>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Date_ID</a:t>
            </a:r>
          </a:p>
          <a:p>
            <a:pPr algn="l">
              <a:lnSpc>
                <a:spcPts val="2381"/>
              </a:lnSpc>
            </a:pPr>
            <a:r>
              <a:rPr lang="en-US" sz="1701">
                <a:solidFill>
                  <a:srgbClr val="FFFFFF"/>
                </a:solidFill>
                <a:latin typeface="Roboto"/>
                <a:ea typeface="Roboto"/>
                <a:cs typeface="Roboto"/>
                <a:sym typeface="Roboto"/>
              </a:rPr>
              <a:t>Order_Date</a:t>
            </a:r>
          </a:p>
          <a:p>
            <a:pPr algn="l">
              <a:lnSpc>
                <a:spcPts val="2381"/>
              </a:lnSpc>
            </a:pPr>
            <a:r>
              <a:rPr lang="en-US" sz="1701">
                <a:solidFill>
                  <a:srgbClr val="FFFFFF"/>
                </a:solidFill>
                <a:latin typeface="Roboto"/>
                <a:ea typeface="Roboto"/>
                <a:cs typeface="Roboto"/>
                <a:sym typeface="Roboto"/>
              </a:rPr>
              <a:t>Annees</a:t>
            </a:r>
          </a:p>
          <a:p>
            <a:pPr algn="l">
              <a:lnSpc>
                <a:spcPts val="2381"/>
              </a:lnSpc>
            </a:pPr>
            <a:r>
              <a:rPr lang="en-US" sz="1701">
                <a:solidFill>
                  <a:srgbClr val="FFFFFF"/>
                </a:solidFill>
                <a:latin typeface="Roboto"/>
                <a:ea typeface="Roboto"/>
                <a:cs typeface="Roboto"/>
                <a:sym typeface="Roboto"/>
              </a:rPr>
              <a:t>Mois</a:t>
            </a:r>
          </a:p>
          <a:p>
            <a:pPr algn="l">
              <a:lnSpc>
                <a:spcPts val="2381"/>
              </a:lnSpc>
            </a:pPr>
            <a:r>
              <a:rPr lang="en-US" sz="1701">
                <a:solidFill>
                  <a:srgbClr val="FFFFFF"/>
                </a:solidFill>
                <a:latin typeface="Roboto"/>
                <a:ea typeface="Roboto"/>
                <a:cs typeface="Roboto"/>
                <a:sym typeface="Roboto"/>
              </a:rPr>
              <a:t>Trimestre</a:t>
            </a:r>
          </a:p>
          <a:p>
            <a:pPr algn="l">
              <a:lnSpc>
                <a:spcPts val="2381"/>
              </a:lnSpc>
            </a:pPr>
            <a:endParaRPr lang="en-US" sz="1701">
              <a:solidFill>
                <a:srgbClr val="FFFFFF"/>
              </a:solidFill>
              <a:latin typeface="Roboto"/>
              <a:ea typeface="Roboto"/>
              <a:cs typeface="Roboto"/>
              <a:sym typeface="Roboto"/>
            </a:endParaRPr>
          </a:p>
        </p:txBody>
      </p:sp>
      <p:sp>
        <p:nvSpPr>
          <p:cNvPr id="20" name="TextBox 20"/>
          <p:cNvSpPr txBox="1"/>
          <p:nvPr/>
        </p:nvSpPr>
        <p:spPr>
          <a:xfrm>
            <a:off x="10602336" y="2218033"/>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TIME</a:t>
            </a:r>
          </a:p>
        </p:txBody>
      </p:sp>
      <p:sp>
        <p:nvSpPr>
          <p:cNvPr id="21" name="TextBox 21"/>
          <p:cNvSpPr txBox="1"/>
          <p:nvPr/>
        </p:nvSpPr>
        <p:spPr>
          <a:xfrm>
            <a:off x="11807509" y="6538746"/>
            <a:ext cx="1938882" cy="2034420"/>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Row_ID</a:t>
            </a:r>
          </a:p>
          <a:p>
            <a:pPr algn="l">
              <a:lnSpc>
                <a:spcPts val="2381"/>
              </a:lnSpc>
            </a:pPr>
            <a:r>
              <a:rPr lang="en-US" sz="1701">
                <a:solidFill>
                  <a:srgbClr val="FFFFFF"/>
                </a:solidFill>
                <a:latin typeface="Roboto"/>
                <a:ea typeface="Roboto"/>
                <a:cs typeface="Roboto"/>
                <a:sym typeface="Roboto"/>
              </a:rPr>
              <a:t>Sales</a:t>
            </a:r>
          </a:p>
          <a:p>
            <a:pPr algn="l">
              <a:lnSpc>
                <a:spcPts val="2381"/>
              </a:lnSpc>
            </a:pPr>
            <a:r>
              <a:rPr lang="en-US" sz="1701">
                <a:solidFill>
                  <a:srgbClr val="FFFFFF"/>
                </a:solidFill>
                <a:latin typeface="Roboto"/>
                <a:ea typeface="Roboto"/>
                <a:cs typeface="Roboto"/>
                <a:sym typeface="Roboto"/>
              </a:rPr>
              <a:t>Quantity</a:t>
            </a:r>
          </a:p>
          <a:p>
            <a:pPr algn="l">
              <a:lnSpc>
                <a:spcPts val="2381"/>
              </a:lnSpc>
            </a:pPr>
            <a:r>
              <a:rPr lang="en-US" sz="1701">
                <a:solidFill>
                  <a:srgbClr val="FFFFFF"/>
                </a:solidFill>
                <a:latin typeface="Roboto"/>
                <a:ea typeface="Roboto"/>
                <a:cs typeface="Roboto"/>
                <a:sym typeface="Roboto"/>
              </a:rPr>
              <a:t>Marge_Relative</a:t>
            </a:r>
          </a:p>
          <a:p>
            <a:pPr algn="l">
              <a:lnSpc>
                <a:spcPts val="2381"/>
              </a:lnSpc>
            </a:pPr>
            <a:r>
              <a:rPr lang="en-US" sz="1701">
                <a:solidFill>
                  <a:srgbClr val="FFFFFF"/>
                </a:solidFill>
                <a:latin typeface="Roboto"/>
                <a:ea typeface="Roboto"/>
                <a:cs typeface="Roboto"/>
                <a:sym typeface="Roboto"/>
              </a:rPr>
              <a:t>Taux_Profit_Estime</a:t>
            </a:r>
          </a:p>
          <a:p>
            <a:pPr algn="l">
              <a:lnSpc>
                <a:spcPts val="2381"/>
              </a:lnSpc>
            </a:pPr>
            <a:r>
              <a:rPr lang="en-US" sz="1701">
                <a:solidFill>
                  <a:srgbClr val="FFFFFF"/>
                </a:solidFill>
                <a:latin typeface="Roboto"/>
                <a:ea typeface="Roboto"/>
                <a:cs typeface="Roboto"/>
                <a:sym typeface="Roboto"/>
              </a:rPr>
              <a:t>Ratio_Qte_Sales</a:t>
            </a:r>
          </a:p>
          <a:p>
            <a:pPr algn="l">
              <a:lnSpc>
                <a:spcPts val="2381"/>
              </a:lnSpc>
            </a:pPr>
            <a:endParaRPr lang="en-US" sz="1701">
              <a:solidFill>
                <a:srgbClr val="FFFFFF"/>
              </a:solidFill>
              <a:latin typeface="Roboto"/>
              <a:ea typeface="Roboto"/>
              <a:cs typeface="Roboto"/>
              <a:sym typeface="Roboto"/>
            </a:endParaRPr>
          </a:p>
        </p:txBody>
      </p:sp>
      <p:sp>
        <p:nvSpPr>
          <p:cNvPr id="22" name="TextBox 22"/>
          <p:cNvSpPr txBox="1"/>
          <p:nvPr/>
        </p:nvSpPr>
        <p:spPr>
          <a:xfrm>
            <a:off x="11938536" y="6092962"/>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VENTES</a:t>
            </a:r>
          </a:p>
        </p:txBody>
      </p:sp>
      <p:sp>
        <p:nvSpPr>
          <p:cNvPr id="23" name="TextBox 23"/>
          <p:cNvSpPr txBox="1"/>
          <p:nvPr/>
        </p:nvSpPr>
        <p:spPr>
          <a:xfrm>
            <a:off x="4441545" y="6538746"/>
            <a:ext cx="1938882" cy="1451698"/>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Order_ID</a:t>
            </a:r>
          </a:p>
          <a:p>
            <a:pPr algn="l">
              <a:lnSpc>
                <a:spcPts val="2381"/>
              </a:lnSpc>
            </a:pPr>
            <a:r>
              <a:rPr lang="en-US" sz="1701">
                <a:solidFill>
                  <a:srgbClr val="FFFFFF"/>
                </a:solidFill>
                <a:latin typeface="Roboto"/>
                <a:ea typeface="Roboto"/>
                <a:cs typeface="Roboto"/>
                <a:sym typeface="Roboto"/>
              </a:rPr>
              <a:t>Ship_Date</a:t>
            </a:r>
          </a:p>
          <a:p>
            <a:pPr algn="l">
              <a:lnSpc>
                <a:spcPts val="2381"/>
              </a:lnSpc>
            </a:pPr>
            <a:r>
              <a:rPr lang="en-US" sz="1701">
                <a:solidFill>
                  <a:srgbClr val="FFFFFF"/>
                </a:solidFill>
                <a:latin typeface="Roboto"/>
                <a:ea typeface="Roboto"/>
                <a:cs typeface="Roboto"/>
                <a:sym typeface="Roboto"/>
              </a:rPr>
              <a:t>Ship_Mode</a:t>
            </a:r>
          </a:p>
          <a:p>
            <a:pPr algn="l">
              <a:lnSpc>
                <a:spcPts val="2381"/>
              </a:lnSpc>
            </a:pPr>
            <a:r>
              <a:rPr lang="en-US" sz="1701">
                <a:solidFill>
                  <a:srgbClr val="FFFFFF"/>
                </a:solidFill>
                <a:latin typeface="Roboto"/>
                <a:ea typeface="Roboto"/>
                <a:cs typeface="Roboto"/>
                <a:sym typeface="Roboto"/>
              </a:rPr>
              <a:t>Délais_Livraison</a:t>
            </a:r>
          </a:p>
          <a:p>
            <a:pPr algn="l">
              <a:lnSpc>
                <a:spcPts val="2381"/>
              </a:lnSpc>
            </a:pPr>
            <a:endParaRPr lang="en-US" sz="1701">
              <a:solidFill>
                <a:srgbClr val="FFFFFF"/>
              </a:solidFill>
              <a:latin typeface="Roboto"/>
              <a:ea typeface="Roboto"/>
              <a:cs typeface="Roboto"/>
              <a:sym typeface="Roboto"/>
            </a:endParaRPr>
          </a:p>
        </p:txBody>
      </p:sp>
      <p:sp>
        <p:nvSpPr>
          <p:cNvPr id="24" name="TextBox 24"/>
          <p:cNvSpPr txBox="1"/>
          <p:nvPr/>
        </p:nvSpPr>
        <p:spPr>
          <a:xfrm>
            <a:off x="4572572" y="6092962"/>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COMMANDE </a:t>
            </a:r>
          </a:p>
        </p:txBody>
      </p:sp>
      <p:sp>
        <p:nvSpPr>
          <p:cNvPr id="25" name="TextBox 25"/>
          <p:cNvSpPr txBox="1"/>
          <p:nvPr/>
        </p:nvSpPr>
        <p:spPr>
          <a:xfrm>
            <a:off x="14844490" y="2663817"/>
            <a:ext cx="1938882" cy="1160337"/>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Product ID </a:t>
            </a:r>
          </a:p>
          <a:p>
            <a:pPr algn="l">
              <a:lnSpc>
                <a:spcPts val="2381"/>
              </a:lnSpc>
            </a:pPr>
            <a:r>
              <a:rPr lang="en-US" sz="1701">
                <a:solidFill>
                  <a:srgbClr val="FFFFFF"/>
                </a:solidFill>
                <a:latin typeface="Roboto"/>
                <a:ea typeface="Roboto"/>
                <a:cs typeface="Roboto"/>
                <a:sym typeface="Roboto"/>
              </a:rPr>
              <a:t>Product_Name</a:t>
            </a:r>
          </a:p>
          <a:p>
            <a:pPr algn="l">
              <a:lnSpc>
                <a:spcPts val="2381"/>
              </a:lnSpc>
            </a:pPr>
            <a:r>
              <a:rPr lang="en-US" sz="1701">
                <a:solidFill>
                  <a:srgbClr val="FFFFFF"/>
                </a:solidFill>
                <a:latin typeface="Roboto"/>
                <a:ea typeface="Roboto"/>
                <a:cs typeface="Roboto"/>
                <a:sym typeface="Roboto"/>
              </a:rPr>
              <a:t>Category</a:t>
            </a:r>
          </a:p>
          <a:p>
            <a:pPr algn="l">
              <a:lnSpc>
                <a:spcPts val="2381"/>
              </a:lnSpc>
            </a:pPr>
            <a:r>
              <a:rPr lang="en-US" sz="1701">
                <a:solidFill>
                  <a:srgbClr val="FFFFFF"/>
                </a:solidFill>
                <a:latin typeface="Roboto"/>
                <a:ea typeface="Roboto"/>
                <a:cs typeface="Roboto"/>
                <a:sym typeface="Roboto"/>
              </a:rPr>
              <a:t>Sub-Category</a:t>
            </a:r>
          </a:p>
        </p:txBody>
      </p:sp>
      <p:sp>
        <p:nvSpPr>
          <p:cNvPr id="26" name="TextBox 26"/>
          <p:cNvSpPr txBox="1"/>
          <p:nvPr/>
        </p:nvSpPr>
        <p:spPr>
          <a:xfrm>
            <a:off x="14975517" y="2218033"/>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PRODUITS</a:t>
            </a:r>
          </a:p>
        </p:txBody>
      </p:sp>
      <p:sp>
        <p:nvSpPr>
          <p:cNvPr id="27" name="TextBox 27"/>
          <p:cNvSpPr txBox="1"/>
          <p:nvPr/>
        </p:nvSpPr>
        <p:spPr>
          <a:xfrm>
            <a:off x="6922205" y="7253698"/>
            <a:ext cx="509066"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(1,N)</a:t>
            </a:r>
          </a:p>
        </p:txBody>
      </p:sp>
      <p:sp>
        <p:nvSpPr>
          <p:cNvPr id="28" name="TextBox 28"/>
          <p:cNvSpPr txBox="1"/>
          <p:nvPr/>
        </p:nvSpPr>
        <p:spPr>
          <a:xfrm>
            <a:off x="10825846" y="7253698"/>
            <a:ext cx="614904"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id="29" name="Freeform 29"/>
          <p:cNvSpPr/>
          <p:nvPr/>
        </p:nvSpPr>
        <p:spPr>
          <a:xfrm>
            <a:off x="5840538" y="1890037"/>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0" name="AutoShape 30"/>
          <p:cNvSpPr/>
          <p:nvPr/>
        </p:nvSpPr>
        <p:spPr>
          <a:xfrm>
            <a:off x="5912392" y="2605208"/>
            <a:ext cx="2526676" cy="0"/>
          </a:xfrm>
          <a:prstGeom prst="line">
            <a:avLst/>
          </a:prstGeom>
          <a:ln w="47625" cap="flat">
            <a:solidFill>
              <a:srgbClr val="FFFFFF"/>
            </a:solidFill>
            <a:prstDash val="solid"/>
            <a:headEnd type="none" w="sm" len="sm"/>
            <a:tailEnd type="none" w="sm" len="sm"/>
          </a:ln>
        </p:spPr>
      </p:sp>
      <p:sp>
        <p:nvSpPr>
          <p:cNvPr id="31" name="TextBox 31"/>
          <p:cNvSpPr txBox="1"/>
          <p:nvPr/>
        </p:nvSpPr>
        <p:spPr>
          <a:xfrm>
            <a:off x="6229155" y="2218033"/>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LOCALISATION</a:t>
            </a:r>
          </a:p>
        </p:txBody>
      </p:sp>
      <p:sp>
        <p:nvSpPr>
          <p:cNvPr id="32" name="AutoShape 32"/>
          <p:cNvSpPr/>
          <p:nvPr/>
        </p:nvSpPr>
        <p:spPr>
          <a:xfrm flipV="1">
            <a:off x="14146508" y="7575006"/>
            <a:ext cx="2129064" cy="4631"/>
          </a:xfrm>
          <a:prstGeom prst="line">
            <a:avLst/>
          </a:prstGeom>
          <a:ln w="47625" cap="flat">
            <a:solidFill>
              <a:srgbClr val="FFFFFF"/>
            </a:solidFill>
            <a:prstDash val="solid"/>
            <a:headEnd type="none" w="sm" len="sm"/>
            <a:tailEnd type="none" w="sm" len="sm"/>
          </a:ln>
        </p:spPr>
      </p:sp>
      <p:sp>
        <p:nvSpPr>
          <p:cNvPr id="33" name="TextBox 33"/>
          <p:cNvSpPr txBox="1"/>
          <p:nvPr/>
        </p:nvSpPr>
        <p:spPr>
          <a:xfrm>
            <a:off x="14222319" y="7318917"/>
            <a:ext cx="509066"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id="34" name="TextBox 34"/>
          <p:cNvSpPr txBox="1"/>
          <p:nvPr/>
        </p:nvSpPr>
        <p:spPr>
          <a:xfrm>
            <a:off x="16168468" y="5450046"/>
            <a:ext cx="614904"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id="35" name="AutoShape 35"/>
          <p:cNvSpPr/>
          <p:nvPr/>
        </p:nvSpPr>
        <p:spPr>
          <a:xfrm flipH="1" flipV="1">
            <a:off x="16251759" y="5262438"/>
            <a:ext cx="0" cy="2326202"/>
          </a:xfrm>
          <a:prstGeom prst="line">
            <a:avLst/>
          </a:prstGeom>
          <a:ln w="47625" cap="flat">
            <a:solidFill>
              <a:srgbClr val="FFFFFF"/>
            </a:solidFill>
            <a:prstDash val="solid"/>
            <a:headEnd type="none" w="sm" len="sm"/>
            <a:tailEnd type="none" w="sm" len="sm"/>
          </a:ln>
        </p:spPr>
      </p:sp>
      <p:sp>
        <p:nvSpPr>
          <p:cNvPr id="36" name="AutoShape 36"/>
          <p:cNvSpPr/>
          <p:nvPr/>
        </p:nvSpPr>
        <p:spPr>
          <a:xfrm flipV="1">
            <a:off x="6856407" y="6990432"/>
            <a:ext cx="4253078" cy="68003"/>
          </a:xfrm>
          <a:prstGeom prst="line">
            <a:avLst/>
          </a:prstGeom>
          <a:ln w="47625" cap="flat">
            <a:solidFill>
              <a:srgbClr val="FFFFFF"/>
            </a:solidFill>
            <a:prstDash val="solid"/>
            <a:headEnd type="none" w="sm" len="sm"/>
            <a:tailEnd type="none" w="sm" len="sm"/>
          </a:ln>
        </p:spPr>
      </p:sp>
      <p:sp>
        <p:nvSpPr>
          <p:cNvPr id="37" name="TextBox 37"/>
          <p:cNvSpPr txBox="1"/>
          <p:nvPr/>
        </p:nvSpPr>
        <p:spPr>
          <a:xfrm>
            <a:off x="6932218" y="6797716"/>
            <a:ext cx="509066"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id="38" name="TextBox 38"/>
          <p:cNvSpPr txBox="1"/>
          <p:nvPr/>
        </p:nvSpPr>
        <p:spPr>
          <a:xfrm>
            <a:off x="10494582" y="5450046"/>
            <a:ext cx="614904"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id="39" name="AutoShape 39"/>
          <p:cNvSpPr/>
          <p:nvPr/>
        </p:nvSpPr>
        <p:spPr>
          <a:xfrm flipH="1" flipV="1">
            <a:off x="11109485" y="5315632"/>
            <a:ext cx="23813" cy="1674800"/>
          </a:xfrm>
          <a:prstGeom prst="line">
            <a:avLst/>
          </a:prstGeom>
          <a:ln w="47625" cap="flat">
            <a:solidFill>
              <a:srgbClr val="FFFFFF"/>
            </a:solidFill>
            <a:prstDash val="solid"/>
            <a:headEnd type="none" w="sm" len="sm"/>
            <a:tailEnd type="none" w="sm" len="sm"/>
          </a:ln>
        </p:spPr>
      </p:sp>
      <p:sp>
        <p:nvSpPr>
          <p:cNvPr id="40" name="AutoShape 40"/>
          <p:cNvSpPr/>
          <p:nvPr/>
        </p:nvSpPr>
        <p:spPr>
          <a:xfrm flipV="1">
            <a:off x="6782866" y="6576846"/>
            <a:ext cx="1132411" cy="25610"/>
          </a:xfrm>
          <a:prstGeom prst="line">
            <a:avLst/>
          </a:prstGeom>
          <a:ln w="47625" cap="flat">
            <a:solidFill>
              <a:srgbClr val="FFFFFF"/>
            </a:solidFill>
            <a:prstDash val="solid"/>
            <a:headEnd type="none" w="sm" len="sm"/>
            <a:tailEnd type="none" w="sm" len="sm"/>
          </a:ln>
        </p:spPr>
      </p:sp>
      <p:sp>
        <p:nvSpPr>
          <p:cNvPr id="41" name="TextBox 41"/>
          <p:cNvSpPr txBox="1"/>
          <p:nvPr/>
        </p:nvSpPr>
        <p:spPr>
          <a:xfrm>
            <a:off x="6858677" y="6341736"/>
            <a:ext cx="509066"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id="42" name="TextBox 42"/>
          <p:cNvSpPr txBox="1"/>
          <p:nvPr/>
        </p:nvSpPr>
        <p:spPr>
          <a:xfrm>
            <a:off x="7367743" y="5450046"/>
            <a:ext cx="614904"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id="43" name="AutoShape 43"/>
          <p:cNvSpPr/>
          <p:nvPr/>
        </p:nvSpPr>
        <p:spPr>
          <a:xfrm flipH="1" flipV="1">
            <a:off x="7915277" y="5291303"/>
            <a:ext cx="11906" cy="1311227"/>
          </a:xfrm>
          <a:prstGeom prst="line">
            <a:avLst/>
          </a:prstGeom>
          <a:ln w="47625" cap="flat">
            <a:solidFill>
              <a:srgbClr val="FFFFFF"/>
            </a:solidFill>
            <a:prstDash val="solid"/>
            <a:headEnd type="none" w="sm" len="sm"/>
            <a:tailEnd type="none" w="sm" len="sm"/>
          </a:ln>
        </p:spPr>
      </p:sp>
      <p:sp>
        <p:nvSpPr>
          <p:cNvPr id="44" name="AutoShape 44"/>
          <p:cNvSpPr/>
          <p:nvPr/>
        </p:nvSpPr>
        <p:spPr>
          <a:xfrm flipV="1">
            <a:off x="2370266" y="7566831"/>
            <a:ext cx="1813151" cy="8175"/>
          </a:xfrm>
          <a:prstGeom prst="line">
            <a:avLst/>
          </a:prstGeom>
          <a:ln w="47625" cap="flat">
            <a:solidFill>
              <a:srgbClr val="FFFFFF"/>
            </a:solidFill>
            <a:prstDash val="solid"/>
            <a:headEnd type="none" w="sm" len="sm"/>
            <a:tailEnd type="none" w="sm" len="sm"/>
          </a:ln>
        </p:spPr>
      </p:sp>
      <p:sp>
        <p:nvSpPr>
          <p:cNvPr id="45" name="TextBox 45"/>
          <p:cNvSpPr txBox="1"/>
          <p:nvPr/>
        </p:nvSpPr>
        <p:spPr>
          <a:xfrm>
            <a:off x="3652438" y="7220624"/>
            <a:ext cx="509066"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id="46" name="TextBox 46"/>
          <p:cNvSpPr txBox="1"/>
          <p:nvPr/>
        </p:nvSpPr>
        <p:spPr>
          <a:xfrm>
            <a:off x="1829974" y="5484682"/>
            <a:ext cx="614904" cy="192717"/>
          </a:xfrm>
          <a:prstGeom prst="rect">
            <a:avLst/>
          </a:prstGeom>
        </p:spPr>
        <p:txBody>
          <a:bodyPr lIns="0" tIns="0" rIns="0" bIns="0" rtlCol="0" anchor="t">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id="47" name="AutoShape 47"/>
          <p:cNvSpPr/>
          <p:nvPr/>
        </p:nvSpPr>
        <p:spPr>
          <a:xfrm flipV="1">
            <a:off x="2370266" y="5418007"/>
            <a:ext cx="0" cy="2156999"/>
          </a:xfrm>
          <a:prstGeom prst="line">
            <a:avLst/>
          </a:prstGeom>
          <a:ln w="47625" cap="flat">
            <a:solidFill>
              <a:srgbClr val="FFFFFF"/>
            </a:solidFill>
            <a:prstDash val="solid"/>
            <a:headEnd type="none" w="sm" len="sm"/>
            <a:tailEnd type="none" w="sm" len="sm"/>
          </a:ln>
        </p:spPr>
      </p:sp>
      <p:sp>
        <p:nvSpPr>
          <p:cNvPr id="48" name="TextBox 48"/>
          <p:cNvSpPr txBox="1"/>
          <p:nvPr/>
        </p:nvSpPr>
        <p:spPr>
          <a:xfrm>
            <a:off x="6098128" y="2663817"/>
            <a:ext cx="1938882" cy="1451698"/>
          </a:xfrm>
          <a:prstGeom prst="rect">
            <a:avLst/>
          </a:prstGeom>
        </p:spPr>
        <p:txBody>
          <a:bodyPr lIns="0" tIns="0" rIns="0" bIns="0" rtlCol="0" anchor="t">
            <a:spAutoFit/>
          </a:bodyPr>
          <a:lstStyle/>
          <a:p>
            <a:pPr algn="l">
              <a:lnSpc>
                <a:spcPts val="2381"/>
              </a:lnSpc>
            </a:pPr>
            <a:r>
              <a:rPr lang="en-US" sz="1701">
                <a:solidFill>
                  <a:srgbClr val="FFFFFF"/>
                </a:solidFill>
                <a:latin typeface="Roboto"/>
                <a:ea typeface="Roboto"/>
                <a:cs typeface="Roboto"/>
                <a:sym typeface="Roboto"/>
              </a:rPr>
              <a:t>Postal_Code</a:t>
            </a:r>
          </a:p>
          <a:p>
            <a:pPr algn="l">
              <a:lnSpc>
                <a:spcPts val="2381"/>
              </a:lnSpc>
            </a:pPr>
            <a:r>
              <a:rPr lang="en-US" sz="1701">
                <a:solidFill>
                  <a:srgbClr val="FFFFFF"/>
                </a:solidFill>
                <a:latin typeface="Roboto"/>
                <a:ea typeface="Roboto"/>
                <a:cs typeface="Roboto"/>
                <a:sym typeface="Roboto"/>
              </a:rPr>
              <a:t>City</a:t>
            </a:r>
          </a:p>
          <a:p>
            <a:pPr algn="l">
              <a:lnSpc>
                <a:spcPts val="2381"/>
              </a:lnSpc>
            </a:pPr>
            <a:r>
              <a:rPr lang="en-US" sz="1701">
                <a:solidFill>
                  <a:srgbClr val="FFFFFF"/>
                </a:solidFill>
                <a:latin typeface="Roboto"/>
                <a:ea typeface="Roboto"/>
                <a:cs typeface="Roboto"/>
                <a:sym typeface="Roboto"/>
              </a:rPr>
              <a:t>State</a:t>
            </a:r>
          </a:p>
          <a:p>
            <a:pPr algn="l">
              <a:lnSpc>
                <a:spcPts val="2381"/>
              </a:lnSpc>
            </a:pPr>
            <a:r>
              <a:rPr lang="en-US" sz="1701">
                <a:solidFill>
                  <a:srgbClr val="FFFFFF"/>
                </a:solidFill>
                <a:latin typeface="Roboto"/>
                <a:ea typeface="Roboto"/>
                <a:cs typeface="Roboto"/>
                <a:sym typeface="Roboto"/>
              </a:rPr>
              <a:t>Country</a:t>
            </a:r>
          </a:p>
          <a:p>
            <a:pPr algn="l">
              <a:lnSpc>
                <a:spcPts val="2381"/>
              </a:lnSpc>
            </a:pPr>
            <a:r>
              <a:rPr lang="en-US" sz="1701">
                <a:solidFill>
                  <a:srgbClr val="FFFFFF"/>
                </a:solidFill>
                <a:latin typeface="Roboto"/>
                <a:ea typeface="Roboto"/>
                <a:cs typeface="Roboto"/>
                <a:sym typeface="Roboto"/>
              </a:rPr>
              <a:t>Region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376882" y="7484506"/>
            <a:ext cx="5089406" cy="2203289"/>
          </a:xfrm>
          <a:custGeom>
            <a:avLst/>
            <a:gdLst/>
            <a:ahLst/>
            <a:cxnLst/>
            <a:rect l="l" t="t" r="r" b="b"/>
            <a:pathLst>
              <a:path w="5089406" h="2203289">
                <a:moveTo>
                  <a:pt x="0" y="0"/>
                </a:moveTo>
                <a:lnTo>
                  <a:pt x="5089406" y="0"/>
                </a:lnTo>
                <a:lnTo>
                  <a:pt x="5089406" y="2203288"/>
                </a:lnTo>
                <a:lnTo>
                  <a:pt x="0" y="2203288"/>
                </a:lnTo>
                <a:lnTo>
                  <a:pt x="0" y="0"/>
                </a:lnTo>
                <a:close/>
              </a:path>
            </a:pathLst>
          </a:custGeom>
          <a:blipFill>
            <a:blip r:embed="rId2"/>
            <a:stretch>
              <a:fillRect/>
            </a:stretch>
          </a:blipFill>
        </p:spPr>
      </p:sp>
      <p:sp>
        <p:nvSpPr>
          <p:cNvPr id="3" name="Freeform 3"/>
          <p:cNvSpPr/>
          <p:nvPr/>
        </p:nvSpPr>
        <p:spPr>
          <a:xfrm>
            <a:off x="-2910341" y="80706"/>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4" name="Freeform 4"/>
          <p:cNvSpPr/>
          <p:nvPr/>
        </p:nvSpPr>
        <p:spPr>
          <a:xfrm>
            <a:off x="-3756669" y="6085378"/>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5" name="TextBox 5"/>
          <p:cNvSpPr txBox="1"/>
          <p:nvPr/>
        </p:nvSpPr>
        <p:spPr>
          <a:xfrm rot="-74722">
            <a:off x="1328882" y="115352"/>
            <a:ext cx="2225038" cy="2000809"/>
          </a:xfrm>
          <a:prstGeom prst="rect">
            <a:avLst/>
          </a:prstGeom>
        </p:spPr>
        <p:txBody>
          <a:bodyPr lIns="0" tIns="0" rIns="0" bIns="0" rtlCol="0" anchor="t">
            <a:spAutoFit/>
          </a:bodyPr>
          <a:lstStyle/>
          <a:p>
            <a:pPr algn="ctr">
              <a:lnSpc>
                <a:spcPts val="15141"/>
              </a:lnSpc>
            </a:pPr>
            <a:r>
              <a:rPr lang="en-US" sz="10815" spc="681">
                <a:solidFill>
                  <a:srgbClr val="FFFFFF"/>
                </a:solidFill>
                <a:latin typeface="Some Time Later"/>
                <a:ea typeface="Some Time Later"/>
                <a:cs typeface="Some Time Later"/>
                <a:sym typeface="Some Time Later"/>
              </a:rPr>
              <a:t>MLD</a:t>
            </a:r>
          </a:p>
        </p:txBody>
      </p:sp>
      <p:sp>
        <p:nvSpPr>
          <p:cNvPr id="6" name="Freeform 6"/>
          <p:cNvSpPr/>
          <p:nvPr/>
        </p:nvSpPr>
        <p:spPr>
          <a:xfrm rot="-5400000">
            <a:off x="5219232" y="203117"/>
            <a:ext cx="7849535" cy="10260830"/>
          </a:xfrm>
          <a:custGeom>
            <a:avLst/>
            <a:gdLst/>
            <a:ahLst/>
            <a:cxnLst/>
            <a:rect l="l" t="t" r="r" b="b"/>
            <a:pathLst>
              <a:path w="7849535" h="10260830">
                <a:moveTo>
                  <a:pt x="0" y="0"/>
                </a:moveTo>
                <a:lnTo>
                  <a:pt x="7849536" y="0"/>
                </a:lnTo>
                <a:lnTo>
                  <a:pt x="7849536" y="10260831"/>
                </a:lnTo>
                <a:lnTo>
                  <a:pt x="0" y="102608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192296">
            <a:off x="7846253" y="768496"/>
            <a:ext cx="2165926" cy="870883"/>
          </a:xfrm>
          <a:custGeom>
            <a:avLst/>
            <a:gdLst/>
            <a:ahLst/>
            <a:cxnLst/>
            <a:rect l="l" t="t" r="r" b="b"/>
            <a:pathLst>
              <a:path w="2165926" h="870883">
                <a:moveTo>
                  <a:pt x="0" y="0"/>
                </a:moveTo>
                <a:lnTo>
                  <a:pt x="2165926" y="0"/>
                </a:lnTo>
                <a:lnTo>
                  <a:pt x="2165926" y="870883"/>
                </a:lnTo>
                <a:lnTo>
                  <a:pt x="0" y="8708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6571021" y="2189242"/>
            <a:ext cx="7624291" cy="1413827"/>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Order ID </a:t>
            </a:r>
            <a:r>
              <a:rPr lang="en-US" sz="2676">
                <a:solidFill>
                  <a:srgbClr val="FFFFFF"/>
                </a:solidFill>
                <a:latin typeface="Roboto"/>
                <a:ea typeface="Roboto"/>
                <a:cs typeface="Roboto"/>
                <a:sym typeface="Roboto"/>
              </a:rPr>
              <a:t> , Ship Date  , Ship Mode  ,</a:t>
            </a:r>
          </a:p>
          <a:p>
            <a:pPr algn="l">
              <a:lnSpc>
                <a:spcPts val="3747"/>
              </a:lnSpc>
            </a:pPr>
            <a:r>
              <a:rPr lang="en-US" sz="2676">
                <a:solidFill>
                  <a:srgbClr val="FFFFFF"/>
                </a:solidFill>
                <a:latin typeface="Roboto"/>
                <a:ea typeface="Roboto"/>
                <a:cs typeface="Roboto"/>
                <a:sym typeface="Roboto"/>
              </a:rPr>
              <a:t>Délais livraison , </a:t>
            </a:r>
            <a:r>
              <a:rPr lang="en-US" sz="2676">
                <a:solidFill>
                  <a:srgbClr val="C1FF72"/>
                </a:solidFill>
                <a:latin typeface="Roboto"/>
                <a:ea typeface="Roboto"/>
                <a:cs typeface="Roboto"/>
                <a:sym typeface="Roboto"/>
              </a:rPr>
              <a:t>#Customer_ID , #Date_ID , #Postal_Code</a:t>
            </a:r>
            <a:r>
              <a:rPr lang="en-US" sz="2676">
                <a:solidFill>
                  <a:srgbClr val="FFFFFF"/>
                </a:solidFill>
                <a:latin typeface="Roboto"/>
                <a:ea typeface="Roboto"/>
                <a:cs typeface="Roboto"/>
                <a:sym typeface="Roboto"/>
              </a:rPr>
              <a:t> )</a:t>
            </a:r>
          </a:p>
        </p:txBody>
      </p:sp>
      <p:sp>
        <p:nvSpPr>
          <p:cNvPr id="9" name="TextBox 9"/>
          <p:cNvSpPr txBox="1"/>
          <p:nvPr/>
        </p:nvSpPr>
        <p:spPr>
          <a:xfrm>
            <a:off x="4843727" y="2388770"/>
            <a:ext cx="1778353"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COMMANDE </a:t>
            </a:r>
          </a:p>
        </p:txBody>
      </p:sp>
      <p:sp>
        <p:nvSpPr>
          <p:cNvPr id="10" name="TextBox 10"/>
          <p:cNvSpPr txBox="1"/>
          <p:nvPr/>
        </p:nvSpPr>
        <p:spPr>
          <a:xfrm>
            <a:off x="6100683" y="3611711"/>
            <a:ext cx="7119332" cy="1398856"/>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row ID </a:t>
            </a:r>
            <a:r>
              <a:rPr lang="en-US" sz="2676">
                <a:solidFill>
                  <a:srgbClr val="FFFFFF"/>
                </a:solidFill>
                <a:latin typeface="Roboto"/>
                <a:ea typeface="Roboto"/>
                <a:cs typeface="Roboto"/>
                <a:sym typeface="Roboto"/>
              </a:rPr>
              <a:t> , Sales , Quantity  , Marge_relative ,  Taux_profit_estime  , Ratio_Qte_Sales  , </a:t>
            </a:r>
            <a:r>
              <a:rPr lang="en-US" sz="2676">
                <a:solidFill>
                  <a:srgbClr val="C1FF72"/>
                </a:solidFill>
                <a:latin typeface="Roboto"/>
                <a:ea typeface="Roboto"/>
                <a:cs typeface="Roboto"/>
                <a:sym typeface="Roboto"/>
              </a:rPr>
              <a:t>#Product_ID , #Order_ID</a:t>
            </a:r>
            <a:r>
              <a:rPr lang="en-US" sz="2676">
                <a:solidFill>
                  <a:srgbClr val="FFFFFF"/>
                </a:solidFill>
                <a:latin typeface="Roboto"/>
                <a:ea typeface="Roboto"/>
                <a:cs typeface="Roboto"/>
                <a:sym typeface="Roboto"/>
              </a:rPr>
              <a:t> )</a:t>
            </a:r>
          </a:p>
        </p:txBody>
      </p:sp>
      <p:sp>
        <p:nvSpPr>
          <p:cNvPr id="11" name="TextBox 11"/>
          <p:cNvSpPr txBox="1"/>
          <p:nvPr/>
        </p:nvSpPr>
        <p:spPr>
          <a:xfrm>
            <a:off x="4638418" y="3755469"/>
            <a:ext cx="1967224"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VENTES</a:t>
            </a:r>
          </a:p>
        </p:txBody>
      </p:sp>
      <p:sp>
        <p:nvSpPr>
          <p:cNvPr id="12" name="TextBox 12"/>
          <p:cNvSpPr txBox="1"/>
          <p:nvPr/>
        </p:nvSpPr>
        <p:spPr>
          <a:xfrm>
            <a:off x="6220953" y="4992014"/>
            <a:ext cx="7383750" cy="942112"/>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Product ID </a:t>
            </a:r>
            <a:r>
              <a:rPr lang="en-US" sz="2676">
                <a:solidFill>
                  <a:srgbClr val="FFFFFF"/>
                </a:solidFill>
                <a:latin typeface="Roboto"/>
                <a:ea typeface="Roboto"/>
                <a:cs typeface="Roboto"/>
                <a:sym typeface="Roboto"/>
              </a:rPr>
              <a:t> , Categ</a:t>
            </a:r>
            <a:r>
              <a:rPr lang="en-US" sz="2676" u="none">
                <a:solidFill>
                  <a:srgbClr val="FFFFFF"/>
                </a:solidFill>
                <a:latin typeface="Roboto"/>
                <a:ea typeface="Roboto"/>
                <a:cs typeface="Roboto"/>
                <a:sym typeface="Roboto"/>
              </a:rPr>
              <a:t>o</a:t>
            </a:r>
            <a:r>
              <a:rPr lang="en-US" sz="2676">
                <a:solidFill>
                  <a:srgbClr val="FFFFFF"/>
                </a:solidFill>
                <a:latin typeface="Roboto"/>
                <a:ea typeface="Roboto"/>
                <a:cs typeface="Roboto"/>
                <a:sym typeface="Roboto"/>
              </a:rPr>
              <a:t>ry , Sub-C</a:t>
            </a:r>
            <a:r>
              <a:rPr lang="en-US" sz="2676" u="none">
                <a:solidFill>
                  <a:srgbClr val="FFFFFF"/>
                </a:solidFill>
                <a:latin typeface="Roboto"/>
                <a:ea typeface="Roboto"/>
                <a:cs typeface="Roboto"/>
                <a:sym typeface="Roboto"/>
              </a:rPr>
              <a:t>ate</a:t>
            </a:r>
            <a:r>
              <a:rPr lang="en-US" sz="2676">
                <a:solidFill>
                  <a:srgbClr val="FFFFFF"/>
                </a:solidFill>
                <a:latin typeface="Roboto"/>
                <a:ea typeface="Roboto"/>
                <a:cs typeface="Roboto"/>
                <a:sym typeface="Roboto"/>
              </a:rPr>
              <a:t>go</a:t>
            </a:r>
            <a:r>
              <a:rPr lang="en-US" sz="2676" u="none">
                <a:solidFill>
                  <a:srgbClr val="FFFFFF"/>
                </a:solidFill>
                <a:latin typeface="Roboto"/>
                <a:ea typeface="Roboto"/>
                <a:cs typeface="Roboto"/>
                <a:sym typeface="Roboto"/>
              </a:rPr>
              <a:t>r</a:t>
            </a:r>
            <a:r>
              <a:rPr lang="en-US" sz="2676">
                <a:solidFill>
                  <a:srgbClr val="FFFFFF"/>
                </a:solidFill>
                <a:latin typeface="Roboto"/>
                <a:ea typeface="Roboto"/>
                <a:cs typeface="Roboto"/>
                <a:sym typeface="Roboto"/>
              </a:rPr>
              <a:t>y , </a:t>
            </a:r>
          </a:p>
          <a:p>
            <a:pPr algn="l">
              <a:lnSpc>
                <a:spcPts val="3747"/>
              </a:lnSpc>
            </a:pPr>
            <a:r>
              <a:rPr lang="en-US" sz="2676">
                <a:solidFill>
                  <a:srgbClr val="FFFFFF"/>
                </a:solidFill>
                <a:latin typeface="Roboto"/>
                <a:ea typeface="Roboto"/>
                <a:cs typeface="Roboto"/>
                <a:sym typeface="Roboto"/>
              </a:rPr>
              <a:t>Product Name )</a:t>
            </a:r>
          </a:p>
        </p:txBody>
      </p:sp>
      <p:sp>
        <p:nvSpPr>
          <p:cNvPr id="13" name="TextBox 13"/>
          <p:cNvSpPr txBox="1"/>
          <p:nvPr/>
        </p:nvSpPr>
        <p:spPr>
          <a:xfrm>
            <a:off x="4638418" y="5143917"/>
            <a:ext cx="1967224"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PRODUITS</a:t>
            </a:r>
          </a:p>
        </p:txBody>
      </p:sp>
      <p:sp>
        <p:nvSpPr>
          <p:cNvPr id="14" name="TextBox 14"/>
          <p:cNvSpPr txBox="1"/>
          <p:nvPr/>
        </p:nvSpPr>
        <p:spPr>
          <a:xfrm>
            <a:off x="6700568" y="5867450"/>
            <a:ext cx="7365197" cy="942112"/>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Date_ID </a:t>
            </a:r>
            <a:r>
              <a:rPr lang="en-US" sz="2676">
                <a:solidFill>
                  <a:srgbClr val="FFFFFF"/>
                </a:solidFill>
                <a:latin typeface="Roboto"/>
                <a:ea typeface="Roboto"/>
                <a:cs typeface="Roboto"/>
                <a:sym typeface="Roboto"/>
              </a:rPr>
              <a:t> , Order_Date , Annees , Mois ,  Trimestre)</a:t>
            </a:r>
          </a:p>
        </p:txBody>
      </p:sp>
      <p:sp>
        <p:nvSpPr>
          <p:cNvPr id="15" name="TextBox 15"/>
          <p:cNvSpPr txBox="1"/>
          <p:nvPr/>
        </p:nvSpPr>
        <p:spPr>
          <a:xfrm>
            <a:off x="4638418" y="6067475"/>
            <a:ext cx="2102706"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DATE_TEMPS</a:t>
            </a:r>
          </a:p>
        </p:txBody>
      </p:sp>
      <p:sp>
        <p:nvSpPr>
          <p:cNvPr id="16" name="TextBox 16"/>
          <p:cNvSpPr txBox="1"/>
          <p:nvPr/>
        </p:nvSpPr>
        <p:spPr>
          <a:xfrm>
            <a:off x="5917813" y="6810059"/>
            <a:ext cx="7709330" cy="470396"/>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RCustomer ID  </a:t>
            </a:r>
            <a:r>
              <a:rPr lang="en-US" sz="2676">
                <a:solidFill>
                  <a:srgbClr val="FFFFFF"/>
                </a:solidFill>
                <a:latin typeface="Roboto"/>
                <a:ea typeface="Roboto"/>
                <a:cs typeface="Roboto"/>
                <a:sym typeface="Roboto"/>
              </a:rPr>
              <a:t> , Customer Name  , Segment )</a:t>
            </a:r>
          </a:p>
        </p:txBody>
      </p:sp>
      <p:sp>
        <p:nvSpPr>
          <p:cNvPr id="17" name="TextBox 17"/>
          <p:cNvSpPr txBox="1"/>
          <p:nvPr/>
        </p:nvSpPr>
        <p:spPr>
          <a:xfrm>
            <a:off x="4660857" y="6961962"/>
            <a:ext cx="1256955"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CLIENT</a:t>
            </a:r>
          </a:p>
        </p:txBody>
      </p:sp>
      <p:sp>
        <p:nvSpPr>
          <p:cNvPr id="18" name="TextBox 18"/>
          <p:cNvSpPr txBox="1"/>
          <p:nvPr/>
        </p:nvSpPr>
        <p:spPr>
          <a:xfrm>
            <a:off x="6902489" y="7332028"/>
            <a:ext cx="6724653" cy="942112"/>
          </a:xfrm>
          <a:prstGeom prst="rect">
            <a:avLst/>
          </a:prstGeom>
        </p:spPr>
        <p:txBody>
          <a:bodyPr lIns="0" tIns="0" rIns="0" bIns="0" rtlCol="0" anchor="t">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Postal_Code </a:t>
            </a:r>
            <a:r>
              <a:rPr lang="en-US" sz="2676">
                <a:solidFill>
                  <a:srgbClr val="FFFFFF"/>
                </a:solidFill>
                <a:latin typeface="Roboto"/>
                <a:ea typeface="Roboto"/>
                <a:cs typeface="Roboto"/>
                <a:sym typeface="Roboto"/>
              </a:rPr>
              <a:t>, City , State , Country , Region)</a:t>
            </a:r>
          </a:p>
        </p:txBody>
      </p:sp>
      <p:sp>
        <p:nvSpPr>
          <p:cNvPr id="19" name="TextBox 19"/>
          <p:cNvSpPr txBox="1"/>
          <p:nvPr/>
        </p:nvSpPr>
        <p:spPr>
          <a:xfrm>
            <a:off x="4660857" y="7483930"/>
            <a:ext cx="2241632" cy="318493"/>
          </a:xfrm>
          <a:prstGeom prst="rect">
            <a:avLst/>
          </a:prstGeom>
        </p:spPr>
        <p:txBody>
          <a:bodyPr lIns="0" tIns="0" rIns="0" bIns="0" rtlCol="0" anchor="t">
            <a:spAutoFit/>
          </a:bodyPr>
          <a:lstStyle/>
          <a:p>
            <a:pPr algn="l">
              <a:lnSpc>
                <a:spcPts val="2248"/>
              </a:lnSpc>
            </a:pPr>
            <a:r>
              <a:rPr lang="en-US" sz="2810" spc="56">
                <a:solidFill>
                  <a:srgbClr val="FFE869"/>
                </a:solidFill>
                <a:latin typeface="Gagalin"/>
                <a:ea typeface="Gagalin"/>
                <a:cs typeface="Gagalin"/>
                <a:sym typeface="Gagalin"/>
              </a:rPr>
              <a:t>LOCALISATION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62C3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430510" y="8630210"/>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3" name="Freeform 3"/>
          <p:cNvSpPr/>
          <p:nvPr/>
        </p:nvSpPr>
        <p:spPr>
          <a:xfrm>
            <a:off x="-2910341" y="80706"/>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4" name="Freeform 4"/>
          <p:cNvSpPr/>
          <p:nvPr/>
        </p:nvSpPr>
        <p:spPr>
          <a:xfrm>
            <a:off x="-3756669" y="6085378"/>
            <a:ext cx="5089406" cy="2203289"/>
          </a:xfrm>
          <a:custGeom>
            <a:avLst/>
            <a:gdLst/>
            <a:ahLst/>
            <a:cxnLst/>
            <a:rect l="l" t="t" r="r" b="b"/>
            <a:pathLst>
              <a:path w="5089406" h="2203289">
                <a:moveTo>
                  <a:pt x="0" y="0"/>
                </a:moveTo>
                <a:lnTo>
                  <a:pt x="5089406" y="0"/>
                </a:lnTo>
                <a:lnTo>
                  <a:pt x="5089406" y="2203289"/>
                </a:lnTo>
                <a:lnTo>
                  <a:pt x="0" y="2203289"/>
                </a:lnTo>
                <a:lnTo>
                  <a:pt x="0" y="0"/>
                </a:lnTo>
                <a:close/>
              </a:path>
            </a:pathLst>
          </a:custGeom>
          <a:blipFill>
            <a:blip r:embed="rId2"/>
            <a:stretch>
              <a:fillRect/>
            </a:stretch>
          </a:blipFill>
        </p:spPr>
      </p:sp>
      <p:sp>
        <p:nvSpPr>
          <p:cNvPr id="5" name="Freeform 5"/>
          <p:cNvSpPr/>
          <p:nvPr/>
        </p:nvSpPr>
        <p:spPr>
          <a:xfrm>
            <a:off x="1129140" y="1908223"/>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AutoShape 6"/>
          <p:cNvSpPr/>
          <p:nvPr/>
        </p:nvSpPr>
        <p:spPr>
          <a:xfrm>
            <a:off x="1200994" y="2623394"/>
            <a:ext cx="2526676" cy="0"/>
          </a:xfrm>
          <a:prstGeom prst="line">
            <a:avLst/>
          </a:prstGeom>
          <a:ln w="47625" cap="flat">
            <a:solidFill>
              <a:srgbClr val="FFFFFF"/>
            </a:solidFill>
            <a:prstDash val="solid"/>
            <a:headEnd type="none" w="sm" len="sm"/>
            <a:tailEnd type="none" w="sm" len="sm"/>
          </a:ln>
        </p:spPr>
      </p:sp>
      <p:sp>
        <p:nvSpPr>
          <p:cNvPr id="7" name="Freeform 7"/>
          <p:cNvSpPr/>
          <p:nvPr/>
        </p:nvSpPr>
        <p:spPr>
          <a:xfrm>
            <a:off x="7570034" y="1804312"/>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AutoShape 8"/>
          <p:cNvSpPr/>
          <p:nvPr/>
        </p:nvSpPr>
        <p:spPr>
          <a:xfrm>
            <a:off x="7641888" y="2519483"/>
            <a:ext cx="2526676" cy="0"/>
          </a:xfrm>
          <a:prstGeom prst="line">
            <a:avLst/>
          </a:prstGeom>
          <a:ln w="47625" cap="flat">
            <a:solidFill>
              <a:srgbClr val="FFFFFF"/>
            </a:solidFill>
            <a:prstDash val="solid"/>
            <a:headEnd type="none" w="sm" len="sm"/>
            <a:tailEnd type="none" w="sm" len="sm"/>
          </a:ln>
        </p:spPr>
      </p:sp>
      <p:sp>
        <p:nvSpPr>
          <p:cNvPr id="9" name="Freeform 9"/>
          <p:cNvSpPr/>
          <p:nvPr/>
        </p:nvSpPr>
        <p:spPr>
          <a:xfrm>
            <a:off x="10861559" y="1908223"/>
            <a:ext cx="2672400" cy="3493334"/>
          </a:xfrm>
          <a:custGeom>
            <a:avLst/>
            <a:gdLst/>
            <a:ahLst/>
            <a:cxnLst/>
            <a:rect l="l" t="t" r="r" b="b"/>
            <a:pathLst>
              <a:path w="2672400" h="3493334">
                <a:moveTo>
                  <a:pt x="0" y="0"/>
                </a:moveTo>
                <a:lnTo>
                  <a:pt x="2672401" y="0"/>
                </a:lnTo>
                <a:lnTo>
                  <a:pt x="2672401"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AutoShape 10"/>
          <p:cNvSpPr/>
          <p:nvPr/>
        </p:nvSpPr>
        <p:spPr>
          <a:xfrm>
            <a:off x="10933413" y="2623394"/>
            <a:ext cx="2526676" cy="0"/>
          </a:xfrm>
          <a:prstGeom prst="line">
            <a:avLst/>
          </a:prstGeom>
          <a:ln w="47625" cap="flat">
            <a:solidFill>
              <a:srgbClr val="FFFFFF"/>
            </a:solidFill>
            <a:prstDash val="solid"/>
            <a:headEnd type="none" w="sm" len="sm"/>
            <a:tailEnd type="none" w="sm" len="sm"/>
          </a:ln>
        </p:spPr>
      </p:sp>
      <p:sp>
        <p:nvSpPr>
          <p:cNvPr id="11" name="Freeform 11"/>
          <p:cNvSpPr/>
          <p:nvPr/>
        </p:nvSpPr>
        <p:spPr>
          <a:xfrm>
            <a:off x="14486460" y="1908223"/>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AutoShape 12"/>
          <p:cNvSpPr/>
          <p:nvPr/>
        </p:nvSpPr>
        <p:spPr>
          <a:xfrm>
            <a:off x="14558313" y="2623394"/>
            <a:ext cx="2526676" cy="0"/>
          </a:xfrm>
          <a:prstGeom prst="line">
            <a:avLst/>
          </a:prstGeom>
          <a:ln w="47625" cap="flat">
            <a:solidFill>
              <a:srgbClr val="FFFFFF"/>
            </a:solidFill>
            <a:prstDash val="solid"/>
            <a:headEnd type="none" w="sm" len="sm"/>
            <a:tailEnd type="none" w="sm" len="sm"/>
          </a:ln>
        </p:spPr>
      </p:sp>
      <p:sp>
        <p:nvSpPr>
          <p:cNvPr id="13" name="TextBox 13"/>
          <p:cNvSpPr txBox="1"/>
          <p:nvPr/>
        </p:nvSpPr>
        <p:spPr>
          <a:xfrm>
            <a:off x="1386730" y="2682003"/>
            <a:ext cx="1938882" cy="880719"/>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RCustomer ID </a:t>
            </a:r>
          </a:p>
          <a:p>
            <a:pPr algn="l">
              <a:lnSpc>
                <a:spcPts val="2381"/>
              </a:lnSpc>
            </a:pPr>
            <a:r>
              <a:rPr lang="en-US" sz="1701">
                <a:solidFill>
                  <a:srgbClr val="FFFFFF"/>
                </a:solidFill>
                <a:latin typeface="Roboto"/>
                <a:ea typeface="Roboto"/>
                <a:cs typeface="Roboto"/>
                <a:sym typeface="Roboto"/>
              </a:rPr>
              <a:t>Customer Name </a:t>
            </a:r>
          </a:p>
          <a:p>
            <a:pPr algn="l">
              <a:lnSpc>
                <a:spcPts val="2381"/>
              </a:lnSpc>
            </a:pPr>
            <a:r>
              <a:rPr lang="en-US" sz="1701">
                <a:solidFill>
                  <a:srgbClr val="FFFFFF"/>
                </a:solidFill>
                <a:latin typeface="Roboto"/>
                <a:ea typeface="Roboto"/>
                <a:cs typeface="Roboto"/>
                <a:sym typeface="Roboto"/>
              </a:rPr>
              <a:t>Segment </a:t>
            </a:r>
          </a:p>
        </p:txBody>
      </p:sp>
      <p:sp>
        <p:nvSpPr>
          <p:cNvPr id="14" name="TextBox 14"/>
          <p:cNvSpPr txBox="1"/>
          <p:nvPr/>
        </p:nvSpPr>
        <p:spPr>
          <a:xfrm>
            <a:off x="1517757" y="2236219"/>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CLIENT</a:t>
            </a:r>
          </a:p>
        </p:txBody>
      </p:sp>
      <p:sp>
        <p:nvSpPr>
          <p:cNvPr id="15" name="TextBox 15"/>
          <p:cNvSpPr txBox="1"/>
          <p:nvPr/>
        </p:nvSpPr>
        <p:spPr>
          <a:xfrm>
            <a:off x="7827624" y="2578092"/>
            <a:ext cx="1938882" cy="1471269"/>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Date_ID</a:t>
            </a:r>
          </a:p>
          <a:p>
            <a:pPr algn="l">
              <a:lnSpc>
                <a:spcPts val="2381"/>
              </a:lnSpc>
            </a:pPr>
            <a:r>
              <a:rPr lang="en-US" sz="1701">
                <a:solidFill>
                  <a:srgbClr val="FFFFFF"/>
                </a:solidFill>
                <a:latin typeface="Roboto"/>
                <a:ea typeface="Roboto"/>
                <a:cs typeface="Roboto"/>
                <a:sym typeface="Roboto"/>
              </a:rPr>
              <a:t>Order_Date</a:t>
            </a:r>
          </a:p>
          <a:p>
            <a:pPr algn="l">
              <a:lnSpc>
                <a:spcPts val="2381"/>
              </a:lnSpc>
            </a:pPr>
            <a:r>
              <a:rPr lang="en-US" sz="1701">
                <a:solidFill>
                  <a:srgbClr val="FFFFFF"/>
                </a:solidFill>
                <a:latin typeface="Roboto"/>
                <a:ea typeface="Roboto"/>
                <a:cs typeface="Roboto"/>
                <a:sym typeface="Roboto"/>
              </a:rPr>
              <a:t>Annee</a:t>
            </a:r>
          </a:p>
          <a:p>
            <a:pPr algn="l">
              <a:lnSpc>
                <a:spcPts val="2381"/>
              </a:lnSpc>
            </a:pPr>
            <a:r>
              <a:rPr lang="en-US" sz="1701">
                <a:solidFill>
                  <a:srgbClr val="FFFFFF"/>
                </a:solidFill>
                <a:latin typeface="Roboto"/>
                <a:ea typeface="Roboto"/>
                <a:cs typeface="Roboto"/>
                <a:sym typeface="Roboto"/>
              </a:rPr>
              <a:t>Mois</a:t>
            </a:r>
          </a:p>
          <a:p>
            <a:pPr algn="l">
              <a:lnSpc>
                <a:spcPts val="2381"/>
              </a:lnSpc>
            </a:pPr>
            <a:r>
              <a:rPr lang="en-US" sz="1701">
                <a:solidFill>
                  <a:srgbClr val="FFFFFF"/>
                </a:solidFill>
                <a:latin typeface="Roboto"/>
                <a:ea typeface="Roboto"/>
                <a:cs typeface="Roboto"/>
                <a:sym typeface="Roboto"/>
              </a:rPr>
              <a:t>Trimestre</a:t>
            </a:r>
          </a:p>
        </p:txBody>
      </p:sp>
      <p:sp>
        <p:nvSpPr>
          <p:cNvPr id="16" name="TextBox 16"/>
          <p:cNvSpPr txBox="1"/>
          <p:nvPr/>
        </p:nvSpPr>
        <p:spPr>
          <a:xfrm>
            <a:off x="7958651" y="2132308"/>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DATE_TEMPS</a:t>
            </a:r>
          </a:p>
        </p:txBody>
      </p:sp>
      <p:sp>
        <p:nvSpPr>
          <p:cNvPr id="17" name="TextBox 17"/>
          <p:cNvSpPr txBox="1"/>
          <p:nvPr/>
        </p:nvSpPr>
        <p:spPr>
          <a:xfrm>
            <a:off x="11119149" y="2682003"/>
            <a:ext cx="1938882" cy="2652369"/>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order ID </a:t>
            </a:r>
          </a:p>
          <a:p>
            <a:pPr algn="l">
              <a:lnSpc>
                <a:spcPts val="2381"/>
              </a:lnSpc>
            </a:pPr>
            <a:r>
              <a:rPr lang="en-US" sz="1701">
                <a:solidFill>
                  <a:srgbClr val="FFFFFF"/>
                </a:solidFill>
                <a:latin typeface="Roboto"/>
                <a:ea typeface="Roboto"/>
                <a:cs typeface="Roboto"/>
                <a:sym typeface="Roboto"/>
              </a:rPr>
              <a:t>Ship_Date</a:t>
            </a:r>
          </a:p>
          <a:p>
            <a:pPr algn="l">
              <a:lnSpc>
                <a:spcPts val="2381"/>
              </a:lnSpc>
            </a:pPr>
            <a:r>
              <a:rPr lang="en-US" sz="1701">
                <a:solidFill>
                  <a:srgbClr val="FFFFFF"/>
                </a:solidFill>
                <a:latin typeface="Roboto"/>
                <a:ea typeface="Roboto"/>
                <a:cs typeface="Roboto"/>
                <a:sym typeface="Roboto"/>
              </a:rPr>
              <a:t>Ship_Mode</a:t>
            </a:r>
          </a:p>
          <a:p>
            <a:pPr algn="l">
              <a:lnSpc>
                <a:spcPts val="2381"/>
              </a:lnSpc>
            </a:pPr>
            <a:r>
              <a:rPr lang="en-US" sz="1701">
                <a:solidFill>
                  <a:srgbClr val="FFFFFF"/>
                </a:solidFill>
                <a:latin typeface="Roboto"/>
                <a:ea typeface="Roboto"/>
                <a:cs typeface="Roboto"/>
                <a:sym typeface="Roboto"/>
              </a:rPr>
              <a:t>Delais_Livraison</a:t>
            </a:r>
          </a:p>
          <a:p>
            <a:pPr algn="l">
              <a:lnSpc>
                <a:spcPts val="2381"/>
              </a:lnSpc>
            </a:pPr>
            <a:r>
              <a:rPr lang="en-US" sz="1701">
                <a:solidFill>
                  <a:srgbClr val="C1FF72"/>
                </a:solidFill>
                <a:latin typeface="Roboto"/>
                <a:ea typeface="Roboto"/>
                <a:cs typeface="Roboto"/>
                <a:sym typeface="Roboto"/>
              </a:rPr>
              <a:t>#Customer_ID </a:t>
            </a:r>
          </a:p>
          <a:p>
            <a:pPr algn="l">
              <a:lnSpc>
                <a:spcPts val="2381"/>
              </a:lnSpc>
            </a:pPr>
            <a:r>
              <a:rPr lang="en-US" sz="1701">
                <a:solidFill>
                  <a:srgbClr val="C1FF72"/>
                </a:solidFill>
                <a:latin typeface="Roboto"/>
                <a:ea typeface="Roboto"/>
                <a:cs typeface="Roboto"/>
                <a:sym typeface="Roboto"/>
              </a:rPr>
              <a:t>#Postal_Code </a:t>
            </a:r>
          </a:p>
          <a:p>
            <a:pPr algn="l">
              <a:lnSpc>
                <a:spcPts val="2381"/>
              </a:lnSpc>
            </a:pPr>
            <a:r>
              <a:rPr lang="en-US" sz="1701">
                <a:solidFill>
                  <a:srgbClr val="C1FF72"/>
                </a:solidFill>
                <a:latin typeface="Roboto"/>
                <a:ea typeface="Roboto"/>
                <a:cs typeface="Roboto"/>
                <a:sym typeface="Roboto"/>
              </a:rPr>
              <a:t>#Date_ID </a:t>
            </a:r>
          </a:p>
          <a:p>
            <a:pPr algn="l">
              <a:lnSpc>
                <a:spcPts val="2381"/>
              </a:lnSpc>
            </a:pPr>
            <a:endParaRPr lang="en-US" sz="1701">
              <a:solidFill>
                <a:srgbClr val="C1FF72"/>
              </a:solidFill>
              <a:latin typeface="Roboto"/>
              <a:ea typeface="Roboto"/>
              <a:cs typeface="Roboto"/>
              <a:sym typeface="Roboto"/>
            </a:endParaRPr>
          </a:p>
          <a:p>
            <a:pPr algn="l">
              <a:lnSpc>
                <a:spcPts val="2381"/>
              </a:lnSpc>
            </a:pPr>
            <a:endParaRPr lang="en-US" sz="1701">
              <a:solidFill>
                <a:srgbClr val="C1FF72"/>
              </a:solidFill>
              <a:latin typeface="Roboto"/>
              <a:ea typeface="Roboto"/>
              <a:cs typeface="Roboto"/>
              <a:sym typeface="Roboto"/>
            </a:endParaRPr>
          </a:p>
        </p:txBody>
      </p:sp>
      <p:sp>
        <p:nvSpPr>
          <p:cNvPr id="18" name="TextBox 18"/>
          <p:cNvSpPr txBox="1"/>
          <p:nvPr/>
        </p:nvSpPr>
        <p:spPr>
          <a:xfrm>
            <a:off x="11250176" y="2236219"/>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COMMANDE </a:t>
            </a:r>
          </a:p>
        </p:txBody>
      </p:sp>
      <p:sp>
        <p:nvSpPr>
          <p:cNvPr id="19" name="TextBox 19"/>
          <p:cNvSpPr txBox="1"/>
          <p:nvPr/>
        </p:nvSpPr>
        <p:spPr>
          <a:xfrm>
            <a:off x="14744049" y="2682003"/>
            <a:ext cx="1938882" cy="880719"/>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Product ID </a:t>
            </a:r>
          </a:p>
          <a:p>
            <a:pPr algn="l">
              <a:lnSpc>
                <a:spcPts val="2381"/>
              </a:lnSpc>
            </a:pPr>
            <a:r>
              <a:rPr lang="en-US" sz="1701">
                <a:solidFill>
                  <a:srgbClr val="FFFFFF"/>
                </a:solidFill>
                <a:latin typeface="Roboto"/>
                <a:ea typeface="Roboto"/>
                <a:cs typeface="Roboto"/>
                <a:sym typeface="Roboto"/>
              </a:rPr>
              <a:t>Product_Name</a:t>
            </a:r>
          </a:p>
          <a:p>
            <a:pPr algn="l">
              <a:lnSpc>
                <a:spcPts val="2381"/>
              </a:lnSpc>
            </a:pPr>
            <a:r>
              <a:rPr lang="en-US" sz="1701">
                <a:solidFill>
                  <a:srgbClr val="C1FF72"/>
                </a:solidFill>
                <a:latin typeface="Roboto"/>
                <a:ea typeface="Roboto"/>
                <a:cs typeface="Roboto"/>
                <a:sym typeface="Roboto"/>
              </a:rPr>
              <a:t>#Sub-Category</a:t>
            </a:r>
          </a:p>
        </p:txBody>
      </p:sp>
      <p:sp>
        <p:nvSpPr>
          <p:cNvPr id="20" name="TextBox 20"/>
          <p:cNvSpPr txBox="1"/>
          <p:nvPr/>
        </p:nvSpPr>
        <p:spPr>
          <a:xfrm>
            <a:off x="14875077" y="2236219"/>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PRODUITS</a:t>
            </a:r>
          </a:p>
        </p:txBody>
      </p:sp>
      <p:sp>
        <p:nvSpPr>
          <p:cNvPr id="21" name="Freeform 21"/>
          <p:cNvSpPr/>
          <p:nvPr/>
        </p:nvSpPr>
        <p:spPr>
          <a:xfrm>
            <a:off x="4278509" y="1825915"/>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AutoShape 22"/>
          <p:cNvSpPr/>
          <p:nvPr/>
        </p:nvSpPr>
        <p:spPr>
          <a:xfrm>
            <a:off x="4350363" y="2541086"/>
            <a:ext cx="2526676" cy="0"/>
          </a:xfrm>
          <a:prstGeom prst="line">
            <a:avLst/>
          </a:prstGeom>
          <a:ln w="47625" cap="flat">
            <a:solidFill>
              <a:srgbClr val="FFFFFF"/>
            </a:solidFill>
            <a:prstDash val="solid"/>
            <a:headEnd type="none" w="sm" len="sm"/>
            <a:tailEnd type="none" w="sm" len="sm"/>
          </a:ln>
        </p:spPr>
      </p:sp>
      <p:sp>
        <p:nvSpPr>
          <p:cNvPr id="23" name="TextBox 23"/>
          <p:cNvSpPr txBox="1"/>
          <p:nvPr/>
        </p:nvSpPr>
        <p:spPr>
          <a:xfrm>
            <a:off x="4667126" y="2153911"/>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LOCALISATION</a:t>
            </a:r>
          </a:p>
        </p:txBody>
      </p:sp>
      <p:sp>
        <p:nvSpPr>
          <p:cNvPr id="24" name="TextBox 24"/>
          <p:cNvSpPr txBox="1"/>
          <p:nvPr/>
        </p:nvSpPr>
        <p:spPr>
          <a:xfrm>
            <a:off x="4536099" y="2599695"/>
            <a:ext cx="1938882" cy="1175994"/>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Postal_Code</a:t>
            </a:r>
          </a:p>
          <a:p>
            <a:pPr algn="l">
              <a:lnSpc>
                <a:spcPts val="2381"/>
              </a:lnSpc>
            </a:pPr>
            <a:r>
              <a:rPr lang="en-US" sz="1701">
                <a:solidFill>
                  <a:srgbClr val="FFFFFF"/>
                </a:solidFill>
                <a:latin typeface="Roboto"/>
                <a:ea typeface="Roboto"/>
                <a:cs typeface="Roboto"/>
                <a:sym typeface="Roboto"/>
              </a:rPr>
              <a:t>City</a:t>
            </a:r>
          </a:p>
          <a:p>
            <a:pPr algn="l">
              <a:lnSpc>
                <a:spcPts val="2381"/>
              </a:lnSpc>
            </a:pPr>
            <a:r>
              <a:rPr lang="en-US" sz="1701">
                <a:solidFill>
                  <a:srgbClr val="C1FF72"/>
                </a:solidFill>
                <a:latin typeface="Roboto"/>
                <a:ea typeface="Roboto"/>
                <a:cs typeface="Roboto"/>
                <a:sym typeface="Roboto"/>
              </a:rPr>
              <a:t>#StateID</a:t>
            </a:r>
          </a:p>
          <a:p>
            <a:pPr algn="l">
              <a:lnSpc>
                <a:spcPts val="2381"/>
              </a:lnSpc>
            </a:pPr>
            <a:endParaRPr lang="en-US" sz="1701">
              <a:solidFill>
                <a:srgbClr val="C1FF72"/>
              </a:solidFill>
              <a:latin typeface="Roboto"/>
              <a:ea typeface="Roboto"/>
              <a:cs typeface="Roboto"/>
              <a:sym typeface="Roboto"/>
            </a:endParaRPr>
          </a:p>
        </p:txBody>
      </p:sp>
      <p:sp>
        <p:nvSpPr>
          <p:cNvPr id="25" name="TextBox 25"/>
          <p:cNvSpPr txBox="1"/>
          <p:nvPr/>
        </p:nvSpPr>
        <p:spPr>
          <a:xfrm>
            <a:off x="1516928" y="790891"/>
            <a:ext cx="12316534" cy="1013421"/>
          </a:xfrm>
          <a:prstGeom prst="rect">
            <a:avLst/>
          </a:prstGeom>
        </p:spPr>
        <p:txBody>
          <a:bodyPr lIns="0" tIns="0" rIns="0" bIns="0" rtlCol="0" anchor="t">
            <a:spAutoFit/>
          </a:bodyPr>
          <a:lstStyle/>
          <a:p>
            <a:pPr algn="l">
              <a:lnSpc>
                <a:spcPts val="7765"/>
              </a:lnSpc>
            </a:pPr>
            <a:r>
              <a:rPr lang="en-US" sz="7466">
                <a:solidFill>
                  <a:srgbClr val="FFFFFF"/>
                </a:solidFill>
                <a:latin typeface="League Spartan"/>
                <a:ea typeface="League Spartan"/>
                <a:cs typeface="League Spartan"/>
                <a:sym typeface="League Spartan"/>
              </a:rPr>
              <a:t>APRÈS — 3NF respectée</a:t>
            </a:r>
          </a:p>
        </p:txBody>
      </p:sp>
      <p:sp>
        <p:nvSpPr>
          <p:cNvPr id="26" name="Freeform 26"/>
          <p:cNvSpPr/>
          <p:nvPr/>
        </p:nvSpPr>
        <p:spPr>
          <a:xfrm>
            <a:off x="1129140" y="5705493"/>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7" name="AutoShape 27"/>
          <p:cNvSpPr/>
          <p:nvPr/>
        </p:nvSpPr>
        <p:spPr>
          <a:xfrm>
            <a:off x="1200994" y="6420664"/>
            <a:ext cx="2526676" cy="0"/>
          </a:xfrm>
          <a:prstGeom prst="line">
            <a:avLst/>
          </a:prstGeom>
          <a:ln w="47625" cap="flat">
            <a:solidFill>
              <a:srgbClr val="FFFFFF"/>
            </a:solidFill>
            <a:prstDash val="solid"/>
            <a:headEnd type="none" w="sm" len="sm"/>
            <a:tailEnd type="none" w="sm" len="sm"/>
          </a:ln>
        </p:spPr>
      </p:sp>
      <p:sp>
        <p:nvSpPr>
          <p:cNvPr id="28" name="Freeform 28"/>
          <p:cNvSpPr/>
          <p:nvPr/>
        </p:nvSpPr>
        <p:spPr>
          <a:xfrm>
            <a:off x="7570034" y="5601582"/>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AutoShape 29"/>
          <p:cNvSpPr/>
          <p:nvPr/>
        </p:nvSpPr>
        <p:spPr>
          <a:xfrm>
            <a:off x="7641888" y="6316753"/>
            <a:ext cx="2526676" cy="0"/>
          </a:xfrm>
          <a:prstGeom prst="line">
            <a:avLst/>
          </a:prstGeom>
          <a:ln w="47625" cap="flat">
            <a:solidFill>
              <a:srgbClr val="FFFFFF"/>
            </a:solidFill>
            <a:prstDash val="solid"/>
            <a:headEnd type="none" w="sm" len="sm"/>
            <a:tailEnd type="none" w="sm" len="sm"/>
          </a:ln>
        </p:spPr>
      </p:sp>
      <p:sp>
        <p:nvSpPr>
          <p:cNvPr id="30" name="Freeform 30"/>
          <p:cNvSpPr/>
          <p:nvPr/>
        </p:nvSpPr>
        <p:spPr>
          <a:xfrm>
            <a:off x="10861559" y="5705493"/>
            <a:ext cx="2672400" cy="3493334"/>
          </a:xfrm>
          <a:custGeom>
            <a:avLst/>
            <a:gdLst/>
            <a:ahLst/>
            <a:cxnLst/>
            <a:rect l="l" t="t" r="r" b="b"/>
            <a:pathLst>
              <a:path w="2672400" h="3493334">
                <a:moveTo>
                  <a:pt x="0" y="0"/>
                </a:moveTo>
                <a:lnTo>
                  <a:pt x="2672401" y="0"/>
                </a:lnTo>
                <a:lnTo>
                  <a:pt x="2672401"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1" name="AutoShape 31"/>
          <p:cNvSpPr/>
          <p:nvPr/>
        </p:nvSpPr>
        <p:spPr>
          <a:xfrm>
            <a:off x="10933413" y="6420664"/>
            <a:ext cx="2526676" cy="0"/>
          </a:xfrm>
          <a:prstGeom prst="line">
            <a:avLst/>
          </a:prstGeom>
          <a:ln w="47625" cap="flat">
            <a:solidFill>
              <a:srgbClr val="FFFFFF"/>
            </a:solidFill>
            <a:prstDash val="solid"/>
            <a:headEnd type="none" w="sm" len="sm"/>
            <a:tailEnd type="none" w="sm" len="sm"/>
          </a:ln>
        </p:spPr>
      </p:sp>
      <p:sp>
        <p:nvSpPr>
          <p:cNvPr id="32" name="Freeform 32"/>
          <p:cNvSpPr/>
          <p:nvPr/>
        </p:nvSpPr>
        <p:spPr>
          <a:xfrm>
            <a:off x="14486460" y="5705493"/>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3" name="AutoShape 33"/>
          <p:cNvSpPr/>
          <p:nvPr/>
        </p:nvSpPr>
        <p:spPr>
          <a:xfrm>
            <a:off x="14558313" y="6420664"/>
            <a:ext cx="2526676" cy="0"/>
          </a:xfrm>
          <a:prstGeom prst="line">
            <a:avLst/>
          </a:prstGeom>
          <a:ln w="47625" cap="flat">
            <a:solidFill>
              <a:srgbClr val="FFFFFF"/>
            </a:solidFill>
            <a:prstDash val="solid"/>
            <a:headEnd type="none" w="sm" len="sm"/>
            <a:tailEnd type="none" w="sm" len="sm"/>
          </a:ln>
        </p:spPr>
      </p:sp>
      <p:sp>
        <p:nvSpPr>
          <p:cNvPr id="34" name="TextBox 34"/>
          <p:cNvSpPr txBox="1"/>
          <p:nvPr/>
        </p:nvSpPr>
        <p:spPr>
          <a:xfrm>
            <a:off x="1386730" y="6479272"/>
            <a:ext cx="1938882" cy="585444"/>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Region_ID</a:t>
            </a:r>
          </a:p>
          <a:p>
            <a:pPr algn="l">
              <a:lnSpc>
                <a:spcPts val="2381"/>
              </a:lnSpc>
            </a:pPr>
            <a:r>
              <a:rPr lang="en-US" sz="1701">
                <a:solidFill>
                  <a:srgbClr val="FFFFFF"/>
                </a:solidFill>
                <a:latin typeface="Roboto"/>
                <a:ea typeface="Roboto"/>
                <a:cs typeface="Roboto"/>
                <a:sym typeface="Roboto"/>
              </a:rPr>
              <a:t>Region_Name</a:t>
            </a:r>
          </a:p>
        </p:txBody>
      </p:sp>
      <p:sp>
        <p:nvSpPr>
          <p:cNvPr id="35" name="TextBox 35"/>
          <p:cNvSpPr txBox="1"/>
          <p:nvPr/>
        </p:nvSpPr>
        <p:spPr>
          <a:xfrm>
            <a:off x="1517757" y="6033489"/>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REGION</a:t>
            </a:r>
          </a:p>
        </p:txBody>
      </p:sp>
      <p:sp>
        <p:nvSpPr>
          <p:cNvPr id="36" name="TextBox 36"/>
          <p:cNvSpPr txBox="1"/>
          <p:nvPr/>
        </p:nvSpPr>
        <p:spPr>
          <a:xfrm>
            <a:off x="7827624" y="6375361"/>
            <a:ext cx="2026193" cy="585444"/>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Category_ID</a:t>
            </a:r>
          </a:p>
          <a:p>
            <a:pPr algn="l">
              <a:lnSpc>
                <a:spcPts val="2381"/>
              </a:lnSpc>
            </a:pPr>
            <a:r>
              <a:rPr lang="en-US" sz="1701">
                <a:solidFill>
                  <a:srgbClr val="FFFFFF"/>
                </a:solidFill>
                <a:latin typeface="Roboto"/>
                <a:ea typeface="Roboto"/>
                <a:cs typeface="Roboto"/>
                <a:sym typeface="Roboto"/>
              </a:rPr>
              <a:t>Category_Name</a:t>
            </a:r>
          </a:p>
        </p:txBody>
      </p:sp>
      <p:sp>
        <p:nvSpPr>
          <p:cNvPr id="37" name="TextBox 37"/>
          <p:cNvSpPr txBox="1"/>
          <p:nvPr/>
        </p:nvSpPr>
        <p:spPr>
          <a:xfrm>
            <a:off x="7958651" y="5929577"/>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CATEGORIE</a:t>
            </a:r>
          </a:p>
        </p:txBody>
      </p:sp>
      <p:sp>
        <p:nvSpPr>
          <p:cNvPr id="38" name="TextBox 38"/>
          <p:cNvSpPr txBox="1"/>
          <p:nvPr/>
        </p:nvSpPr>
        <p:spPr>
          <a:xfrm>
            <a:off x="11119149" y="6479272"/>
            <a:ext cx="1938882" cy="2652369"/>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Row_ID</a:t>
            </a:r>
          </a:p>
          <a:p>
            <a:pPr algn="l">
              <a:lnSpc>
                <a:spcPts val="2381"/>
              </a:lnSpc>
            </a:pPr>
            <a:r>
              <a:rPr lang="en-US" sz="1701">
                <a:solidFill>
                  <a:srgbClr val="FFFFFF"/>
                </a:solidFill>
                <a:latin typeface="Roboto"/>
                <a:ea typeface="Roboto"/>
                <a:cs typeface="Roboto"/>
                <a:sym typeface="Roboto"/>
              </a:rPr>
              <a:t>Sales</a:t>
            </a:r>
          </a:p>
          <a:p>
            <a:pPr algn="l">
              <a:lnSpc>
                <a:spcPts val="2381"/>
              </a:lnSpc>
            </a:pPr>
            <a:r>
              <a:rPr lang="en-US" sz="1701">
                <a:solidFill>
                  <a:srgbClr val="FFFFFF"/>
                </a:solidFill>
                <a:latin typeface="Roboto"/>
                <a:ea typeface="Roboto"/>
                <a:cs typeface="Roboto"/>
                <a:sym typeface="Roboto"/>
              </a:rPr>
              <a:t>Quantity</a:t>
            </a:r>
          </a:p>
          <a:p>
            <a:pPr algn="l">
              <a:lnSpc>
                <a:spcPts val="2381"/>
              </a:lnSpc>
            </a:pPr>
            <a:r>
              <a:rPr lang="en-US" sz="1701">
                <a:solidFill>
                  <a:srgbClr val="FFFFFF"/>
                </a:solidFill>
                <a:latin typeface="Roboto"/>
                <a:ea typeface="Roboto"/>
                <a:cs typeface="Roboto"/>
                <a:sym typeface="Roboto"/>
              </a:rPr>
              <a:t>Marge_Relative</a:t>
            </a:r>
          </a:p>
          <a:p>
            <a:pPr algn="l">
              <a:lnSpc>
                <a:spcPts val="2381"/>
              </a:lnSpc>
            </a:pPr>
            <a:r>
              <a:rPr lang="en-US" sz="1701">
                <a:solidFill>
                  <a:srgbClr val="FFFFFF"/>
                </a:solidFill>
                <a:latin typeface="Roboto"/>
                <a:ea typeface="Roboto"/>
                <a:cs typeface="Roboto"/>
                <a:sym typeface="Roboto"/>
              </a:rPr>
              <a:t>Taux_Profit_Estime</a:t>
            </a:r>
          </a:p>
          <a:p>
            <a:pPr algn="l">
              <a:lnSpc>
                <a:spcPts val="2381"/>
              </a:lnSpc>
            </a:pPr>
            <a:r>
              <a:rPr lang="en-US" sz="1701">
                <a:solidFill>
                  <a:srgbClr val="FFFFFF"/>
                </a:solidFill>
                <a:latin typeface="Roboto"/>
                <a:ea typeface="Roboto"/>
                <a:cs typeface="Roboto"/>
                <a:sym typeface="Roboto"/>
              </a:rPr>
              <a:t>Ratio_Qte_Sales</a:t>
            </a:r>
          </a:p>
          <a:p>
            <a:pPr algn="l">
              <a:lnSpc>
                <a:spcPts val="2381"/>
              </a:lnSpc>
            </a:pPr>
            <a:r>
              <a:rPr lang="en-US" sz="1701">
                <a:solidFill>
                  <a:srgbClr val="C1FF72"/>
                </a:solidFill>
                <a:latin typeface="Roboto"/>
                <a:ea typeface="Roboto"/>
                <a:cs typeface="Roboto"/>
                <a:sym typeface="Roboto"/>
              </a:rPr>
              <a:t>#Product ID </a:t>
            </a:r>
          </a:p>
          <a:p>
            <a:pPr algn="l">
              <a:lnSpc>
                <a:spcPts val="2381"/>
              </a:lnSpc>
            </a:pPr>
            <a:r>
              <a:rPr lang="en-US" sz="1701">
                <a:solidFill>
                  <a:srgbClr val="C1FF72"/>
                </a:solidFill>
                <a:latin typeface="Roboto"/>
                <a:ea typeface="Roboto"/>
                <a:cs typeface="Roboto"/>
                <a:sym typeface="Roboto"/>
              </a:rPr>
              <a:t>#Order ID</a:t>
            </a:r>
          </a:p>
          <a:p>
            <a:pPr algn="l">
              <a:lnSpc>
                <a:spcPts val="2381"/>
              </a:lnSpc>
            </a:pPr>
            <a:endParaRPr lang="en-US" sz="1701">
              <a:solidFill>
                <a:srgbClr val="C1FF72"/>
              </a:solidFill>
              <a:latin typeface="Roboto"/>
              <a:ea typeface="Roboto"/>
              <a:cs typeface="Roboto"/>
              <a:sym typeface="Roboto"/>
            </a:endParaRPr>
          </a:p>
        </p:txBody>
      </p:sp>
      <p:sp>
        <p:nvSpPr>
          <p:cNvPr id="39" name="TextBox 39"/>
          <p:cNvSpPr txBox="1"/>
          <p:nvPr/>
        </p:nvSpPr>
        <p:spPr>
          <a:xfrm>
            <a:off x="11250176" y="6033489"/>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VENTES</a:t>
            </a:r>
          </a:p>
        </p:txBody>
      </p:sp>
      <p:sp>
        <p:nvSpPr>
          <p:cNvPr id="40" name="TextBox 40"/>
          <p:cNvSpPr txBox="1"/>
          <p:nvPr/>
        </p:nvSpPr>
        <p:spPr>
          <a:xfrm>
            <a:off x="14744049" y="6479272"/>
            <a:ext cx="2026193" cy="880719"/>
          </a:xfrm>
          <a:prstGeom prst="rect">
            <a:avLst/>
          </a:prstGeom>
        </p:spPr>
        <p:txBody>
          <a:bodyPr lIns="0" tIns="0" rIns="0" bIns="0" rtlCol="0" anchor="t">
            <a:spAutoFit/>
          </a:bodyPr>
          <a:lstStyle/>
          <a:p>
            <a:pPr algn="l">
              <a:lnSpc>
                <a:spcPts val="2381"/>
              </a:lnSpc>
            </a:pPr>
            <a:r>
              <a:rPr lang="en-US" sz="1701">
                <a:solidFill>
                  <a:srgbClr val="66E3FF"/>
                </a:solidFill>
                <a:latin typeface="Roboto"/>
                <a:ea typeface="Roboto"/>
                <a:cs typeface="Roboto"/>
                <a:sym typeface="Roboto"/>
              </a:rPr>
              <a:t>Sub_Category_ID</a:t>
            </a:r>
          </a:p>
          <a:p>
            <a:pPr algn="l">
              <a:lnSpc>
                <a:spcPts val="2381"/>
              </a:lnSpc>
            </a:pPr>
            <a:r>
              <a:rPr lang="en-US" sz="1701">
                <a:solidFill>
                  <a:srgbClr val="FFFFFF"/>
                </a:solidFill>
                <a:latin typeface="Roboto"/>
                <a:ea typeface="Roboto"/>
                <a:cs typeface="Roboto"/>
                <a:sym typeface="Roboto"/>
              </a:rPr>
              <a:t>Sub_Category_Name</a:t>
            </a:r>
          </a:p>
          <a:p>
            <a:pPr algn="l">
              <a:lnSpc>
                <a:spcPts val="2381"/>
              </a:lnSpc>
            </a:pPr>
            <a:r>
              <a:rPr lang="en-US" sz="1701" u="sng">
                <a:solidFill>
                  <a:srgbClr val="C1FF72"/>
                </a:solidFill>
                <a:latin typeface="Roboto"/>
                <a:ea typeface="Roboto"/>
                <a:cs typeface="Roboto"/>
                <a:sym typeface="Roboto"/>
              </a:rPr>
              <a:t>#Category_ID</a:t>
            </a:r>
          </a:p>
        </p:txBody>
      </p:sp>
      <p:sp>
        <p:nvSpPr>
          <p:cNvPr id="41" name="TextBox 41"/>
          <p:cNvSpPr txBox="1"/>
          <p:nvPr/>
        </p:nvSpPr>
        <p:spPr>
          <a:xfrm>
            <a:off x="14708673" y="6008359"/>
            <a:ext cx="2227973" cy="261938"/>
          </a:xfrm>
          <a:prstGeom prst="rect">
            <a:avLst/>
          </a:prstGeom>
        </p:spPr>
        <p:txBody>
          <a:bodyPr lIns="0" tIns="0" rIns="0" bIns="0" rtlCol="0" anchor="t">
            <a:spAutoFit/>
          </a:bodyPr>
          <a:lstStyle/>
          <a:p>
            <a:pPr algn="ctr">
              <a:lnSpc>
                <a:spcPts val="1846"/>
              </a:lnSpc>
            </a:pPr>
            <a:r>
              <a:rPr lang="en-US" sz="2308" spc="46">
                <a:solidFill>
                  <a:srgbClr val="47CDD6"/>
                </a:solidFill>
                <a:latin typeface="Gagalin"/>
                <a:ea typeface="Gagalin"/>
                <a:cs typeface="Gagalin"/>
                <a:sym typeface="Gagalin"/>
              </a:rPr>
              <a:t>SOUS_CATEGORIE</a:t>
            </a:r>
          </a:p>
        </p:txBody>
      </p:sp>
      <p:sp>
        <p:nvSpPr>
          <p:cNvPr id="42" name="Freeform 42"/>
          <p:cNvSpPr/>
          <p:nvPr/>
        </p:nvSpPr>
        <p:spPr>
          <a:xfrm>
            <a:off x="4278509" y="5623185"/>
            <a:ext cx="2672400" cy="3493334"/>
          </a:xfrm>
          <a:custGeom>
            <a:avLst/>
            <a:gdLst/>
            <a:ahLst/>
            <a:cxnLst/>
            <a:rect l="l" t="t" r="r" b="b"/>
            <a:pathLst>
              <a:path w="2672400" h="3493334">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3" name="AutoShape 43"/>
          <p:cNvSpPr/>
          <p:nvPr/>
        </p:nvSpPr>
        <p:spPr>
          <a:xfrm>
            <a:off x="4350363" y="6338356"/>
            <a:ext cx="2526676" cy="0"/>
          </a:xfrm>
          <a:prstGeom prst="line">
            <a:avLst/>
          </a:prstGeom>
          <a:ln w="47625" cap="flat">
            <a:solidFill>
              <a:srgbClr val="FFFFFF"/>
            </a:solidFill>
            <a:prstDash val="solid"/>
            <a:headEnd type="none" w="sm" len="sm"/>
            <a:tailEnd type="none" w="sm" len="sm"/>
          </a:ln>
        </p:spPr>
      </p:sp>
      <p:sp>
        <p:nvSpPr>
          <p:cNvPr id="44" name="TextBox 44"/>
          <p:cNvSpPr txBox="1"/>
          <p:nvPr/>
        </p:nvSpPr>
        <p:spPr>
          <a:xfrm>
            <a:off x="4667126" y="5951180"/>
            <a:ext cx="1895166" cy="286320"/>
          </a:xfrm>
          <a:prstGeom prst="rect">
            <a:avLst/>
          </a:prstGeom>
        </p:spPr>
        <p:txBody>
          <a:bodyPr lIns="0" tIns="0" rIns="0" bIns="0" rtlCol="0" anchor="t">
            <a:spAutoFit/>
          </a:bodyPr>
          <a:lstStyle/>
          <a:p>
            <a:pPr algn="ctr">
              <a:lnSpc>
                <a:spcPts val="1976"/>
              </a:lnSpc>
            </a:pPr>
            <a:r>
              <a:rPr lang="en-US" sz="2470" spc="49">
                <a:solidFill>
                  <a:srgbClr val="47CDD6"/>
                </a:solidFill>
                <a:latin typeface="Gagalin"/>
                <a:ea typeface="Gagalin"/>
                <a:cs typeface="Gagalin"/>
                <a:sym typeface="Gagalin"/>
              </a:rPr>
              <a:t>ETAT</a:t>
            </a:r>
          </a:p>
        </p:txBody>
      </p:sp>
      <p:sp>
        <p:nvSpPr>
          <p:cNvPr id="45" name="TextBox 45"/>
          <p:cNvSpPr txBox="1"/>
          <p:nvPr/>
        </p:nvSpPr>
        <p:spPr>
          <a:xfrm>
            <a:off x="4536099" y="6396964"/>
            <a:ext cx="1938882" cy="1175994"/>
          </a:xfrm>
          <a:prstGeom prst="rect">
            <a:avLst/>
          </a:prstGeom>
        </p:spPr>
        <p:txBody>
          <a:bodyPr lIns="0" tIns="0" rIns="0" bIns="0" rtlCol="0" anchor="t">
            <a:spAutoFit/>
          </a:bodyPr>
          <a:lstStyle/>
          <a:p>
            <a:pPr algn="l">
              <a:lnSpc>
                <a:spcPts val="2381"/>
              </a:lnSpc>
            </a:pPr>
            <a:r>
              <a:rPr lang="en-US" sz="1701" u="sng">
                <a:solidFill>
                  <a:srgbClr val="66E3FF"/>
                </a:solidFill>
                <a:latin typeface="Roboto"/>
                <a:ea typeface="Roboto"/>
                <a:cs typeface="Roboto"/>
                <a:sym typeface="Roboto"/>
              </a:rPr>
              <a:t>State_ID</a:t>
            </a:r>
          </a:p>
          <a:p>
            <a:pPr algn="l">
              <a:lnSpc>
                <a:spcPts val="2381"/>
              </a:lnSpc>
            </a:pPr>
            <a:r>
              <a:rPr lang="en-US" sz="1701">
                <a:solidFill>
                  <a:srgbClr val="FFFFFF"/>
                </a:solidFill>
                <a:latin typeface="Roboto"/>
                <a:ea typeface="Roboto"/>
                <a:cs typeface="Roboto"/>
                <a:sym typeface="Roboto"/>
              </a:rPr>
              <a:t>State_Name</a:t>
            </a:r>
          </a:p>
          <a:p>
            <a:pPr algn="l">
              <a:lnSpc>
                <a:spcPts val="2381"/>
              </a:lnSpc>
            </a:pPr>
            <a:r>
              <a:rPr lang="en-US" sz="1701">
                <a:solidFill>
                  <a:srgbClr val="FFFFFF"/>
                </a:solidFill>
                <a:latin typeface="Roboto"/>
                <a:ea typeface="Roboto"/>
                <a:cs typeface="Roboto"/>
                <a:sym typeface="Roboto"/>
              </a:rPr>
              <a:t>Country</a:t>
            </a:r>
          </a:p>
          <a:p>
            <a:pPr algn="l">
              <a:lnSpc>
                <a:spcPts val="2381"/>
              </a:lnSpc>
            </a:pPr>
            <a:r>
              <a:rPr lang="en-US" sz="1701">
                <a:solidFill>
                  <a:srgbClr val="C1FF72"/>
                </a:solidFill>
                <a:latin typeface="Roboto"/>
                <a:ea typeface="Roboto"/>
                <a:cs typeface="Roboto"/>
                <a:sym typeface="Roboto"/>
              </a:rPr>
              <a:t>#Region_ID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598</Words>
  <Application>Microsoft Office PowerPoint</Application>
  <PresentationFormat>Personnalisé</PresentationFormat>
  <Paragraphs>135</Paragraphs>
  <Slides>7</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7</vt:i4>
      </vt:variant>
    </vt:vector>
  </HeadingPairs>
  <TitlesOfParts>
    <vt:vector size="15" baseType="lpstr">
      <vt:lpstr>League Spartan</vt:lpstr>
      <vt:lpstr>Questrial</vt:lpstr>
      <vt:lpstr>Some Time Later</vt:lpstr>
      <vt:lpstr>Gagalin</vt:lpstr>
      <vt:lpstr>Roboto</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postgres merise</dc:title>
  <cp:lastModifiedBy>charaf soubi</cp:lastModifiedBy>
  <cp:revision>3</cp:revision>
  <dcterms:created xsi:type="dcterms:W3CDTF">2006-08-16T00:00:00Z</dcterms:created>
  <dcterms:modified xsi:type="dcterms:W3CDTF">2026-03-27T15:50:33Z</dcterms:modified>
  <dc:identifier>DAHCy8Ncbtw</dc:identifier>
</cp:coreProperties>
</file>