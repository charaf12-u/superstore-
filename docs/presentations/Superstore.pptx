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ileron Bold" panose="020B0604020202020204" charset="0"/>
      <p:regular r:id="rId12"/>
    </p:embeddedFont>
    <p:embeddedFont>
      <p:font typeface="Aileron Heavy" panose="020B0604020202020204" charset="0"/>
      <p:regular r:id="rId13"/>
    </p:embeddedFont>
    <p:embeddedFont>
      <p:font typeface="Work Sans" panose="020F0502020204030204" pitchFamily="2" charset="0"/>
      <p:regular r:id="rId14"/>
    </p:embeddedFont>
    <p:embeddedFont>
      <p:font typeface="Work Sans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1236"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svg"/><Relationship Id="rId9" Type="http://schemas.openxmlformats.org/officeDocument/2006/relationships/image" Target="../media/image14.sv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3.svg"/><Relationship Id="rId9" Type="http://schemas.openxmlformats.org/officeDocument/2006/relationships/image" Target="../media/image19.sv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22.png"/><Relationship Id="rId10" Type="http://schemas.openxmlformats.org/officeDocument/2006/relationships/image" Target="../media/image20.png"/><Relationship Id="rId4" Type="http://schemas.openxmlformats.org/officeDocument/2006/relationships/image" Target="../media/image3.svg"/><Relationship Id="rId9" Type="http://schemas.openxmlformats.org/officeDocument/2006/relationships/image" Target="../media/image19.sv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23.png"/><Relationship Id="rId10" Type="http://schemas.openxmlformats.org/officeDocument/2006/relationships/image" Target="../media/image20.png"/><Relationship Id="rId4" Type="http://schemas.openxmlformats.org/officeDocument/2006/relationships/image" Target="../media/image3.svg"/><Relationship Id="rId9" Type="http://schemas.openxmlformats.org/officeDocument/2006/relationships/image" Target="../media/image19.sv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24.png"/><Relationship Id="rId10" Type="http://schemas.openxmlformats.org/officeDocument/2006/relationships/image" Target="../media/image20.png"/><Relationship Id="rId4" Type="http://schemas.openxmlformats.org/officeDocument/2006/relationships/image" Target="../media/image3.svg"/><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3.svg"/><Relationship Id="rId9" Type="http://schemas.openxmlformats.org/officeDocument/2006/relationships/image" Target="../media/image19.sv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26.png"/><Relationship Id="rId10" Type="http://schemas.openxmlformats.org/officeDocument/2006/relationships/image" Target="../media/image20.png"/><Relationship Id="rId4" Type="http://schemas.openxmlformats.org/officeDocument/2006/relationships/image" Target="../media/image3.svg"/><Relationship Id="rId9" Type="http://schemas.openxmlformats.org/officeDocument/2006/relationships/image" Target="../media/image19.sv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27.png"/><Relationship Id="rId10" Type="http://schemas.openxmlformats.org/officeDocument/2006/relationships/image" Target="../media/image20.png"/><Relationship Id="rId4" Type="http://schemas.openxmlformats.org/officeDocument/2006/relationships/image" Target="../media/image3.svg"/><Relationship Id="rId9" Type="http://schemas.openxmlformats.org/officeDocument/2006/relationships/image" Target="../media/image19.svg"/></Relationships>
</file>

<file path=ppt/slides/_rels/slide10.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sp>
        <p:nvSpPr>
          <p:cNvPr id="3" name="Freeform 3"/>
          <p:cNvSpPr/>
          <p:nvPr/>
        </p:nvSpPr>
        <p:spPr>
          <a:xfrm>
            <a:off x="15923816" y="-2052828"/>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5417611" y="649405"/>
            <a:ext cx="7204506" cy="7451155"/>
          </a:xfrm>
          <a:custGeom>
            <a:avLst/>
            <a:gdLst/>
            <a:ahLst/>
            <a:cxnLst/>
            <a:rect l="l" t="t" r="r" b="b"/>
            <a:pathLst>
              <a:path w="7204506" h="7451155">
                <a:moveTo>
                  <a:pt x="0" y="0"/>
                </a:moveTo>
                <a:lnTo>
                  <a:pt x="7204506" y="0"/>
                </a:lnTo>
                <a:lnTo>
                  <a:pt x="7204506" y="7451155"/>
                </a:lnTo>
                <a:lnTo>
                  <a:pt x="0" y="7451155"/>
                </a:lnTo>
                <a:lnTo>
                  <a:pt x="0" y="0"/>
                </a:lnTo>
                <a:close/>
              </a:path>
            </a:pathLst>
          </a:custGeom>
          <a:blipFill>
            <a:blip r:embed="rId5">
              <a:alphaModFix amt="6999"/>
              <a:extLst>
                <a:ext uri="{96DAC541-7B7A-43D3-8B79-37D633B846F1}">
                  <asvg:svgBlip xmlns:asvg="http://schemas.microsoft.com/office/drawing/2016/SVG/main" r:embed="rId6"/>
                </a:ext>
              </a:extLst>
            </a:blip>
            <a:stretch>
              <a:fillRect l="-2369" t="-2280" r="-3412"/>
            </a:stretch>
          </a:blipFill>
        </p:spPr>
      </p:sp>
      <p:sp>
        <p:nvSpPr>
          <p:cNvPr id="5" name="TextBox 5"/>
          <p:cNvSpPr txBox="1"/>
          <p:nvPr/>
        </p:nvSpPr>
        <p:spPr>
          <a:xfrm>
            <a:off x="3679471" y="2405253"/>
            <a:ext cx="16230600" cy="4866014"/>
          </a:xfrm>
          <a:prstGeom prst="rect">
            <a:avLst/>
          </a:prstGeom>
        </p:spPr>
        <p:txBody>
          <a:bodyPr lIns="0" tIns="0" rIns="0" bIns="0" rtlCol="0" anchor="t">
            <a:spAutoFit/>
          </a:bodyPr>
          <a:lstStyle/>
          <a:p>
            <a:pPr algn="l">
              <a:lnSpc>
                <a:spcPts val="18700"/>
              </a:lnSpc>
            </a:pPr>
            <a:r>
              <a:rPr lang="en-US" sz="18700" b="1" spc="-1028">
                <a:solidFill>
                  <a:srgbClr val="FFFFFF"/>
                </a:solidFill>
                <a:latin typeface="Aileron Heavy"/>
                <a:ea typeface="Aileron Heavy"/>
                <a:cs typeface="Aileron Heavy"/>
                <a:sym typeface="Aileron Heavy"/>
              </a:rPr>
              <a:t>Superstore </a:t>
            </a:r>
          </a:p>
          <a:p>
            <a:pPr algn="l">
              <a:lnSpc>
                <a:spcPts val="18700"/>
              </a:lnSpc>
            </a:pPr>
            <a:endParaRPr lang="en-US" sz="18700" b="1" spc="-1028">
              <a:solidFill>
                <a:srgbClr val="FFFFFF"/>
              </a:solidFill>
              <a:latin typeface="Aileron Heavy"/>
              <a:ea typeface="Aileron Heavy"/>
              <a:cs typeface="Aileron Heavy"/>
              <a:sym typeface="Aileron Heavy"/>
            </a:endParaRPr>
          </a:p>
        </p:txBody>
      </p:sp>
      <p:grpSp>
        <p:nvGrpSpPr>
          <p:cNvPr id="6" name="Group 6"/>
          <p:cNvGrpSpPr>
            <a:grpSpLocks noChangeAspect="1"/>
          </p:cNvGrpSpPr>
          <p:nvPr/>
        </p:nvGrpSpPr>
        <p:grpSpPr>
          <a:xfrm rot="-946375">
            <a:off x="5229843" y="4167938"/>
            <a:ext cx="7828314" cy="4490226"/>
            <a:chOff x="0" y="0"/>
            <a:chExt cx="7981950" cy="4578350"/>
          </a:xfrm>
        </p:grpSpPr>
        <p:sp>
          <p:nvSpPr>
            <p:cNvPr id="7" name="Freeform 7"/>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8" name="Freeform 8"/>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id="9" name="Freeform 9"/>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id="10" name="Freeform 10"/>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id="11" name="Freeform 11"/>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7"/>
              <a:stretch>
                <a:fillRect l="-7991" r="-7991"/>
              </a:stretch>
            </a:blipFill>
          </p:spPr>
        </p:sp>
      </p:grpSp>
      <p:sp>
        <p:nvSpPr>
          <p:cNvPr id="12" name="TextBox 12"/>
          <p:cNvSpPr txBox="1"/>
          <p:nvPr/>
        </p:nvSpPr>
        <p:spPr>
          <a:xfrm>
            <a:off x="3679471" y="2405253"/>
            <a:ext cx="16230600" cy="4866014"/>
          </a:xfrm>
          <a:prstGeom prst="rect">
            <a:avLst/>
          </a:prstGeom>
        </p:spPr>
        <p:txBody>
          <a:bodyPr lIns="0" tIns="0" rIns="0" bIns="0" rtlCol="0" anchor="t">
            <a:spAutoFit/>
          </a:bodyPr>
          <a:lstStyle/>
          <a:p>
            <a:pPr algn="l">
              <a:lnSpc>
                <a:spcPts val="18700"/>
              </a:lnSpc>
            </a:pPr>
            <a:r>
              <a:rPr lang="en-US" sz="18700" b="1" spc="-1028">
                <a:solidFill>
                  <a:srgbClr val="FFFFFF"/>
                </a:solidFill>
                <a:latin typeface="Aileron Heavy"/>
                <a:ea typeface="Aileron Heavy"/>
                <a:cs typeface="Aileron Heavy"/>
                <a:sym typeface="Aileron Heavy"/>
              </a:rPr>
              <a:t>Superstore </a:t>
            </a:r>
          </a:p>
          <a:p>
            <a:pPr algn="l">
              <a:lnSpc>
                <a:spcPts val="18700"/>
              </a:lnSpc>
            </a:pPr>
            <a:endParaRPr lang="en-US" sz="18700" b="1" spc="-1028">
              <a:solidFill>
                <a:srgbClr val="FFFFFF"/>
              </a:solidFill>
              <a:latin typeface="Aileron Heavy"/>
              <a:ea typeface="Aileron Heavy"/>
              <a:cs typeface="Aileron Heavy"/>
              <a:sym typeface="Aileron Heavy"/>
            </a:endParaRPr>
          </a:p>
        </p:txBody>
      </p:sp>
      <p:sp>
        <p:nvSpPr>
          <p:cNvPr id="13" name="Freeform 13"/>
          <p:cNvSpPr/>
          <p:nvPr/>
        </p:nvSpPr>
        <p:spPr>
          <a:xfrm>
            <a:off x="13890302" y="5866340"/>
            <a:ext cx="5691114" cy="6089713"/>
          </a:xfrm>
          <a:custGeom>
            <a:avLst/>
            <a:gdLst/>
            <a:ahLst/>
            <a:cxnLst/>
            <a:rect l="l" t="t" r="r" b="b"/>
            <a:pathLst>
              <a:path w="5691114" h="6089713">
                <a:moveTo>
                  <a:pt x="0" y="0"/>
                </a:moveTo>
                <a:lnTo>
                  <a:pt x="5691114" y="0"/>
                </a:lnTo>
                <a:lnTo>
                  <a:pt x="5691114" y="6089713"/>
                </a:lnTo>
                <a:lnTo>
                  <a:pt x="0" y="6089713"/>
                </a:lnTo>
                <a:lnTo>
                  <a:pt x="0" y="0"/>
                </a:lnTo>
                <a:close/>
              </a:path>
            </a:pathLst>
          </a:custGeom>
          <a:blipFill>
            <a:blip r:embed="rId8"/>
            <a:stretch>
              <a:fillRect/>
            </a:stretch>
          </a:blipFill>
        </p:spPr>
      </p:sp>
      <p:sp>
        <p:nvSpPr>
          <p:cNvPr id="14" name="Freeform 14"/>
          <p:cNvSpPr/>
          <p:nvPr/>
        </p:nvSpPr>
        <p:spPr>
          <a:xfrm flipH="1">
            <a:off x="-3693679" y="-4714287"/>
            <a:ext cx="5691114" cy="6089713"/>
          </a:xfrm>
          <a:custGeom>
            <a:avLst/>
            <a:gdLst/>
            <a:ahLst/>
            <a:cxnLst/>
            <a:rect l="l" t="t" r="r" b="b"/>
            <a:pathLst>
              <a:path w="5691114" h="6089713">
                <a:moveTo>
                  <a:pt x="5691114" y="0"/>
                </a:moveTo>
                <a:lnTo>
                  <a:pt x="0" y="0"/>
                </a:lnTo>
                <a:lnTo>
                  <a:pt x="0" y="6089713"/>
                </a:lnTo>
                <a:lnTo>
                  <a:pt x="5691114" y="6089713"/>
                </a:lnTo>
                <a:lnTo>
                  <a:pt x="5691114" y="0"/>
                </a:lnTo>
                <a:close/>
              </a:path>
            </a:pathLst>
          </a:custGeom>
          <a:blipFill>
            <a:blip r:embed="rId8"/>
            <a:stretch>
              <a:fillRect/>
            </a:stretch>
          </a:blipFill>
        </p:spPr>
      </p:sp>
      <p:sp>
        <p:nvSpPr>
          <p:cNvPr id="15" name="AutoShape 15"/>
          <p:cNvSpPr/>
          <p:nvPr/>
        </p:nvSpPr>
        <p:spPr>
          <a:xfrm>
            <a:off x="1236753" y="8276102"/>
            <a:ext cx="2442718" cy="0"/>
          </a:xfrm>
          <a:prstGeom prst="line">
            <a:avLst/>
          </a:prstGeom>
          <a:ln w="19050" cap="flat">
            <a:solidFill>
              <a:srgbClr val="FFFFFF"/>
            </a:solidFill>
            <a:prstDash val="solid"/>
            <a:headEnd type="none" w="sm" len="sm"/>
            <a:tailEnd type="none" w="sm" len="sm"/>
          </a:ln>
        </p:spPr>
      </p:sp>
      <p:grpSp>
        <p:nvGrpSpPr>
          <p:cNvPr id="16" name="Group 16"/>
          <p:cNvGrpSpPr/>
          <p:nvPr/>
        </p:nvGrpSpPr>
        <p:grpSpPr>
          <a:xfrm>
            <a:off x="1028700" y="961545"/>
            <a:ext cx="3738246" cy="827761"/>
            <a:chOff x="0" y="0"/>
            <a:chExt cx="984559" cy="218011"/>
          </a:xfrm>
        </p:grpSpPr>
        <p:sp>
          <p:nvSpPr>
            <p:cNvPr id="17" name="Freeform 17"/>
            <p:cNvSpPr/>
            <p:nvPr/>
          </p:nvSpPr>
          <p:spPr>
            <a:xfrm>
              <a:off x="0" y="0"/>
              <a:ext cx="984559" cy="218011"/>
            </a:xfrm>
            <a:custGeom>
              <a:avLst/>
              <a:gdLst/>
              <a:ahLst/>
              <a:cxnLst/>
              <a:rect l="l" t="t" r="r" b="b"/>
              <a:pathLst>
                <a:path w="984559" h="218011">
                  <a:moveTo>
                    <a:pt x="109006" y="0"/>
                  </a:moveTo>
                  <a:lnTo>
                    <a:pt x="875553" y="0"/>
                  </a:lnTo>
                  <a:cubicBezTo>
                    <a:pt x="935755" y="0"/>
                    <a:pt x="984559" y="48803"/>
                    <a:pt x="984559" y="109006"/>
                  </a:cubicBezTo>
                  <a:lnTo>
                    <a:pt x="984559" y="109006"/>
                  </a:lnTo>
                  <a:cubicBezTo>
                    <a:pt x="984559" y="137916"/>
                    <a:pt x="973074" y="165642"/>
                    <a:pt x="952632" y="186084"/>
                  </a:cubicBezTo>
                  <a:cubicBezTo>
                    <a:pt x="932189" y="206527"/>
                    <a:pt x="904463" y="218011"/>
                    <a:pt x="875553" y="218011"/>
                  </a:cubicBezTo>
                  <a:lnTo>
                    <a:pt x="109006" y="218011"/>
                  </a:lnTo>
                  <a:cubicBezTo>
                    <a:pt x="48803" y="218011"/>
                    <a:pt x="0" y="169208"/>
                    <a:pt x="0" y="109006"/>
                  </a:cubicBezTo>
                  <a:lnTo>
                    <a:pt x="0" y="109006"/>
                  </a:lnTo>
                  <a:cubicBezTo>
                    <a:pt x="0" y="48803"/>
                    <a:pt x="48803" y="0"/>
                    <a:pt x="109006" y="0"/>
                  </a:cubicBezTo>
                  <a:close/>
                </a:path>
              </a:pathLst>
            </a:custGeom>
            <a:solidFill>
              <a:srgbClr val="FF684C"/>
            </a:solidFill>
          </p:spPr>
        </p:sp>
        <p:sp>
          <p:nvSpPr>
            <p:cNvPr id="18" name="TextBox 18"/>
            <p:cNvSpPr txBox="1"/>
            <p:nvPr/>
          </p:nvSpPr>
          <p:spPr>
            <a:xfrm>
              <a:off x="0" y="-85725"/>
              <a:ext cx="984559" cy="303736"/>
            </a:xfrm>
            <a:prstGeom prst="rect">
              <a:avLst/>
            </a:prstGeom>
          </p:spPr>
          <p:txBody>
            <a:bodyPr lIns="50800" tIns="50800" rIns="50800" bIns="50800" rtlCol="0" anchor="ctr"/>
            <a:lstStyle/>
            <a:p>
              <a:pPr algn="ctr">
                <a:lnSpc>
                  <a:spcPts val="5040"/>
                </a:lnSpc>
              </a:pPr>
              <a:r>
                <a:rPr lang="en-US" sz="3600" b="1">
                  <a:solidFill>
                    <a:srgbClr val="FFFFFF"/>
                  </a:solidFill>
                  <a:latin typeface="Work Sans Bold"/>
                  <a:ea typeface="Work Sans Bold"/>
                  <a:cs typeface="Work Sans Bold"/>
                  <a:sym typeface="Work Sans Bold"/>
                </a:rPr>
                <a:t>DATA Analyst</a:t>
              </a:r>
            </a:p>
          </p:txBody>
        </p:sp>
      </p:grpSp>
      <p:sp>
        <p:nvSpPr>
          <p:cNvPr id="19" name="Freeform 19"/>
          <p:cNvSpPr/>
          <p:nvPr/>
        </p:nvSpPr>
        <p:spPr>
          <a:xfrm>
            <a:off x="9685425" y="2985151"/>
            <a:ext cx="313076" cy="313076"/>
          </a:xfrm>
          <a:custGeom>
            <a:avLst/>
            <a:gdLst/>
            <a:ahLst/>
            <a:cxnLst/>
            <a:rect l="l" t="t" r="r" b="b"/>
            <a:pathLst>
              <a:path w="313076" h="313076">
                <a:moveTo>
                  <a:pt x="0" y="0"/>
                </a:moveTo>
                <a:lnTo>
                  <a:pt x="313076" y="0"/>
                </a:lnTo>
                <a:lnTo>
                  <a:pt x="313076" y="313076"/>
                </a:lnTo>
                <a:lnTo>
                  <a:pt x="0" y="313076"/>
                </a:lnTo>
                <a:lnTo>
                  <a:pt x="0" y="0"/>
                </a:lnTo>
                <a:close/>
              </a:path>
            </a:pathLst>
          </a:custGeom>
          <a:blipFill>
            <a:blip r:embed="rId9">
              <a:alphaModFix amt="24000"/>
              <a:extLst>
                <a:ext uri="{96DAC541-7B7A-43D3-8B79-37D633B846F1}">
                  <asvg:svgBlip xmlns:asvg="http://schemas.microsoft.com/office/drawing/2016/SVG/main" r:embed="rId10"/>
                </a:ext>
              </a:extLst>
            </a:blip>
            <a:stretch>
              <a:fillRect/>
            </a:stretch>
          </a:blipFill>
        </p:spPr>
      </p:sp>
      <p:sp>
        <p:nvSpPr>
          <p:cNvPr id="20" name="Freeform 20"/>
          <p:cNvSpPr/>
          <p:nvPr/>
        </p:nvSpPr>
        <p:spPr>
          <a:xfrm>
            <a:off x="11231385" y="3046856"/>
            <a:ext cx="216111" cy="216111"/>
          </a:xfrm>
          <a:custGeom>
            <a:avLst/>
            <a:gdLst/>
            <a:ahLst/>
            <a:cxnLst/>
            <a:rect l="l" t="t" r="r" b="b"/>
            <a:pathLst>
              <a:path w="216111" h="216111">
                <a:moveTo>
                  <a:pt x="0" y="0"/>
                </a:moveTo>
                <a:lnTo>
                  <a:pt x="216111" y="0"/>
                </a:lnTo>
                <a:lnTo>
                  <a:pt x="216111" y="216111"/>
                </a:lnTo>
                <a:lnTo>
                  <a:pt x="0" y="216111"/>
                </a:lnTo>
                <a:lnTo>
                  <a:pt x="0" y="0"/>
                </a:lnTo>
                <a:close/>
              </a:path>
            </a:pathLst>
          </a:custGeom>
          <a:blipFill>
            <a:blip r:embed="rId9">
              <a:alphaModFix amt="24000"/>
              <a:extLst>
                <a:ext uri="{96DAC541-7B7A-43D3-8B79-37D633B846F1}">
                  <asvg:svgBlip xmlns:asvg="http://schemas.microsoft.com/office/drawing/2016/SVG/main" r:embed="rId10"/>
                </a:ext>
              </a:extLst>
            </a:blip>
            <a:stretch>
              <a:fillRect/>
            </a:stretch>
          </a:blipFill>
        </p:spPr>
      </p:sp>
      <p:sp>
        <p:nvSpPr>
          <p:cNvPr id="21" name="Freeform 21"/>
          <p:cNvSpPr/>
          <p:nvPr/>
        </p:nvSpPr>
        <p:spPr>
          <a:xfrm>
            <a:off x="8210920" y="3046856"/>
            <a:ext cx="216111" cy="216111"/>
          </a:xfrm>
          <a:custGeom>
            <a:avLst/>
            <a:gdLst/>
            <a:ahLst/>
            <a:cxnLst/>
            <a:rect l="l" t="t" r="r" b="b"/>
            <a:pathLst>
              <a:path w="216111" h="216111">
                <a:moveTo>
                  <a:pt x="0" y="0"/>
                </a:moveTo>
                <a:lnTo>
                  <a:pt x="216111" y="0"/>
                </a:lnTo>
                <a:lnTo>
                  <a:pt x="216111" y="216111"/>
                </a:lnTo>
                <a:lnTo>
                  <a:pt x="0" y="216111"/>
                </a:lnTo>
                <a:lnTo>
                  <a:pt x="0" y="0"/>
                </a:lnTo>
                <a:close/>
              </a:path>
            </a:pathLst>
          </a:custGeom>
          <a:blipFill>
            <a:blip r:embed="rId9">
              <a:alphaModFix amt="24000"/>
              <a:extLst>
                <a:ext uri="{96DAC541-7B7A-43D3-8B79-37D633B846F1}">
                  <asvg:svgBlip xmlns:asvg="http://schemas.microsoft.com/office/drawing/2016/SVG/main" r:embed="rId10"/>
                </a:ext>
              </a:extLst>
            </a:blip>
            <a:stretch>
              <a:fillRect/>
            </a:stretch>
          </a:blipFill>
        </p:spPr>
      </p:sp>
      <p:sp>
        <p:nvSpPr>
          <p:cNvPr id="22" name="Freeform 22"/>
          <p:cNvSpPr/>
          <p:nvPr/>
        </p:nvSpPr>
        <p:spPr>
          <a:xfrm>
            <a:off x="6639450" y="2985151"/>
            <a:ext cx="313076" cy="313076"/>
          </a:xfrm>
          <a:custGeom>
            <a:avLst/>
            <a:gdLst/>
            <a:ahLst/>
            <a:cxnLst/>
            <a:rect l="l" t="t" r="r" b="b"/>
            <a:pathLst>
              <a:path w="313076" h="313076">
                <a:moveTo>
                  <a:pt x="0" y="0"/>
                </a:moveTo>
                <a:lnTo>
                  <a:pt x="313076" y="0"/>
                </a:lnTo>
                <a:lnTo>
                  <a:pt x="313076" y="313076"/>
                </a:lnTo>
                <a:lnTo>
                  <a:pt x="0" y="313076"/>
                </a:lnTo>
                <a:lnTo>
                  <a:pt x="0" y="0"/>
                </a:lnTo>
                <a:close/>
              </a:path>
            </a:pathLst>
          </a:custGeom>
          <a:blipFill>
            <a:blip r:embed="rId9">
              <a:alphaModFix amt="24000"/>
              <a:extLst>
                <a:ext uri="{96DAC541-7B7A-43D3-8B79-37D633B846F1}">
                  <asvg:svgBlip xmlns:asvg="http://schemas.microsoft.com/office/drawing/2016/SVG/main" r:embed="rId10"/>
                </a:ext>
              </a:extLst>
            </a:blip>
            <a:stretch>
              <a:fillRect/>
            </a:stretch>
          </a:blipFill>
        </p:spPr>
      </p:sp>
      <p:sp>
        <p:nvSpPr>
          <p:cNvPr id="23" name="TextBox 23"/>
          <p:cNvSpPr txBox="1"/>
          <p:nvPr/>
        </p:nvSpPr>
        <p:spPr>
          <a:xfrm>
            <a:off x="1236753" y="8527656"/>
            <a:ext cx="4444283" cy="772795"/>
          </a:xfrm>
          <a:prstGeom prst="rect">
            <a:avLst/>
          </a:prstGeom>
        </p:spPr>
        <p:txBody>
          <a:bodyPr lIns="0" tIns="0" rIns="0" bIns="0" rtlCol="0" anchor="t">
            <a:spAutoFit/>
          </a:bodyPr>
          <a:lstStyle/>
          <a:p>
            <a:pPr algn="l">
              <a:lnSpc>
                <a:spcPts val="3079"/>
              </a:lnSpc>
            </a:pPr>
            <a:r>
              <a:rPr lang="en-US" sz="2199" b="1">
                <a:solidFill>
                  <a:srgbClr val="FFFFFF"/>
                </a:solidFill>
                <a:latin typeface="Work Sans Bold"/>
                <a:ea typeface="Work Sans Bold"/>
                <a:cs typeface="Work Sans Bold"/>
                <a:sym typeface="Work Sans Bold"/>
              </a:rPr>
              <a:t>Préparé par : SOUBI Charaf</a:t>
            </a:r>
          </a:p>
          <a:p>
            <a:pPr algn="l">
              <a:lnSpc>
                <a:spcPts val="3079"/>
              </a:lnSpc>
              <a:spcBef>
                <a:spcPct val="0"/>
              </a:spcBef>
            </a:pPr>
            <a:r>
              <a:rPr lang="en-US" sz="2199" b="1">
                <a:solidFill>
                  <a:srgbClr val="FFFFFF"/>
                </a:solidFill>
                <a:latin typeface="Work Sans Bold"/>
                <a:ea typeface="Work Sans Bold"/>
                <a:cs typeface="Work Sans Bold"/>
                <a:sym typeface="Work Sans Bold"/>
              </a:rPr>
              <a:t>soubicharaf@gmail.com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sp>
        <p:nvSpPr>
          <p:cNvPr id="3" name="Freeform 3"/>
          <p:cNvSpPr/>
          <p:nvPr/>
        </p:nvSpPr>
        <p:spPr>
          <a:xfrm>
            <a:off x="15923816" y="-2052828"/>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4900970" y="8234172"/>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Freeform 5"/>
          <p:cNvSpPr/>
          <p:nvPr/>
        </p:nvSpPr>
        <p:spPr>
          <a:xfrm>
            <a:off x="14670858" y="2536578"/>
            <a:ext cx="5176884" cy="5183364"/>
          </a:xfrm>
          <a:custGeom>
            <a:avLst/>
            <a:gdLst/>
            <a:ahLst/>
            <a:cxnLst/>
            <a:rect l="l" t="t" r="r" b="b"/>
            <a:pathLst>
              <a:path w="5176884" h="5183364">
                <a:moveTo>
                  <a:pt x="0" y="0"/>
                </a:moveTo>
                <a:lnTo>
                  <a:pt x="5176884" y="0"/>
                </a:lnTo>
                <a:lnTo>
                  <a:pt x="5176884" y="5183364"/>
                </a:lnTo>
                <a:lnTo>
                  <a:pt x="0" y="5183364"/>
                </a:lnTo>
                <a:lnTo>
                  <a:pt x="0" y="0"/>
                </a:lnTo>
                <a:close/>
              </a:path>
            </a:pathLst>
          </a:custGeom>
          <a:blipFill>
            <a:blip r:embed="rId5">
              <a:alphaModFix amt="39000"/>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9996130" y="4371744"/>
            <a:ext cx="7595189" cy="5351906"/>
            <a:chOff x="0" y="0"/>
            <a:chExt cx="1176693" cy="829150"/>
          </a:xfrm>
        </p:grpSpPr>
        <p:sp>
          <p:nvSpPr>
            <p:cNvPr id="7" name="Freeform 7"/>
            <p:cNvSpPr/>
            <p:nvPr/>
          </p:nvSpPr>
          <p:spPr>
            <a:xfrm>
              <a:off x="0" y="0"/>
              <a:ext cx="1176693" cy="829150"/>
            </a:xfrm>
            <a:custGeom>
              <a:avLst/>
              <a:gdLst/>
              <a:ahLst/>
              <a:cxnLst/>
              <a:rect l="l" t="t" r="r" b="b"/>
              <a:pathLst>
                <a:path w="1176693" h="829150">
                  <a:moveTo>
                    <a:pt x="0" y="0"/>
                  </a:moveTo>
                  <a:lnTo>
                    <a:pt x="1176693" y="0"/>
                  </a:lnTo>
                  <a:lnTo>
                    <a:pt x="1176693" y="829150"/>
                  </a:lnTo>
                  <a:lnTo>
                    <a:pt x="0" y="829150"/>
                  </a:lnTo>
                  <a:close/>
                </a:path>
              </a:pathLst>
            </a:custGeom>
            <a:blipFill>
              <a:blip r:embed="rId7"/>
              <a:stretch>
                <a:fillRect r="-33581"/>
              </a:stretch>
            </a:blipFill>
            <a:ln w="38100" cap="sq">
              <a:solidFill>
                <a:srgbClr val="000000"/>
              </a:solidFill>
              <a:prstDash val="solid"/>
              <a:miter/>
            </a:ln>
          </p:spPr>
        </p:sp>
      </p:grpSp>
      <p:sp>
        <p:nvSpPr>
          <p:cNvPr id="8" name="AutoShape 8"/>
          <p:cNvSpPr/>
          <p:nvPr/>
        </p:nvSpPr>
        <p:spPr>
          <a:xfrm>
            <a:off x="10000892" y="19050"/>
            <a:ext cx="0" cy="10267950"/>
          </a:xfrm>
          <a:prstGeom prst="line">
            <a:avLst/>
          </a:prstGeom>
          <a:ln w="9525" cap="flat">
            <a:solidFill>
              <a:srgbClr val="FFFFFF">
                <a:alpha val="37647"/>
              </a:srgbClr>
            </a:solidFill>
            <a:prstDash val="solid"/>
            <a:headEnd type="none" w="sm" len="sm"/>
            <a:tailEnd type="none" w="sm" len="sm"/>
          </a:ln>
        </p:spPr>
      </p:sp>
      <p:sp>
        <p:nvSpPr>
          <p:cNvPr id="9" name="AutoShape 9"/>
          <p:cNvSpPr/>
          <p:nvPr/>
        </p:nvSpPr>
        <p:spPr>
          <a:xfrm flipH="1">
            <a:off x="17596081" y="19050"/>
            <a:ext cx="0" cy="10267950"/>
          </a:xfrm>
          <a:prstGeom prst="line">
            <a:avLst/>
          </a:prstGeom>
          <a:ln w="9525" cap="flat">
            <a:solidFill>
              <a:srgbClr val="FFFFFF">
                <a:alpha val="37647"/>
              </a:srgbClr>
            </a:solidFill>
            <a:prstDash val="solid"/>
            <a:headEnd type="none" w="sm" len="sm"/>
            <a:tailEnd type="none" w="sm" len="sm"/>
          </a:ln>
        </p:spPr>
      </p:sp>
      <p:sp>
        <p:nvSpPr>
          <p:cNvPr id="10" name="AutoShape 10"/>
          <p:cNvSpPr/>
          <p:nvPr/>
        </p:nvSpPr>
        <p:spPr>
          <a:xfrm flipH="1">
            <a:off x="0" y="4371744"/>
            <a:ext cx="10000892" cy="0"/>
          </a:xfrm>
          <a:prstGeom prst="line">
            <a:avLst/>
          </a:prstGeom>
          <a:ln w="9525" cap="flat">
            <a:solidFill>
              <a:srgbClr val="FFFFFF">
                <a:alpha val="37647"/>
              </a:srgbClr>
            </a:solidFill>
            <a:prstDash val="solid"/>
            <a:headEnd type="none" w="sm" len="sm"/>
            <a:tailEnd type="none" w="sm" len="sm"/>
          </a:ln>
        </p:spPr>
      </p:sp>
      <p:sp>
        <p:nvSpPr>
          <p:cNvPr id="11" name="Freeform 11"/>
          <p:cNvSpPr/>
          <p:nvPr/>
        </p:nvSpPr>
        <p:spPr>
          <a:xfrm>
            <a:off x="5588620" y="606440"/>
            <a:ext cx="1673835" cy="1115192"/>
          </a:xfrm>
          <a:custGeom>
            <a:avLst/>
            <a:gdLst/>
            <a:ahLst/>
            <a:cxnLst/>
            <a:rect l="l" t="t" r="r" b="b"/>
            <a:pathLst>
              <a:path w="1673835" h="1115192">
                <a:moveTo>
                  <a:pt x="0" y="0"/>
                </a:moveTo>
                <a:lnTo>
                  <a:pt x="1673835" y="0"/>
                </a:lnTo>
                <a:lnTo>
                  <a:pt x="1673835" y="1115193"/>
                </a:lnTo>
                <a:lnTo>
                  <a:pt x="0" y="111519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1236753" y="1843776"/>
            <a:ext cx="7828737" cy="1228725"/>
          </a:xfrm>
          <a:prstGeom prst="rect">
            <a:avLst/>
          </a:prstGeom>
        </p:spPr>
        <p:txBody>
          <a:bodyPr lIns="0" tIns="0" rIns="0" bIns="0" rtlCol="0" anchor="t">
            <a:spAutoFit/>
          </a:bodyPr>
          <a:lstStyle/>
          <a:p>
            <a:pPr algn="l">
              <a:lnSpc>
                <a:spcPts val="9600"/>
              </a:lnSpc>
            </a:pPr>
            <a:r>
              <a:rPr lang="en-US" sz="8000" b="1">
                <a:solidFill>
                  <a:srgbClr val="FFFFFF"/>
                </a:solidFill>
                <a:latin typeface="Aileron Bold"/>
                <a:ea typeface="Aileron Bold"/>
                <a:cs typeface="Aileron Bold"/>
                <a:sym typeface="Aileron Bold"/>
              </a:rPr>
              <a:t>Planification</a:t>
            </a:r>
          </a:p>
        </p:txBody>
      </p:sp>
      <p:sp>
        <p:nvSpPr>
          <p:cNvPr id="13" name="TextBox 13"/>
          <p:cNvSpPr txBox="1"/>
          <p:nvPr/>
        </p:nvSpPr>
        <p:spPr>
          <a:xfrm>
            <a:off x="1236753" y="5071110"/>
            <a:ext cx="7489133" cy="3768090"/>
          </a:xfrm>
          <a:prstGeom prst="rect">
            <a:avLst/>
          </a:prstGeom>
        </p:spPr>
        <p:txBody>
          <a:bodyPr lIns="0" tIns="0" rIns="0" bIns="0" rtlCol="0" anchor="t">
            <a:spAutoFit/>
          </a:bodyPr>
          <a:lstStyle/>
          <a:p>
            <a:pPr algn="l">
              <a:lnSpc>
                <a:spcPts val="3359"/>
              </a:lnSpc>
              <a:spcBef>
                <a:spcPct val="0"/>
              </a:spcBef>
            </a:pPr>
            <a:r>
              <a:rPr lang="en-US" sz="2399">
                <a:solidFill>
                  <a:srgbClr val="FFFFFF"/>
                </a:solidFill>
                <a:latin typeface="Work Sans"/>
                <a:ea typeface="Work Sans"/>
                <a:cs typeface="Work Sans"/>
                <a:sym typeface="Work Sans"/>
              </a:rPr>
              <a:t>La planification du projet a été réalisée à l’aide de Trello afin d’organiser les différentes étapes du pipeline de traitement des données. Chaque phase — importation, nettoyage, transformation, analyse et export — a été structurée en tâches avec des checklists pour suivre l’avancement. Cette organisation permet d’assurer une bonne gestion du temps, la traçabilité des actions et la reproductibilité du travail.</a:t>
            </a:r>
          </a:p>
        </p:txBody>
      </p:sp>
      <p:sp>
        <p:nvSpPr>
          <p:cNvPr id="14" name="TextBox 14"/>
          <p:cNvSpPr txBox="1"/>
          <p:nvPr/>
        </p:nvSpPr>
        <p:spPr>
          <a:xfrm>
            <a:off x="10331563" y="3576583"/>
            <a:ext cx="3773522" cy="415290"/>
          </a:xfrm>
          <a:prstGeom prst="rect">
            <a:avLst/>
          </a:prstGeom>
        </p:spPr>
        <p:txBody>
          <a:bodyPr lIns="0" tIns="0" rIns="0" bIns="0" rtlCol="0" anchor="t">
            <a:spAutoFit/>
          </a:bodyPr>
          <a:lstStyle/>
          <a:p>
            <a:pPr algn="l">
              <a:lnSpc>
                <a:spcPts val="3359"/>
              </a:lnSpc>
              <a:spcBef>
                <a:spcPct val="0"/>
              </a:spcBef>
            </a:pPr>
            <a:r>
              <a:rPr lang="en-US" sz="2399">
                <a:solidFill>
                  <a:srgbClr val="FFFFFF"/>
                </a:solidFill>
                <a:latin typeface="Work Sans"/>
                <a:ea typeface="Work Sans"/>
                <a:cs typeface="Work Sans"/>
                <a:sym typeface="Work Sans"/>
              </a:rPr>
              <a:t>Trello Platform</a:t>
            </a:r>
          </a:p>
        </p:txBody>
      </p:sp>
      <p:sp>
        <p:nvSpPr>
          <p:cNvPr id="15" name="TextBox 15"/>
          <p:cNvSpPr txBox="1"/>
          <p:nvPr/>
        </p:nvSpPr>
        <p:spPr>
          <a:xfrm>
            <a:off x="1236753" y="798277"/>
            <a:ext cx="4180858" cy="365760"/>
          </a:xfrm>
          <a:prstGeom prst="rect">
            <a:avLst/>
          </a:prstGeom>
        </p:spPr>
        <p:txBody>
          <a:bodyPr lIns="0" tIns="0" rIns="0" bIns="0" rtlCol="0" anchor="t">
            <a:spAutoFit/>
          </a:bodyPr>
          <a:lstStyle/>
          <a:p>
            <a:pPr algn="l">
              <a:lnSpc>
                <a:spcPts val="2940"/>
              </a:lnSpc>
              <a:spcBef>
                <a:spcPct val="0"/>
              </a:spcBef>
            </a:pPr>
            <a:r>
              <a:rPr lang="en-US" sz="2100">
                <a:solidFill>
                  <a:srgbClr val="FFFFFF"/>
                </a:solidFill>
                <a:latin typeface="Work Sans"/>
                <a:ea typeface="Work Sans"/>
                <a:cs typeface="Work Sans"/>
                <a:sym typeface="Work Sans"/>
              </a:rPr>
              <a:t>Superstore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sp>
        <p:nvSpPr>
          <p:cNvPr id="3" name="Freeform 3"/>
          <p:cNvSpPr/>
          <p:nvPr/>
        </p:nvSpPr>
        <p:spPr>
          <a:xfrm>
            <a:off x="15923816" y="-2052828"/>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4900970" y="8234172"/>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grpSp>
        <p:nvGrpSpPr>
          <p:cNvPr id="5" name="Group 5"/>
          <p:cNvGrpSpPr/>
          <p:nvPr/>
        </p:nvGrpSpPr>
        <p:grpSpPr>
          <a:xfrm>
            <a:off x="4197150" y="2969465"/>
            <a:ext cx="5259208" cy="7317535"/>
            <a:chOff x="0" y="0"/>
            <a:chExt cx="814789" cy="1133678"/>
          </a:xfrm>
        </p:grpSpPr>
        <p:sp>
          <p:nvSpPr>
            <p:cNvPr id="6" name="Freeform 6"/>
            <p:cNvSpPr/>
            <p:nvPr/>
          </p:nvSpPr>
          <p:spPr>
            <a:xfrm>
              <a:off x="0" y="0"/>
              <a:ext cx="814789" cy="1133678"/>
            </a:xfrm>
            <a:custGeom>
              <a:avLst/>
              <a:gdLst/>
              <a:ahLst/>
              <a:cxnLst/>
              <a:rect l="l" t="t" r="r" b="b"/>
              <a:pathLst>
                <a:path w="814789" h="1133678">
                  <a:moveTo>
                    <a:pt x="0" y="0"/>
                  </a:moveTo>
                  <a:lnTo>
                    <a:pt x="814789" y="0"/>
                  </a:lnTo>
                  <a:lnTo>
                    <a:pt x="814789" y="1133678"/>
                  </a:lnTo>
                  <a:lnTo>
                    <a:pt x="0" y="1133678"/>
                  </a:lnTo>
                  <a:close/>
                </a:path>
              </a:pathLst>
            </a:custGeom>
            <a:blipFill>
              <a:blip r:embed="rId5"/>
              <a:stretch>
                <a:fillRect r="-29458"/>
              </a:stretch>
            </a:blipFill>
            <a:ln w="38100" cap="sq">
              <a:solidFill>
                <a:srgbClr val="000000"/>
              </a:solidFill>
              <a:prstDash val="solid"/>
              <a:miter/>
            </a:ln>
          </p:spPr>
        </p:sp>
      </p:grpSp>
      <p:sp>
        <p:nvSpPr>
          <p:cNvPr id="7" name="AutoShape 7"/>
          <p:cNvSpPr/>
          <p:nvPr/>
        </p:nvSpPr>
        <p:spPr>
          <a:xfrm flipH="1">
            <a:off x="10154586" y="3825627"/>
            <a:ext cx="7104714" cy="0"/>
          </a:xfrm>
          <a:prstGeom prst="line">
            <a:avLst/>
          </a:prstGeom>
          <a:ln w="9525" cap="flat">
            <a:solidFill>
              <a:srgbClr val="FFFFFF">
                <a:alpha val="37647"/>
              </a:srgbClr>
            </a:solidFill>
            <a:prstDash val="solid"/>
            <a:headEnd type="none" w="sm" len="sm"/>
            <a:tailEnd type="none" w="sm" len="sm"/>
          </a:ln>
        </p:spPr>
      </p:sp>
      <p:sp>
        <p:nvSpPr>
          <p:cNvPr id="8" name="Freeform 8"/>
          <p:cNvSpPr/>
          <p:nvPr/>
        </p:nvSpPr>
        <p:spPr>
          <a:xfrm>
            <a:off x="10345086" y="3064715"/>
            <a:ext cx="219117" cy="369140"/>
          </a:xfrm>
          <a:custGeom>
            <a:avLst/>
            <a:gdLst/>
            <a:ahLst/>
            <a:cxnLst/>
            <a:rect l="l" t="t" r="r" b="b"/>
            <a:pathLst>
              <a:path w="219117" h="369140">
                <a:moveTo>
                  <a:pt x="0" y="0"/>
                </a:moveTo>
                <a:lnTo>
                  <a:pt x="219117" y="0"/>
                </a:lnTo>
                <a:lnTo>
                  <a:pt x="219117"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a:stretch>
          </a:blipFill>
        </p:spPr>
      </p:sp>
      <p:sp>
        <p:nvSpPr>
          <p:cNvPr id="9" name="Freeform 9"/>
          <p:cNvSpPr/>
          <p:nvPr/>
        </p:nvSpPr>
        <p:spPr>
          <a:xfrm>
            <a:off x="-1879949" y="4081984"/>
            <a:ext cx="3759898" cy="4114800"/>
          </a:xfrm>
          <a:custGeom>
            <a:avLst/>
            <a:gdLst/>
            <a:ahLst/>
            <a:cxnLst/>
            <a:rect l="l" t="t" r="r" b="b"/>
            <a:pathLst>
              <a:path w="3759898" h="4114800">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a:stretch>
          </a:blipFill>
        </p:spPr>
      </p:sp>
      <p:sp>
        <p:nvSpPr>
          <p:cNvPr id="10" name="Freeform 10"/>
          <p:cNvSpPr/>
          <p:nvPr/>
        </p:nvSpPr>
        <p:spPr>
          <a:xfrm>
            <a:off x="17113471" y="9015934"/>
            <a:ext cx="2349058" cy="1189211"/>
          </a:xfrm>
          <a:custGeom>
            <a:avLst/>
            <a:gdLst/>
            <a:ahLst/>
            <a:cxnLst/>
            <a:rect l="l" t="t" r="r" b="b"/>
            <a:pathLst>
              <a:path w="2349058" h="1189211">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TextBox 11"/>
          <p:cNvSpPr txBox="1"/>
          <p:nvPr/>
        </p:nvSpPr>
        <p:spPr>
          <a:xfrm>
            <a:off x="1326990" y="483440"/>
            <a:ext cx="9237213" cy="2447925"/>
          </a:xfrm>
          <a:prstGeom prst="rect">
            <a:avLst/>
          </a:prstGeom>
        </p:spPr>
        <p:txBody>
          <a:bodyPr lIns="0" tIns="0" rIns="0" bIns="0" rtlCol="0" anchor="t">
            <a:spAutoFit/>
          </a:bodyPr>
          <a:lstStyle/>
          <a:p>
            <a:pPr algn="l">
              <a:lnSpc>
                <a:spcPts val="9600"/>
              </a:lnSpc>
            </a:pPr>
            <a:r>
              <a:rPr lang="en-US" sz="8000" b="1">
                <a:solidFill>
                  <a:srgbClr val="FFFFFF"/>
                </a:solidFill>
                <a:latin typeface="Aileron Bold"/>
                <a:ea typeface="Aileron Bold"/>
                <a:cs typeface="Aileron Bold"/>
                <a:sym typeface="Aileron Bold"/>
              </a:rPr>
              <a:t>Step 1 — Import &amp; Comprendre Data</a:t>
            </a:r>
          </a:p>
        </p:txBody>
      </p:sp>
      <p:sp>
        <p:nvSpPr>
          <p:cNvPr id="12" name="TextBox 12"/>
          <p:cNvSpPr txBox="1"/>
          <p:nvPr/>
        </p:nvSpPr>
        <p:spPr>
          <a:xfrm>
            <a:off x="10942728" y="2969465"/>
            <a:ext cx="4055005" cy="485775"/>
          </a:xfrm>
          <a:prstGeom prst="rect">
            <a:avLst/>
          </a:prstGeom>
        </p:spPr>
        <p:txBody>
          <a:bodyPr lIns="0" tIns="0" rIns="0" bIns="0" rtlCol="0" anchor="t">
            <a:spAutoFit/>
          </a:bodyPr>
          <a:lstStyle/>
          <a:p>
            <a:pPr algn="l">
              <a:lnSpc>
                <a:spcPts val="3840"/>
              </a:lnSpc>
            </a:pPr>
            <a:r>
              <a:rPr lang="en-US" sz="3200" b="1">
                <a:solidFill>
                  <a:srgbClr val="FFFFFF"/>
                </a:solidFill>
                <a:latin typeface="Aileron Bold"/>
                <a:ea typeface="Aileron Bold"/>
                <a:cs typeface="Aileron Bold"/>
                <a:sym typeface="Aileron Bold"/>
              </a:rPr>
              <a:t>Etape 1 : </a:t>
            </a:r>
          </a:p>
        </p:txBody>
      </p:sp>
      <p:sp>
        <p:nvSpPr>
          <p:cNvPr id="13" name="TextBox 13"/>
          <p:cNvSpPr txBox="1"/>
          <p:nvPr/>
        </p:nvSpPr>
        <p:spPr>
          <a:xfrm>
            <a:off x="10942728" y="4192339"/>
            <a:ext cx="6316572" cy="4191000"/>
          </a:xfrm>
          <a:prstGeom prst="rect">
            <a:avLst/>
          </a:prstGeom>
        </p:spPr>
        <p:txBody>
          <a:bodyPr lIns="0" tIns="0" rIns="0" bIns="0" rtlCol="0" anchor="t">
            <a:spAutoFit/>
          </a:bodyPr>
          <a:lstStyle/>
          <a:p>
            <a:pPr algn="l">
              <a:lnSpc>
                <a:spcPts val="3360"/>
              </a:lnSpc>
            </a:pPr>
            <a:r>
              <a:rPr lang="en-US" sz="2800" b="1">
                <a:solidFill>
                  <a:srgbClr val="FFFFFF"/>
                </a:solidFill>
                <a:latin typeface="Aileron Bold"/>
                <a:ea typeface="Aileron Bold"/>
                <a:cs typeface="Aileron Bold"/>
                <a:sym typeface="Aileron Bold"/>
              </a:rPr>
              <a:t>Dans cette étape, j’ai importé le fichier CSV brut et exploré la structure des données afin de comprendre les colonnes, les types de variables et la distribution des valeurs. J’ai également identifié les problèmes de qualité tels que les valeurs manquantes, les incohérences de formats et les doublons.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sp>
        <p:nvSpPr>
          <p:cNvPr id="3" name="Freeform 3"/>
          <p:cNvSpPr/>
          <p:nvPr/>
        </p:nvSpPr>
        <p:spPr>
          <a:xfrm>
            <a:off x="15923816" y="-2052828"/>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4900970" y="8234172"/>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grpSp>
        <p:nvGrpSpPr>
          <p:cNvPr id="5" name="Group 5"/>
          <p:cNvGrpSpPr/>
          <p:nvPr/>
        </p:nvGrpSpPr>
        <p:grpSpPr>
          <a:xfrm>
            <a:off x="4197150" y="2969465"/>
            <a:ext cx="5259208" cy="7317535"/>
            <a:chOff x="0" y="0"/>
            <a:chExt cx="814789" cy="1133678"/>
          </a:xfrm>
        </p:grpSpPr>
        <p:sp>
          <p:nvSpPr>
            <p:cNvPr id="6" name="Freeform 6"/>
            <p:cNvSpPr/>
            <p:nvPr/>
          </p:nvSpPr>
          <p:spPr>
            <a:xfrm>
              <a:off x="0" y="0"/>
              <a:ext cx="814789" cy="1133678"/>
            </a:xfrm>
            <a:custGeom>
              <a:avLst/>
              <a:gdLst/>
              <a:ahLst/>
              <a:cxnLst/>
              <a:rect l="l" t="t" r="r" b="b"/>
              <a:pathLst>
                <a:path w="814789" h="1133678">
                  <a:moveTo>
                    <a:pt x="0" y="0"/>
                  </a:moveTo>
                  <a:lnTo>
                    <a:pt x="814789" y="0"/>
                  </a:lnTo>
                  <a:lnTo>
                    <a:pt x="814789" y="1133678"/>
                  </a:lnTo>
                  <a:lnTo>
                    <a:pt x="0" y="1133678"/>
                  </a:lnTo>
                  <a:close/>
                </a:path>
              </a:pathLst>
            </a:custGeom>
            <a:blipFill>
              <a:blip r:embed="rId5"/>
              <a:stretch>
                <a:fillRect r="-34447"/>
              </a:stretch>
            </a:blipFill>
            <a:ln w="38100" cap="sq">
              <a:solidFill>
                <a:srgbClr val="000000"/>
              </a:solidFill>
              <a:prstDash val="solid"/>
              <a:miter/>
            </a:ln>
          </p:spPr>
        </p:sp>
      </p:grpSp>
      <p:sp>
        <p:nvSpPr>
          <p:cNvPr id="7" name="AutoShape 7"/>
          <p:cNvSpPr/>
          <p:nvPr/>
        </p:nvSpPr>
        <p:spPr>
          <a:xfrm flipH="1">
            <a:off x="10154586" y="3825627"/>
            <a:ext cx="7104714" cy="0"/>
          </a:xfrm>
          <a:prstGeom prst="line">
            <a:avLst/>
          </a:prstGeom>
          <a:ln w="9525" cap="flat">
            <a:solidFill>
              <a:srgbClr val="FFFFFF">
                <a:alpha val="37647"/>
              </a:srgbClr>
            </a:solidFill>
            <a:prstDash val="solid"/>
            <a:headEnd type="none" w="sm" len="sm"/>
            <a:tailEnd type="none" w="sm" len="sm"/>
          </a:ln>
        </p:spPr>
      </p:sp>
      <p:sp>
        <p:nvSpPr>
          <p:cNvPr id="8" name="Freeform 8"/>
          <p:cNvSpPr/>
          <p:nvPr/>
        </p:nvSpPr>
        <p:spPr>
          <a:xfrm>
            <a:off x="10345086" y="3064715"/>
            <a:ext cx="219117" cy="369140"/>
          </a:xfrm>
          <a:custGeom>
            <a:avLst/>
            <a:gdLst/>
            <a:ahLst/>
            <a:cxnLst/>
            <a:rect l="l" t="t" r="r" b="b"/>
            <a:pathLst>
              <a:path w="219117" h="369140">
                <a:moveTo>
                  <a:pt x="0" y="0"/>
                </a:moveTo>
                <a:lnTo>
                  <a:pt x="219117" y="0"/>
                </a:lnTo>
                <a:lnTo>
                  <a:pt x="219117"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a:stretch>
          </a:blipFill>
        </p:spPr>
      </p:sp>
      <p:sp>
        <p:nvSpPr>
          <p:cNvPr id="9" name="Freeform 9"/>
          <p:cNvSpPr/>
          <p:nvPr/>
        </p:nvSpPr>
        <p:spPr>
          <a:xfrm>
            <a:off x="-1879949" y="4081984"/>
            <a:ext cx="3759898" cy="4114800"/>
          </a:xfrm>
          <a:custGeom>
            <a:avLst/>
            <a:gdLst/>
            <a:ahLst/>
            <a:cxnLst/>
            <a:rect l="l" t="t" r="r" b="b"/>
            <a:pathLst>
              <a:path w="3759898" h="4114800">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a:stretch>
          </a:blipFill>
        </p:spPr>
      </p:sp>
      <p:sp>
        <p:nvSpPr>
          <p:cNvPr id="10" name="Freeform 10"/>
          <p:cNvSpPr/>
          <p:nvPr/>
        </p:nvSpPr>
        <p:spPr>
          <a:xfrm>
            <a:off x="17113471" y="9015934"/>
            <a:ext cx="2349058" cy="1189211"/>
          </a:xfrm>
          <a:custGeom>
            <a:avLst/>
            <a:gdLst/>
            <a:ahLst/>
            <a:cxnLst/>
            <a:rect l="l" t="t" r="r" b="b"/>
            <a:pathLst>
              <a:path w="2349058" h="1189211">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TextBox 11"/>
          <p:cNvSpPr txBox="1"/>
          <p:nvPr/>
        </p:nvSpPr>
        <p:spPr>
          <a:xfrm>
            <a:off x="1326990" y="483440"/>
            <a:ext cx="9237213" cy="2447925"/>
          </a:xfrm>
          <a:prstGeom prst="rect">
            <a:avLst/>
          </a:prstGeom>
        </p:spPr>
        <p:txBody>
          <a:bodyPr lIns="0" tIns="0" rIns="0" bIns="0" rtlCol="0" anchor="t">
            <a:spAutoFit/>
          </a:bodyPr>
          <a:lstStyle/>
          <a:p>
            <a:pPr algn="l">
              <a:lnSpc>
                <a:spcPts val="9600"/>
              </a:lnSpc>
            </a:pPr>
            <a:r>
              <a:rPr lang="en-US" sz="8000" b="1">
                <a:solidFill>
                  <a:srgbClr val="FFFFFF"/>
                </a:solidFill>
                <a:latin typeface="Aileron Bold"/>
                <a:ea typeface="Aileron Bold"/>
                <a:cs typeface="Aileron Bold"/>
                <a:sym typeface="Aileron Bold"/>
              </a:rPr>
              <a:t>Step 2 — Nettoyage</a:t>
            </a:r>
          </a:p>
        </p:txBody>
      </p:sp>
      <p:sp>
        <p:nvSpPr>
          <p:cNvPr id="12" name="TextBox 12"/>
          <p:cNvSpPr txBox="1"/>
          <p:nvPr/>
        </p:nvSpPr>
        <p:spPr>
          <a:xfrm>
            <a:off x="10942728" y="2969465"/>
            <a:ext cx="4055005" cy="485775"/>
          </a:xfrm>
          <a:prstGeom prst="rect">
            <a:avLst/>
          </a:prstGeom>
        </p:spPr>
        <p:txBody>
          <a:bodyPr lIns="0" tIns="0" rIns="0" bIns="0" rtlCol="0" anchor="t">
            <a:spAutoFit/>
          </a:bodyPr>
          <a:lstStyle/>
          <a:p>
            <a:pPr algn="l">
              <a:lnSpc>
                <a:spcPts val="3840"/>
              </a:lnSpc>
            </a:pPr>
            <a:r>
              <a:rPr lang="en-US" sz="3200" b="1">
                <a:solidFill>
                  <a:srgbClr val="FFFFFF"/>
                </a:solidFill>
                <a:latin typeface="Aileron Bold"/>
                <a:ea typeface="Aileron Bold"/>
                <a:cs typeface="Aileron Bold"/>
                <a:sym typeface="Aileron Bold"/>
              </a:rPr>
              <a:t>Etape 2 : </a:t>
            </a:r>
          </a:p>
        </p:txBody>
      </p:sp>
      <p:sp>
        <p:nvSpPr>
          <p:cNvPr id="13" name="TextBox 13"/>
          <p:cNvSpPr txBox="1"/>
          <p:nvPr/>
        </p:nvSpPr>
        <p:spPr>
          <a:xfrm>
            <a:off x="10942728" y="4192339"/>
            <a:ext cx="6316572" cy="3771900"/>
          </a:xfrm>
          <a:prstGeom prst="rect">
            <a:avLst/>
          </a:prstGeom>
        </p:spPr>
        <p:txBody>
          <a:bodyPr lIns="0" tIns="0" rIns="0" bIns="0" rtlCol="0" anchor="t">
            <a:spAutoFit/>
          </a:bodyPr>
          <a:lstStyle/>
          <a:p>
            <a:pPr algn="l">
              <a:lnSpc>
                <a:spcPts val="3360"/>
              </a:lnSpc>
            </a:pPr>
            <a:r>
              <a:rPr lang="en-US" sz="2800" b="1">
                <a:solidFill>
                  <a:srgbClr val="FFFFFF"/>
                </a:solidFill>
                <a:latin typeface="Aileron Bold"/>
                <a:ea typeface="Aileron Bold"/>
                <a:cs typeface="Aileron Bold"/>
                <a:sym typeface="Aileron Bold"/>
              </a:rPr>
              <a:t>Dans cette étape, j’ai nettoyé le dataset en supprimant les doublons, en corrigeant les types de données (dates et valeurs numériques), en traitant les valeurs manquantes et en harmonisant les colonnes texte. L’objectif était d’obtenir un dataset cohérent et exploitable pour les transformations suivantes.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sp>
        <p:nvSpPr>
          <p:cNvPr id="3" name="Freeform 3"/>
          <p:cNvSpPr/>
          <p:nvPr/>
        </p:nvSpPr>
        <p:spPr>
          <a:xfrm>
            <a:off x="15923816" y="-2052828"/>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4900970" y="8234172"/>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grpSp>
        <p:nvGrpSpPr>
          <p:cNvPr id="5" name="Group 5"/>
          <p:cNvGrpSpPr/>
          <p:nvPr/>
        </p:nvGrpSpPr>
        <p:grpSpPr>
          <a:xfrm>
            <a:off x="4197150" y="2969465"/>
            <a:ext cx="5259208" cy="7317535"/>
            <a:chOff x="0" y="0"/>
            <a:chExt cx="814789" cy="1133678"/>
          </a:xfrm>
        </p:grpSpPr>
        <p:sp>
          <p:nvSpPr>
            <p:cNvPr id="6" name="Freeform 6"/>
            <p:cNvSpPr/>
            <p:nvPr/>
          </p:nvSpPr>
          <p:spPr>
            <a:xfrm>
              <a:off x="0" y="0"/>
              <a:ext cx="814789" cy="1133678"/>
            </a:xfrm>
            <a:custGeom>
              <a:avLst/>
              <a:gdLst/>
              <a:ahLst/>
              <a:cxnLst/>
              <a:rect l="l" t="t" r="r" b="b"/>
              <a:pathLst>
                <a:path w="814789" h="1133678">
                  <a:moveTo>
                    <a:pt x="0" y="0"/>
                  </a:moveTo>
                  <a:lnTo>
                    <a:pt x="814789" y="0"/>
                  </a:lnTo>
                  <a:lnTo>
                    <a:pt x="814789" y="1133678"/>
                  </a:lnTo>
                  <a:lnTo>
                    <a:pt x="0" y="1133678"/>
                  </a:lnTo>
                  <a:close/>
                </a:path>
              </a:pathLst>
            </a:custGeom>
            <a:blipFill>
              <a:blip r:embed="rId5"/>
              <a:stretch>
                <a:fillRect r="-29678"/>
              </a:stretch>
            </a:blipFill>
            <a:ln w="38100" cap="sq">
              <a:solidFill>
                <a:srgbClr val="000000"/>
              </a:solidFill>
              <a:prstDash val="solid"/>
              <a:miter/>
            </a:ln>
          </p:spPr>
        </p:sp>
      </p:grpSp>
      <p:sp>
        <p:nvSpPr>
          <p:cNvPr id="7" name="AutoShape 7"/>
          <p:cNvSpPr/>
          <p:nvPr/>
        </p:nvSpPr>
        <p:spPr>
          <a:xfrm flipH="1">
            <a:off x="10154586" y="3825627"/>
            <a:ext cx="7104714" cy="0"/>
          </a:xfrm>
          <a:prstGeom prst="line">
            <a:avLst/>
          </a:prstGeom>
          <a:ln w="9525" cap="flat">
            <a:solidFill>
              <a:srgbClr val="FFFFFF">
                <a:alpha val="37647"/>
              </a:srgbClr>
            </a:solidFill>
            <a:prstDash val="solid"/>
            <a:headEnd type="none" w="sm" len="sm"/>
            <a:tailEnd type="none" w="sm" len="sm"/>
          </a:ln>
        </p:spPr>
      </p:sp>
      <p:sp>
        <p:nvSpPr>
          <p:cNvPr id="8" name="Freeform 8"/>
          <p:cNvSpPr/>
          <p:nvPr/>
        </p:nvSpPr>
        <p:spPr>
          <a:xfrm>
            <a:off x="10345086" y="3064715"/>
            <a:ext cx="219117" cy="369140"/>
          </a:xfrm>
          <a:custGeom>
            <a:avLst/>
            <a:gdLst/>
            <a:ahLst/>
            <a:cxnLst/>
            <a:rect l="l" t="t" r="r" b="b"/>
            <a:pathLst>
              <a:path w="219117" h="369140">
                <a:moveTo>
                  <a:pt x="0" y="0"/>
                </a:moveTo>
                <a:lnTo>
                  <a:pt x="219117" y="0"/>
                </a:lnTo>
                <a:lnTo>
                  <a:pt x="219117"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a:stretch>
          </a:blipFill>
        </p:spPr>
      </p:sp>
      <p:sp>
        <p:nvSpPr>
          <p:cNvPr id="9" name="Freeform 9"/>
          <p:cNvSpPr/>
          <p:nvPr/>
        </p:nvSpPr>
        <p:spPr>
          <a:xfrm>
            <a:off x="-1879949" y="4081984"/>
            <a:ext cx="3759898" cy="4114800"/>
          </a:xfrm>
          <a:custGeom>
            <a:avLst/>
            <a:gdLst/>
            <a:ahLst/>
            <a:cxnLst/>
            <a:rect l="l" t="t" r="r" b="b"/>
            <a:pathLst>
              <a:path w="3759898" h="4114800">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a:stretch>
          </a:blipFill>
        </p:spPr>
      </p:sp>
      <p:sp>
        <p:nvSpPr>
          <p:cNvPr id="10" name="Freeform 10"/>
          <p:cNvSpPr/>
          <p:nvPr/>
        </p:nvSpPr>
        <p:spPr>
          <a:xfrm>
            <a:off x="17113471" y="9015934"/>
            <a:ext cx="2349058" cy="1189211"/>
          </a:xfrm>
          <a:custGeom>
            <a:avLst/>
            <a:gdLst/>
            <a:ahLst/>
            <a:cxnLst/>
            <a:rect l="l" t="t" r="r" b="b"/>
            <a:pathLst>
              <a:path w="2349058" h="1189211">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TextBox 11"/>
          <p:cNvSpPr txBox="1"/>
          <p:nvPr/>
        </p:nvSpPr>
        <p:spPr>
          <a:xfrm>
            <a:off x="1326990" y="483440"/>
            <a:ext cx="9237213" cy="2447925"/>
          </a:xfrm>
          <a:prstGeom prst="rect">
            <a:avLst/>
          </a:prstGeom>
        </p:spPr>
        <p:txBody>
          <a:bodyPr lIns="0" tIns="0" rIns="0" bIns="0" rtlCol="0" anchor="t">
            <a:spAutoFit/>
          </a:bodyPr>
          <a:lstStyle/>
          <a:p>
            <a:pPr algn="l">
              <a:lnSpc>
                <a:spcPts val="9600"/>
              </a:lnSpc>
            </a:pPr>
            <a:r>
              <a:rPr lang="en-US" sz="8000" b="1">
                <a:solidFill>
                  <a:srgbClr val="FFFFFF"/>
                </a:solidFill>
                <a:latin typeface="Aileron Bold"/>
                <a:ea typeface="Aileron Bold"/>
                <a:cs typeface="Aileron Bold"/>
                <a:sym typeface="Aileron Bold"/>
              </a:rPr>
              <a:t>Step 3 — Transformation</a:t>
            </a:r>
          </a:p>
        </p:txBody>
      </p:sp>
      <p:sp>
        <p:nvSpPr>
          <p:cNvPr id="12" name="TextBox 12"/>
          <p:cNvSpPr txBox="1"/>
          <p:nvPr/>
        </p:nvSpPr>
        <p:spPr>
          <a:xfrm>
            <a:off x="10942728" y="2969465"/>
            <a:ext cx="4055005" cy="485775"/>
          </a:xfrm>
          <a:prstGeom prst="rect">
            <a:avLst/>
          </a:prstGeom>
        </p:spPr>
        <p:txBody>
          <a:bodyPr lIns="0" tIns="0" rIns="0" bIns="0" rtlCol="0" anchor="t">
            <a:spAutoFit/>
          </a:bodyPr>
          <a:lstStyle/>
          <a:p>
            <a:pPr algn="l">
              <a:lnSpc>
                <a:spcPts val="3840"/>
              </a:lnSpc>
            </a:pPr>
            <a:r>
              <a:rPr lang="en-US" sz="3200" b="1">
                <a:solidFill>
                  <a:srgbClr val="FFFFFF"/>
                </a:solidFill>
                <a:latin typeface="Aileron Bold"/>
                <a:ea typeface="Aileron Bold"/>
                <a:cs typeface="Aileron Bold"/>
                <a:sym typeface="Aileron Bold"/>
              </a:rPr>
              <a:t>Etape 3 : </a:t>
            </a:r>
          </a:p>
        </p:txBody>
      </p:sp>
      <p:sp>
        <p:nvSpPr>
          <p:cNvPr id="13" name="TextBox 13"/>
          <p:cNvSpPr txBox="1"/>
          <p:nvPr/>
        </p:nvSpPr>
        <p:spPr>
          <a:xfrm>
            <a:off x="10942728" y="4192339"/>
            <a:ext cx="6316572" cy="5448300"/>
          </a:xfrm>
          <a:prstGeom prst="rect">
            <a:avLst/>
          </a:prstGeom>
        </p:spPr>
        <p:txBody>
          <a:bodyPr lIns="0" tIns="0" rIns="0" bIns="0" rtlCol="0" anchor="t">
            <a:spAutoFit/>
          </a:bodyPr>
          <a:lstStyle/>
          <a:p>
            <a:pPr algn="l">
              <a:lnSpc>
                <a:spcPts val="3360"/>
              </a:lnSpc>
            </a:pPr>
            <a:r>
              <a:rPr lang="en-US" sz="2800" b="1">
                <a:solidFill>
                  <a:srgbClr val="FFFFFF"/>
                </a:solidFill>
                <a:latin typeface="Aileron Bold"/>
                <a:ea typeface="Aileron Bold"/>
                <a:cs typeface="Aileron Bold"/>
                <a:sym typeface="Aileron Bold"/>
              </a:rPr>
              <a:t>Dans cette étape, j’ai transformé le dataset en ajoutant des colonnes dérivées utiles pour l’analyse : extraction de l’année, du mois et du trimestre à partir des dates de commande, calcul d’indicateurs approximatifs comme la marge relative et les ratios basés sur les ventes, création du délai de livraison, et identification des valeurs aberrantes afin de préparer un dataset prêt pour l’analyse exploratoire.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sp>
        <p:nvSpPr>
          <p:cNvPr id="3" name="Freeform 3"/>
          <p:cNvSpPr/>
          <p:nvPr/>
        </p:nvSpPr>
        <p:spPr>
          <a:xfrm>
            <a:off x="15923816" y="-2052828"/>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4900970" y="8234172"/>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grpSp>
        <p:nvGrpSpPr>
          <p:cNvPr id="5" name="Group 5"/>
          <p:cNvGrpSpPr/>
          <p:nvPr/>
        </p:nvGrpSpPr>
        <p:grpSpPr>
          <a:xfrm>
            <a:off x="4197150" y="2969465"/>
            <a:ext cx="5259208" cy="7317535"/>
            <a:chOff x="0" y="0"/>
            <a:chExt cx="814789" cy="1133678"/>
          </a:xfrm>
        </p:grpSpPr>
        <p:sp>
          <p:nvSpPr>
            <p:cNvPr id="6" name="Freeform 6"/>
            <p:cNvSpPr/>
            <p:nvPr/>
          </p:nvSpPr>
          <p:spPr>
            <a:xfrm>
              <a:off x="0" y="0"/>
              <a:ext cx="814789" cy="1133678"/>
            </a:xfrm>
            <a:custGeom>
              <a:avLst/>
              <a:gdLst/>
              <a:ahLst/>
              <a:cxnLst/>
              <a:rect l="l" t="t" r="r" b="b"/>
              <a:pathLst>
                <a:path w="814789" h="1133678">
                  <a:moveTo>
                    <a:pt x="0" y="0"/>
                  </a:moveTo>
                  <a:lnTo>
                    <a:pt x="814789" y="0"/>
                  </a:lnTo>
                  <a:lnTo>
                    <a:pt x="814789" y="1133678"/>
                  </a:lnTo>
                  <a:lnTo>
                    <a:pt x="0" y="1133678"/>
                  </a:lnTo>
                  <a:close/>
                </a:path>
              </a:pathLst>
            </a:custGeom>
            <a:blipFill>
              <a:blip r:embed="rId5"/>
              <a:stretch>
                <a:fillRect l="-1178" r="-29774"/>
              </a:stretch>
            </a:blipFill>
            <a:ln w="38100" cap="sq">
              <a:solidFill>
                <a:srgbClr val="000000"/>
              </a:solidFill>
              <a:prstDash val="solid"/>
              <a:miter/>
            </a:ln>
          </p:spPr>
        </p:sp>
      </p:grpSp>
      <p:sp>
        <p:nvSpPr>
          <p:cNvPr id="7" name="AutoShape 7"/>
          <p:cNvSpPr/>
          <p:nvPr/>
        </p:nvSpPr>
        <p:spPr>
          <a:xfrm flipH="1">
            <a:off x="10154586" y="3825627"/>
            <a:ext cx="7104714" cy="0"/>
          </a:xfrm>
          <a:prstGeom prst="line">
            <a:avLst/>
          </a:prstGeom>
          <a:ln w="9525" cap="flat">
            <a:solidFill>
              <a:srgbClr val="FFFFFF">
                <a:alpha val="37647"/>
              </a:srgbClr>
            </a:solidFill>
            <a:prstDash val="solid"/>
            <a:headEnd type="none" w="sm" len="sm"/>
            <a:tailEnd type="none" w="sm" len="sm"/>
          </a:ln>
        </p:spPr>
      </p:sp>
      <p:sp>
        <p:nvSpPr>
          <p:cNvPr id="8" name="Freeform 8"/>
          <p:cNvSpPr/>
          <p:nvPr/>
        </p:nvSpPr>
        <p:spPr>
          <a:xfrm>
            <a:off x="10345086" y="3064715"/>
            <a:ext cx="219117" cy="369140"/>
          </a:xfrm>
          <a:custGeom>
            <a:avLst/>
            <a:gdLst/>
            <a:ahLst/>
            <a:cxnLst/>
            <a:rect l="l" t="t" r="r" b="b"/>
            <a:pathLst>
              <a:path w="219117" h="369140">
                <a:moveTo>
                  <a:pt x="0" y="0"/>
                </a:moveTo>
                <a:lnTo>
                  <a:pt x="219117" y="0"/>
                </a:lnTo>
                <a:lnTo>
                  <a:pt x="219117"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a:stretch>
          </a:blipFill>
        </p:spPr>
      </p:sp>
      <p:sp>
        <p:nvSpPr>
          <p:cNvPr id="9" name="Freeform 9"/>
          <p:cNvSpPr/>
          <p:nvPr/>
        </p:nvSpPr>
        <p:spPr>
          <a:xfrm>
            <a:off x="-1879949" y="4081984"/>
            <a:ext cx="3759898" cy="4114800"/>
          </a:xfrm>
          <a:custGeom>
            <a:avLst/>
            <a:gdLst/>
            <a:ahLst/>
            <a:cxnLst/>
            <a:rect l="l" t="t" r="r" b="b"/>
            <a:pathLst>
              <a:path w="3759898" h="4114800">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a:stretch>
          </a:blipFill>
        </p:spPr>
      </p:sp>
      <p:sp>
        <p:nvSpPr>
          <p:cNvPr id="10" name="Freeform 10"/>
          <p:cNvSpPr/>
          <p:nvPr/>
        </p:nvSpPr>
        <p:spPr>
          <a:xfrm>
            <a:off x="17113471" y="9015934"/>
            <a:ext cx="2349058" cy="1189211"/>
          </a:xfrm>
          <a:custGeom>
            <a:avLst/>
            <a:gdLst/>
            <a:ahLst/>
            <a:cxnLst/>
            <a:rect l="l" t="t" r="r" b="b"/>
            <a:pathLst>
              <a:path w="2349058" h="1189211">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TextBox 11"/>
          <p:cNvSpPr txBox="1"/>
          <p:nvPr/>
        </p:nvSpPr>
        <p:spPr>
          <a:xfrm>
            <a:off x="1326990" y="483440"/>
            <a:ext cx="9237213" cy="2447925"/>
          </a:xfrm>
          <a:prstGeom prst="rect">
            <a:avLst/>
          </a:prstGeom>
        </p:spPr>
        <p:txBody>
          <a:bodyPr lIns="0" tIns="0" rIns="0" bIns="0" rtlCol="0" anchor="t">
            <a:spAutoFit/>
          </a:bodyPr>
          <a:lstStyle/>
          <a:p>
            <a:pPr algn="l">
              <a:lnSpc>
                <a:spcPts val="9600"/>
              </a:lnSpc>
            </a:pPr>
            <a:r>
              <a:rPr lang="en-US" sz="8000" b="1">
                <a:solidFill>
                  <a:srgbClr val="FFFFFF"/>
                </a:solidFill>
                <a:latin typeface="Aileron Bold"/>
                <a:ea typeface="Aileron Bold"/>
                <a:cs typeface="Aileron Bold"/>
                <a:sym typeface="Aileron Bold"/>
              </a:rPr>
              <a:t>Step 4 — Analyse (EDA)</a:t>
            </a:r>
          </a:p>
        </p:txBody>
      </p:sp>
      <p:sp>
        <p:nvSpPr>
          <p:cNvPr id="12" name="TextBox 12"/>
          <p:cNvSpPr txBox="1"/>
          <p:nvPr/>
        </p:nvSpPr>
        <p:spPr>
          <a:xfrm>
            <a:off x="10942728" y="2969465"/>
            <a:ext cx="4055005" cy="485775"/>
          </a:xfrm>
          <a:prstGeom prst="rect">
            <a:avLst/>
          </a:prstGeom>
        </p:spPr>
        <p:txBody>
          <a:bodyPr lIns="0" tIns="0" rIns="0" bIns="0" rtlCol="0" anchor="t">
            <a:spAutoFit/>
          </a:bodyPr>
          <a:lstStyle/>
          <a:p>
            <a:pPr algn="l">
              <a:lnSpc>
                <a:spcPts val="3840"/>
              </a:lnSpc>
            </a:pPr>
            <a:r>
              <a:rPr lang="en-US" sz="3200" b="1">
                <a:solidFill>
                  <a:srgbClr val="FFFFFF"/>
                </a:solidFill>
                <a:latin typeface="Aileron Bold"/>
                <a:ea typeface="Aileron Bold"/>
                <a:cs typeface="Aileron Bold"/>
                <a:sym typeface="Aileron Bold"/>
              </a:rPr>
              <a:t>Etape 4 : </a:t>
            </a:r>
          </a:p>
        </p:txBody>
      </p:sp>
      <p:sp>
        <p:nvSpPr>
          <p:cNvPr id="13" name="TextBox 13"/>
          <p:cNvSpPr txBox="1"/>
          <p:nvPr/>
        </p:nvSpPr>
        <p:spPr>
          <a:xfrm>
            <a:off x="10942728" y="4192339"/>
            <a:ext cx="6316572" cy="5029200"/>
          </a:xfrm>
          <a:prstGeom prst="rect">
            <a:avLst/>
          </a:prstGeom>
        </p:spPr>
        <p:txBody>
          <a:bodyPr lIns="0" tIns="0" rIns="0" bIns="0" rtlCol="0" anchor="t">
            <a:spAutoFit/>
          </a:bodyPr>
          <a:lstStyle/>
          <a:p>
            <a:pPr algn="l">
              <a:lnSpc>
                <a:spcPts val="3360"/>
              </a:lnSpc>
            </a:pPr>
            <a:r>
              <a:rPr lang="en-US" sz="2800" b="1">
                <a:solidFill>
                  <a:srgbClr val="FFFFFF"/>
                </a:solidFill>
                <a:latin typeface="Aileron Bold"/>
                <a:ea typeface="Aileron Bold"/>
                <a:cs typeface="Aileron Bold"/>
                <a:sym typeface="Aileron Bold"/>
              </a:rPr>
              <a:t>Dans cette étape, j’ai réalisé une analyse exploratoire des données en calculant et visualisant plusieurs indicateurs clés : les ventes par catégorie et par région, le profit estimé par segment client, le classement des produits les plus performants ainsi que la croissance mensuelle des ventes. Cette analyse permet d’identifier les tendances commerciales et les opportunités d’amélioration.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sp>
        <p:nvSpPr>
          <p:cNvPr id="3" name="Freeform 3"/>
          <p:cNvSpPr/>
          <p:nvPr/>
        </p:nvSpPr>
        <p:spPr>
          <a:xfrm>
            <a:off x="15923816" y="-2052828"/>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4900970" y="8234172"/>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grpSp>
        <p:nvGrpSpPr>
          <p:cNvPr id="5" name="Group 5"/>
          <p:cNvGrpSpPr/>
          <p:nvPr/>
        </p:nvGrpSpPr>
        <p:grpSpPr>
          <a:xfrm>
            <a:off x="4197150" y="2969465"/>
            <a:ext cx="5259208" cy="7317535"/>
            <a:chOff x="0" y="0"/>
            <a:chExt cx="814789" cy="1133678"/>
          </a:xfrm>
        </p:grpSpPr>
        <p:sp>
          <p:nvSpPr>
            <p:cNvPr id="6" name="Freeform 6"/>
            <p:cNvSpPr/>
            <p:nvPr/>
          </p:nvSpPr>
          <p:spPr>
            <a:xfrm>
              <a:off x="0" y="0"/>
              <a:ext cx="814789" cy="1133678"/>
            </a:xfrm>
            <a:custGeom>
              <a:avLst/>
              <a:gdLst/>
              <a:ahLst/>
              <a:cxnLst/>
              <a:rect l="l" t="t" r="r" b="b"/>
              <a:pathLst>
                <a:path w="814789" h="1133678">
                  <a:moveTo>
                    <a:pt x="0" y="0"/>
                  </a:moveTo>
                  <a:lnTo>
                    <a:pt x="814789" y="0"/>
                  </a:lnTo>
                  <a:lnTo>
                    <a:pt x="814789" y="1133678"/>
                  </a:lnTo>
                  <a:lnTo>
                    <a:pt x="0" y="1133678"/>
                  </a:lnTo>
                  <a:close/>
                </a:path>
              </a:pathLst>
            </a:custGeom>
            <a:blipFill>
              <a:blip r:embed="rId5"/>
              <a:stretch>
                <a:fillRect r="-54207"/>
              </a:stretch>
            </a:blipFill>
            <a:ln w="38100" cap="sq">
              <a:solidFill>
                <a:srgbClr val="000000"/>
              </a:solidFill>
              <a:prstDash val="solid"/>
              <a:miter/>
            </a:ln>
          </p:spPr>
        </p:sp>
      </p:grpSp>
      <p:sp>
        <p:nvSpPr>
          <p:cNvPr id="7" name="AutoShape 7"/>
          <p:cNvSpPr/>
          <p:nvPr/>
        </p:nvSpPr>
        <p:spPr>
          <a:xfrm flipH="1">
            <a:off x="10154586" y="3825627"/>
            <a:ext cx="7104714" cy="0"/>
          </a:xfrm>
          <a:prstGeom prst="line">
            <a:avLst/>
          </a:prstGeom>
          <a:ln w="9525" cap="flat">
            <a:solidFill>
              <a:srgbClr val="FFFFFF">
                <a:alpha val="37647"/>
              </a:srgbClr>
            </a:solidFill>
            <a:prstDash val="solid"/>
            <a:headEnd type="none" w="sm" len="sm"/>
            <a:tailEnd type="none" w="sm" len="sm"/>
          </a:ln>
        </p:spPr>
      </p:sp>
      <p:sp>
        <p:nvSpPr>
          <p:cNvPr id="8" name="Freeform 8"/>
          <p:cNvSpPr/>
          <p:nvPr/>
        </p:nvSpPr>
        <p:spPr>
          <a:xfrm>
            <a:off x="10345086" y="3064715"/>
            <a:ext cx="219117" cy="369140"/>
          </a:xfrm>
          <a:custGeom>
            <a:avLst/>
            <a:gdLst/>
            <a:ahLst/>
            <a:cxnLst/>
            <a:rect l="l" t="t" r="r" b="b"/>
            <a:pathLst>
              <a:path w="219117" h="369140">
                <a:moveTo>
                  <a:pt x="0" y="0"/>
                </a:moveTo>
                <a:lnTo>
                  <a:pt x="219117" y="0"/>
                </a:lnTo>
                <a:lnTo>
                  <a:pt x="219117"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a:stretch>
          </a:blipFill>
        </p:spPr>
      </p:sp>
      <p:sp>
        <p:nvSpPr>
          <p:cNvPr id="9" name="Freeform 9"/>
          <p:cNvSpPr/>
          <p:nvPr/>
        </p:nvSpPr>
        <p:spPr>
          <a:xfrm>
            <a:off x="-1879949" y="4081984"/>
            <a:ext cx="3759898" cy="4114800"/>
          </a:xfrm>
          <a:custGeom>
            <a:avLst/>
            <a:gdLst/>
            <a:ahLst/>
            <a:cxnLst/>
            <a:rect l="l" t="t" r="r" b="b"/>
            <a:pathLst>
              <a:path w="3759898" h="4114800">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a:stretch>
          </a:blipFill>
        </p:spPr>
      </p:sp>
      <p:sp>
        <p:nvSpPr>
          <p:cNvPr id="10" name="Freeform 10"/>
          <p:cNvSpPr/>
          <p:nvPr/>
        </p:nvSpPr>
        <p:spPr>
          <a:xfrm>
            <a:off x="17113471" y="9015934"/>
            <a:ext cx="2349058" cy="1189211"/>
          </a:xfrm>
          <a:custGeom>
            <a:avLst/>
            <a:gdLst/>
            <a:ahLst/>
            <a:cxnLst/>
            <a:rect l="l" t="t" r="r" b="b"/>
            <a:pathLst>
              <a:path w="2349058" h="1189211">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TextBox 11"/>
          <p:cNvSpPr txBox="1"/>
          <p:nvPr/>
        </p:nvSpPr>
        <p:spPr>
          <a:xfrm>
            <a:off x="1326990" y="483440"/>
            <a:ext cx="9237213" cy="2447925"/>
          </a:xfrm>
          <a:prstGeom prst="rect">
            <a:avLst/>
          </a:prstGeom>
        </p:spPr>
        <p:txBody>
          <a:bodyPr lIns="0" tIns="0" rIns="0" bIns="0" rtlCol="0" anchor="t">
            <a:spAutoFit/>
          </a:bodyPr>
          <a:lstStyle/>
          <a:p>
            <a:pPr algn="l">
              <a:lnSpc>
                <a:spcPts val="9600"/>
              </a:lnSpc>
            </a:pPr>
            <a:r>
              <a:rPr lang="en-US" sz="8000" b="1">
                <a:solidFill>
                  <a:srgbClr val="FFFFFF"/>
                </a:solidFill>
                <a:latin typeface="Aileron Bold"/>
                <a:ea typeface="Aileron Bold"/>
                <a:cs typeface="Aileron Bold"/>
                <a:sym typeface="Aileron Bold"/>
              </a:rPr>
              <a:t>Step 5 — Export Final</a:t>
            </a:r>
          </a:p>
        </p:txBody>
      </p:sp>
      <p:sp>
        <p:nvSpPr>
          <p:cNvPr id="12" name="TextBox 12"/>
          <p:cNvSpPr txBox="1"/>
          <p:nvPr/>
        </p:nvSpPr>
        <p:spPr>
          <a:xfrm>
            <a:off x="10942728" y="2969465"/>
            <a:ext cx="4055005" cy="485775"/>
          </a:xfrm>
          <a:prstGeom prst="rect">
            <a:avLst/>
          </a:prstGeom>
        </p:spPr>
        <p:txBody>
          <a:bodyPr lIns="0" tIns="0" rIns="0" bIns="0" rtlCol="0" anchor="t">
            <a:spAutoFit/>
          </a:bodyPr>
          <a:lstStyle/>
          <a:p>
            <a:pPr algn="l">
              <a:lnSpc>
                <a:spcPts val="3840"/>
              </a:lnSpc>
            </a:pPr>
            <a:r>
              <a:rPr lang="en-US" sz="3200" b="1">
                <a:solidFill>
                  <a:srgbClr val="FFFFFF"/>
                </a:solidFill>
                <a:latin typeface="Aileron Bold"/>
                <a:ea typeface="Aileron Bold"/>
                <a:cs typeface="Aileron Bold"/>
                <a:sym typeface="Aileron Bold"/>
              </a:rPr>
              <a:t>Etape 5 : </a:t>
            </a:r>
          </a:p>
        </p:txBody>
      </p:sp>
      <p:sp>
        <p:nvSpPr>
          <p:cNvPr id="13" name="TextBox 13"/>
          <p:cNvSpPr txBox="1"/>
          <p:nvPr/>
        </p:nvSpPr>
        <p:spPr>
          <a:xfrm>
            <a:off x="10942728" y="4192339"/>
            <a:ext cx="6316572" cy="4191000"/>
          </a:xfrm>
          <a:prstGeom prst="rect">
            <a:avLst/>
          </a:prstGeom>
        </p:spPr>
        <p:txBody>
          <a:bodyPr lIns="0" tIns="0" rIns="0" bIns="0" rtlCol="0" anchor="t">
            <a:spAutoFit/>
          </a:bodyPr>
          <a:lstStyle/>
          <a:p>
            <a:pPr algn="l">
              <a:lnSpc>
                <a:spcPts val="3360"/>
              </a:lnSpc>
            </a:pPr>
            <a:r>
              <a:rPr lang="en-US" sz="2800" b="1">
                <a:solidFill>
                  <a:srgbClr val="FFFFFF"/>
                </a:solidFill>
                <a:latin typeface="Aileron Bold"/>
                <a:ea typeface="Aileron Bold"/>
                <a:cs typeface="Aileron Bold"/>
                <a:sym typeface="Aileron Bold"/>
              </a:rPr>
              <a:t>Dans cette dernière étape, j’ai vérifié la cohérence globale du dataset après nettoyage et transformation. Toutes les colonnes nécessaires ont été validées, puis le dataset final propre et enrichi a été exporté sous le nom superstore_clean.csv, prêt pour une utilisation dans une base de données SQL et pour la création de tableaux de bord.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sp>
        <p:nvSpPr>
          <p:cNvPr id="3" name="Freeform 3"/>
          <p:cNvSpPr/>
          <p:nvPr/>
        </p:nvSpPr>
        <p:spPr>
          <a:xfrm>
            <a:off x="15923816" y="-2052828"/>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4900970" y="8234172"/>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grpSp>
        <p:nvGrpSpPr>
          <p:cNvPr id="5" name="Group 5"/>
          <p:cNvGrpSpPr/>
          <p:nvPr/>
        </p:nvGrpSpPr>
        <p:grpSpPr>
          <a:xfrm>
            <a:off x="4197150" y="2969465"/>
            <a:ext cx="5259208" cy="7317535"/>
            <a:chOff x="0" y="0"/>
            <a:chExt cx="814789" cy="1133678"/>
          </a:xfrm>
        </p:grpSpPr>
        <p:sp>
          <p:nvSpPr>
            <p:cNvPr id="6" name="Freeform 6"/>
            <p:cNvSpPr/>
            <p:nvPr/>
          </p:nvSpPr>
          <p:spPr>
            <a:xfrm>
              <a:off x="0" y="0"/>
              <a:ext cx="814789" cy="1133678"/>
            </a:xfrm>
            <a:custGeom>
              <a:avLst/>
              <a:gdLst/>
              <a:ahLst/>
              <a:cxnLst/>
              <a:rect l="l" t="t" r="r" b="b"/>
              <a:pathLst>
                <a:path w="814789" h="1133678">
                  <a:moveTo>
                    <a:pt x="0" y="0"/>
                  </a:moveTo>
                  <a:lnTo>
                    <a:pt x="814789" y="0"/>
                  </a:lnTo>
                  <a:lnTo>
                    <a:pt x="814789" y="1133678"/>
                  </a:lnTo>
                  <a:lnTo>
                    <a:pt x="0" y="1133678"/>
                  </a:lnTo>
                  <a:close/>
                </a:path>
              </a:pathLst>
            </a:custGeom>
            <a:blipFill>
              <a:blip r:embed="rId5"/>
              <a:stretch>
                <a:fillRect r="-37889"/>
              </a:stretch>
            </a:blipFill>
            <a:ln w="38100" cap="sq">
              <a:solidFill>
                <a:srgbClr val="000000"/>
              </a:solidFill>
              <a:prstDash val="solid"/>
              <a:miter/>
            </a:ln>
          </p:spPr>
        </p:sp>
      </p:grpSp>
      <p:sp>
        <p:nvSpPr>
          <p:cNvPr id="7" name="AutoShape 7"/>
          <p:cNvSpPr/>
          <p:nvPr/>
        </p:nvSpPr>
        <p:spPr>
          <a:xfrm flipH="1">
            <a:off x="9703401" y="3787527"/>
            <a:ext cx="7104714" cy="0"/>
          </a:xfrm>
          <a:prstGeom prst="line">
            <a:avLst/>
          </a:prstGeom>
          <a:ln w="9525" cap="flat">
            <a:solidFill>
              <a:srgbClr val="FFFFFF">
                <a:alpha val="37647"/>
              </a:srgbClr>
            </a:solidFill>
            <a:prstDash val="solid"/>
            <a:headEnd type="none" w="sm" len="sm"/>
            <a:tailEnd type="none" w="sm" len="sm"/>
          </a:ln>
        </p:spPr>
      </p:sp>
      <p:sp>
        <p:nvSpPr>
          <p:cNvPr id="8" name="Freeform 8"/>
          <p:cNvSpPr/>
          <p:nvPr/>
        </p:nvSpPr>
        <p:spPr>
          <a:xfrm>
            <a:off x="9893901" y="3026615"/>
            <a:ext cx="219117" cy="369140"/>
          </a:xfrm>
          <a:custGeom>
            <a:avLst/>
            <a:gdLst/>
            <a:ahLst/>
            <a:cxnLst/>
            <a:rect l="l" t="t" r="r" b="b"/>
            <a:pathLst>
              <a:path w="219117" h="369140">
                <a:moveTo>
                  <a:pt x="0" y="0"/>
                </a:moveTo>
                <a:lnTo>
                  <a:pt x="219118" y="0"/>
                </a:lnTo>
                <a:lnTo>
                  <a:pt x="219118"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a:stretch>
          </a:blipFill>
        </p:spPr>
      </p:sp>
      <p:sp>
        <p:nvSpPr>
          <p:cNvPr id="9" name="Freeform 9"/>
          <p:cNvSpPr/>
          <p:nvPr/>
        </p:nvSpPr>
        <p:spPr>
          <a:xfrm>
            <a:off x="-1879949" y="4081984"/>
            <a:ext cx="3759898" cy="4114800"/>
          </a:xfrm>
          <a:custGeom>
            <a:avLst/>
            <a:gdLst/>
            <a:ahLst/>
            <a:cxnLst/>
            <a:rect l="l" t="t" r="r" b="b"/>
            <a:pathLst>
              <a:path w="3759898" h="4114800">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a:stretch>
          </a:blipFill>
        </p:spPr>
      </p:sp>
      <p:sp>
        <p:nvSpPr>
          <p:cNvPr id="10" name="Freeform 10"/>
          <p:cNvSpPr/>
          <p:nvPr/>
        </p:nvSpPr>
        <p:spPr>
          <a:xfrm>
            <a:off x="17113471" y="9015934"/>
            <a:ext cx="2349058" cy="1189211"/>
          </a:xfrm>
          <a:custGeom>
            <a:avLst/>
            <a:gdLst/>
            <a:ahLst/>
            <a:cxnLst/>
            <a:rect l="l" t="t" r="r" b="b"/>
            <a:pathLst>
              <a:path w="2349058" h="1189211">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TextBox 11"/>
          <p:cNvSpPr txBox="1"/>
          <p:nvPr/>
        </p:nvSpPr>
        <p:spPr>
          <a:xfrm>
            <a:off x="1326990" y="483440"/>
            <a:ext cx="9237213" cy="2447925"/>
          </a:xfrm>
          <a:prstGeom prst="rect">
            <a:avLst/>
          </a:prstGeom>
        </p:spPr>
        <p:txBody>
          <a:bodyPr lIns="0" tIns="0" rIns="0" bIns="0" rtlCol="0" anchor="t">
            <a:spAutoFit/>
          </a:bodyPr>
          <a:lstStyle/>
          <a:p>
            <a:pPr algn="l">
              <a:lnSpc>
                <a:spcPts val="9600"/>
              </a:lnSpc>
            </a:pPr>
            <a:r>
              <a:rPr lang="en-US" sz="8000" b="1">
                <a:solidFill>
                  <a:srgbClr val="FFFFFF"/>
                </a:solidFill>
                <a:latin typeface="Aileron Bold"/>
                <a:ea typeface="Aileron Bold"/>
                <a:cs typeface="Aileron Bold"/>
                <a:sym typeface="Aileron Bold"/>
              </a:rPr>
              <a:t>Step 6 — Documentation</a:t>
            </a:r>
          </a:p>
        </p:txBody>
      </p:sp>
      <p:sp>
        <p:nvSpPr>
          <p:cNvPr id="12" name="TextBox 12"/>
          <p:cNvSpPr txBox="1"/>
          <p:nvPr/>
        </p:nvSpPr>
        <p:spPr>
          <a:xfrm>
            <a:off x="10491544" y="2931365"/>
            <a:ext cx="4055005" cy="485775"/>
          </a:xfrm>
          <a:prstGeom prst="rect">
            <a:avLst/>
          </a:prstGeom>
        </p:spPr>
        <p:txBody>
          <a:bodyPr lIns="0" tIns="0" rIns="0" bIns="0" rtlCol="0" anchor="t">
            <a:spAutoFit/>
          </a:bodyPr>
          <a:lstStyle/>
          <a:p>
            <a:pPr algn="l">
              <a:lnSpc>
                <a:spcPts val="3840"/>
              </a:lnSpc>
            </a:pPr>
            <a:r>
              <a:rPr lang="en-US" sz="3200" b="1">
                <a:solidFill>
                  <a:srgbClr val="FFFFFF"/>
                </a:solidFill>
                <a:latin typeface="Aileron Bold"/>
                <a:ea typeface="Aileron Bold"/>
                <a:cs typeface="Aileron Bold"/>
                <a:sym typeface="Aileron Bold"/>
              </a:rPr>
              <a:t>Etape 6 : </a:t>
            </a:r>
          </a:p>
        </p:txBody>
      </p:sp>
      <p:sp>
        <p:nvSpPr>
          <p:cNvPr id="13" name="TextBox 13"/>
          <p:cNvSpPr txBox="1"/>
          <p:nvPr/>
        </p:nvSpPr>
        <p:spPr>
          <a:xfrm>
            <a:off x="10564203" y="4162239"/>
            <a:ext cx="7008388" cy="5448300"/>
          </a:xfrm>
          <a:prstGeom prst="rect">
            <a:avLst/>
          </a:prstGeom>
        </p:spPr>
        <p:txBody>
          <a:bodyPr lIns="0" tIns="0" rIns="0" bIns="0" rtlCol="0" anchor="t">
            <a:spAutoFit/>
          </a:bodyPr>
          <a:lstStyle/>
          <a:p>
            <a:pPr algn="l">
              <a:lnSpc>
                <a:spcPts val="3360"/>
              </a:lnSpc>
            </a:pPr>
            <a:r>
              <a:rPr lang="en-US" sz="2800" b="1">
                <a:solidFill>
                  <a:srgbClr val="FFFFFF"/>
                </a:solidFill>
                <a:latin typeface="Aileron Bold"/>
                <a:ea typeface="Aileron Bold"/>
                <a:cs typeface="Aileron Bold"/>
                <a:sym typeface="Aileron Bold"/>
              </a:rPr>
              <a:t>Cette étape consiste à générer un rapport final au format Word contenant toutes les informations du projet. Le document inclut les types de colonnes avant et après nettoyage, les transformations effectuées, les données anormales détectées ainsi que les résultats des analyses. Les tableaux récapitulatifs et les graphiques (ventes par catégorie, région, segment, top produits et évolution mensuelle) sont intégrés directement dans le rapport pour faciliter l’interprétation des résultats.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sp>
        <p:nvSpPr>
          <p:cNvPr id="3" name="Freeform 3"/>
          <p:cNvSpPr/>
          <p:nvPr/>
        </p:nvSpPr>
        <p:spPr>
          <a:xfrm>
            <a:off x="15923816" y="-2052828"/>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4900970" y="8234172"/>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grpSp>
        <p:nvGrpSpPr>
          <p:cNvPr id="5" name="Group 5"/>
          <p:cNvGrpSpPr/>
          <p:nvPr/>
        </p:nvGrpSpPr>
        <p:grpSpPr>
          <a:xfrm>
            <a:off x="4197150" y="2969465"/>
            <a:ext cx="5259208" cy="7317535"/>
            <a:chOff x="0" y="0"/>
            <a:chExt cx="814789" cy="1133678"/>
          </a:xfrm>
        </p:grpSpPr>
        <p:sp>
          <p:nvSpPr>
            <p:cNvPr id="6" name="Freeform 6"/>
            <p:cNvSpPr/>
            <p:nvPr/>
          </p:nvSpPr>
          <p:spPr>
            <a:xfrm>
              <a:off x="0" y="0"/>
              <a:ext cx="814789" cy="1133678"/>
            </a:xfrm>
            <a:custGeom>
              <a:avLst/>
              <a:gdLst/>
              <a:ahLst/>
              <a:cxnLst/>
              <a:rect l="l" t="t" r="r" b="b"/>
              <a:pathLst>
                <a:path w="814789" h="1133678">
                  <a:moveTo>
                    <a:pt x="0" y="0"/>
                  </a:moveTo>
                  <a:lnTo>
                    <a:pt x="814789" y="0"/>
                  </a:lnTo>
                  <a:lnTo>
                    <a:pt x="814789" y="1133678"/>
                  </a:lnTo>
                  <a:lnTo>
                    <a:pt x="0" y="1133678"/>
                  </a:lnTo>
                  <a:close/>
                </a:path>
              </a:pathLst>
            </a:custGeom>
            <a:blipFill>
              <a:blip r:embed="rId5"/>
              <a:stretch>
                <a:fillRect r="-25515"/>
              </a:stretch>
            </a:blipFill>
            <a:ln w="38100" cap="sq">
              <a:solidFill>
                <a:srgbClr val="000000"/>
              </a:solidFill>
              <a:prstDash val="solid"/>
              <a:miter/>
            </a:ln>
          </p:spPr>
        </p:sp>
      </p:grpSp>
      <p:sp>
        <p:nvSpPr>
          <p:cNvPr id="7" name="AutoShape 7"/>
          <p:cNvSpPr/>
          <p:nvPr/>
        </p:nvSpPr>
        <p:spPr>
          <a:xfrm flipH="1">
            <a:off x="9703401" y="3787527"/>
            <a:ext cx="7104714" cy="0"/>
          </a:xfrm>
          <a:prstGeom prst="line">
            <a:avLst/>
          </a:prstGeom>
          <a:ln w="9525" cap="flat">
            <a:solidFill>
              <a:srgbClr val="FFFFFF">
                <a:alpha val="37647"/>
              </a:srgbClr>
            </a:solidFill>
            <a:prstDash val="solid"/>
            <a:headEnd type="none" w="sm" len="sm"/>
            <a:tailEnd type="none" w="sm" len="sm"/>
          </a:ln>
        </p:spPr>
      </p:sp>
      <p:sp>
        <p:nvSpPr>
          <p:cNvPr id="8" name="Freeform 8"/>
          <p:cNvSpPr/>
          <p:nvPr/>
        </p:nvSpPr>
        <p:spPr>
          <a:xfrm>
            <a:off x="9893901" y="3026615"/>
            <a:ext cx="219117" cy="369140"/>
          </a:xfrm>
          <a:custGeom>
            <a:avLst/>
            <a:gdLst/>
            <a:ahLst/>
            <a:cxnLst/>
            <a:rect l="l" t="t" r="r" b="b"/>
            <a:pathLst>
              <a:path w="219117" h="369140">
                <a:moveTo>
                  <a:pt x="0" y="0"/>
                </a:moveTo>
                <a:lnTo>
                  <a:pt x="219118" y="0"/>
                </a:lnTo>
                <a:lnTo>
                  <a:pt x="219118" y="369140"/>
                </a:lnTo>
                <a:lnTo>
                  <a:pt x="0" y="369140"/>
                </a:lnTo>
                <a:lnTo>
                  <a:pt x="0" y="0"/>
                </a:lnTo>
                <a:close/>
              </a:path>
            </a:pathLst>
          </a:custGeom>
          <a:blipFill>
            <a:blip r:embed="rId6">
              <a:extLst>
                <a:ext uri="{96DAC541-7B7A-43D3-8B79-37D633B846F1}">
                  <asvg:svgBlip xmlns:asvg="http://schemas.microsoft.com/office/drawing/2016/SVG/main" r:embed="rId7"/>
                </a:ext>
              </a:extLst>
            </a:blip>
            <a:stretch>
              <a:fillRect l="-105761"/>
            </a:stretch>
          </a:blipFill>
        </p:spPr>
      </p:sp>
      <p:sp>
        <p:nvSpPr>
          <p:cNvPr id="9" name="Freeform 9"/>
          <p:cNvSpPr/>
          <p:nvPr/>
        </p:nvSpPr>
        <p:spPr>
          <a:xfrm>
            <a:off x="-1879949" y="4081984"/>
            <a:ext cx="3759898" cy="4114800"/>
          </a:xfrm>
          <a:custGeom>
            <a:avLst/>
            <a:gdLst/>
            <a:ahLst/>
            <a:cxnLst/>
            <a:rect l="l" t="t" r="r" b="b"/>
            <a:pathLst>
              <a:path w="3759898" h="4114800">
                <a:moveTo>
                  <a:pt x="0" y="0"/>
                </a:moveTo>
                <a:lnTo>
                  <a:pt x="3759898" y="0"/>
                </a:lnTo>
                <a:lnTo>
                  <a:pt x="3759898" y="4114800"/>
                </a:lnTo>
                <a:lnTo>
                  <a:pt x="0" y="4114800"/>
                </a:lnTo>
                <a:lnTo>
                  <a:pt x="0" y="0"/>
                </a:lnTo>
                <a:close/>
              </a:path>
            </a:pathLst>
          </a:custGeom>
          <a:blipFill>
            <a:blip r:embed="rId8">
              <a:alphaModFix amt="42000"/>
              <a:extLst>
                <a:ext uri="{96DAC541-7B7A-43D3-8B79-37D633B846F1}">
                  <asvg:svgBlip xmlns:asvg="http://schemas.microsoft.com/office/drawing/2016/SVG/main" r:embed="rId9"/>
                </a:ext>
              </a:extLst>
            </a:blip>
            <a:stretch>
              <a:fillRect/>
            </a:stretch>
          </a:blipFill>
        </p:spPr>
      </p:sp>
      <p:sp>
        <p:nvSpPr>
          <p:cNvPr id="10" name="Freeform 10"/>
          <p:cNvSpPr/>
          <p:nvPr/>
        </p:nvSpPr>
        <p:spPr>
          <a:xfrm>
            <a:off x="17113471" y="9015934"/>
            <a:ext cx="2349058" cy="1189211"/>
          </a:xfrm>
          <a:custGeom>
            <a:avLst/>
            <a:gdLst/>
            <a:ahLst/>
            <a:cxnLst/>
            <a:rect l="l" t="t" r="r" b="b"/>
            <a:pathLst>
              <a:path w="2349058" h="1189211">
                <a:moveTo>
                  <a:pt x="0" y="0"/>
                </a:moveTo>
                <a:lnTo>
                  <a:pt x="2349058" y="0"/>
                </a:lnTo>
                <a:lnTo>
                  <a:pt x="2349058" y="1189211"/>
                </a:lnTo>
                <a:lnTo>
                  <a:pt x="0" y="118921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TextBox 11"/>
          <p:cNvSpPr txBox="1"/>
          <p:nvPr/>
        </p:nvSpPr>
        <p:spPr>
          <a:xfrm>
            <a:off x="1326990" y="824103"/>
            <a:ext cx="9237213" cy="1228725"/>
          </a:xfrm>
          <a:prstGeom prst="rect">
            <a:avLst/>
          </a:prstGeom>
        </p:spPr>
        <p:txBody>
          <a:bodyPr lIns="0" tIns="0" rIns="0" bIns="0" rtlCol="0" anchor="t">
            <a:spAutoFit/>
          </a:bodyPr>
          <a:lstStyle/>
          <a:p>
            <a:pPr algn="l">
              <a:lnSpc>
                <a:spcPts val="9600"/>
              </a:lnSpc>
            </a:pPr>
            <a:r>
              <a:rPr lang="en-US" sz="8000" b="1">
                <a:solidFill>
                  <a:srgbClr val="FFFFFF"/>
                </a:solidFill>
                <a:latin typeface="Aileron Bold"/>
                <a:ea typeface="Aileron Bold"/>
                <a:cs typeface="Aileron Bold"/>
                <a:sym typeface="Aileron Bold"/>
              </a:rPr>
              <a:t>Step 7 — Demo</a:t>
            </a:r>
          </a:p>
        </p:txBody>
      </p:sp>
      <p:sp>
        <p:nvSpPr>
          <p:cNvPr id="12" name="TextBox 12"/>
          <p:cNvSpPr txBox="1"/>
          <p:nvPr/>
        </p:nvSpPr>
        <p:spPr>
          <a:xfrm>
            <a:off x="10491544" y="2931365"/>
            <a:ext cx="4055005" cy="485775"/>
          </a:xfrm>
          <a:prstGeom prst="rect">
            <a:avLst/>
          </a:prstGeom>
        </p:spPr>
        <p:txBody>
          <a:bodyPr lIns="0" tIns="0" rIns="0" bIns="0" rtlCol="0" anchor="t">
            <a:spAutoFit/>
          </a:bodyPr>
          <a:lstStyle/>
          <a:p>
            <a:pPr algn="l">
              <a:lnSpc>
                <a:spcPts val="3840"/>
              </a:lnSpc>
            </a:pPr>
            <a:r>
              <a:rPr lang="en-US" sz="3200" b="1">
                <a:solidFill>
                  <a:srgbClr val="FFFFFF"/>
                </a:solidFill>
                <a:latin typeface="Aileron Bold"/>
                <a:ea typeface="Aileron Bold"/>
                <a:cs typeface="Aileron Bold"/>
                <a:sym typeface="Aileron Bold"/>
              </a:rPr>
              <a:t>Etape 7 : </a:t>
            </a:r>
          </a:p>
        </p:txBody>
      </p:sp>
      <p:sp>
        <p:nvSpPr>
          <p:cNvPr id="13" name="TextBox 13"/>
          <p:cNvSpPr txBox="1"/>
          <p:nvPr/>
        </p:nvSpPr>
        <p:spPr>
          <a:xfrm>
            <a:off x="10564203" y="4162239"/>
            <a:ext cx="7008388" cy="5029200"/>
          </a:xfrm>
          <a:prstGeom prst="rect">
            <a:avLst/>
          </a:prstGeom>
        </p:spPr>
        <p:txBody>
          <a:bodyPr lIns="0" tIns="0" rIns="0" bIns="0" rtlCol="0" anchor="t">
            <a:spAutoFit/>
          </a:bodyPr>
          <a:lstStyle/>
          <a:p>
            <a:pPr algn="l">
              <a:lnSpc>
                <a:spcPts val="3360"/>
              </a:lnSpc>
            </a:pPr>
            <a:r>
              <a:rPr lang="en-US" sz="2800" b="1">
                <a:solidFill>
                  <a:srgbClr val="FFFFFF"/>
                </a:solidFill>
                <a:latin typeface="Aileron Bold"/>
                <a:ea typeface="Aileron Bold"/>
                <a:cs typeface="Aileron Bold"/>
                <a:sym typeface="Aileron Bold"/>
              </a:rPr>
              <a:t>Cette étape consiste à préparer la démonstration finale du projet. Elle inclut la vérification du notebook pour s’assurer que tout fonctionne correctement (exécution sans erreurs, résultats visibles), la préparation d’une présentation claire expliquant les étapes du travail (nettoyage, transformations, analyses et visualisations), ainsi que la répétition de la présentation afin d’être prêt à expliquer les choix techniques et répondre aux questions.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12888" r="-12888"/>
            </a:stretch>
          </a:blipFill>
        </p:spPr>
      </p:sp>
      <p:sp>
        <p:nvSpPr>
          <p:cNvPr id="3" name="Freeform 3"/>
          <p:cNvSpPr/>
          <p:nvPr/>
        </p:nvSpPr>
        <p:spPr>
          <a:xfrm>
            <a:off x="15923816" y="-2052828"/>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4900970" y="8234172"/>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Freeform 5"/>
          <p:cNvSpPr/>
          <p:nvPr/>
        </p:nvSpPr>
        <p:spPr>
          <a:xfrm rot="2700000">
            <a:off x="16714667" y="-579227"/>
            <a:ext cx="2291553" cy="2703897"/>
          </a:xfrm>
          <a:custGeom>
            <a:avLst/>
            <a:gdLst/>
            <a:ahLst/>
            <a:cxnLst/>
            <a:rect l="l" t="t" r="r" b="b"/>
            <a:pathLst>
              <a:path w="2291553" h="2703897">
                <a:moveTo>
                  <a:pt x="0" y="0"/>
                </a:moveTo>
                <a:lnTo>
                  <a:pt x="2291553" y="0"/>
                </a:lnTo>
                <a:lnTo>
                  <a:pt x="2291553" y="2703897"/>
                </a:lnTo>
                <a:lnTo>
                  <a:pt x="0" y="2703897"/>
                </a:lnTo>
                <a:lnTo>
                  <a:pt x="0" y="0"/>
                </a:lnTo>
                <a:close/>
              </a:path>
            </a:pathLst>
          </a:custGeom>
          <a:blipFill>
            <a:blip r:embed="rId5">
              <a:alphaModFix amt="39000"/>
              <a:extLst>
                <a:ext uri="{96DAC541-7B7A-43D3-8B79-37D633B846F1}">
                  <asvg:svgBlip xmlns:asvg="http://schemas.microsoft.com/office/drawing/2016/SVG/main" r:embed="rId6"/>
                </a:ext>
              </a:extLst>
            </a:blip>
            <a:stretch>
              <a:fillRect/>
            </a:stretch>
          </a:blipFill>
          <a:ln cap="sq">
            <a:noFill/>
            <a:prstDash val="solid"/>
            <a:miter/>
          </a:ln>
        </p:spPr>
      </p:sp>
      <p:grpSp>
        <p:nvGrpSpPr>
          <p:cNvPr id="6" name="Group 6"/>
          <p:cNvGrpSpPr/>
          <p:nvPr/>
        </p:nvGrpSpPr>
        <p:grpSpPr>
          <a:xfrm>
            <a:off x="6997247" y="3303491"/>
            <a:ext cx="10262053" cy="5954809"/>
            <a:chOff x="0" y="0"/>
            <a:chExt cx="1432739" cy="831382"/>
          </a:xfrm>
        </p:grpSpPr>
        <p:sp>
          <p:nvSpPr>
            <p:cNvPr id="7" name="Freeform 7"/>
            <p:cNvSpPr/>
            <p:nvPr/>
          </p:nvSpPr>
          <p:spPr>
            <a:xfrm>
              <a:off x="0" y="0"/>
              <a:ext cx="1432739" cy="831382"/>
            </a:xfrm>
            <a:custGeom>
              <a:avLst/>
              <a:gdLst/>
              <a:ahLst/>
              <a:cxnLst/>
              <a:rect l="l" t="t" r="r" b="b"/>
              <a:pathLst>
                <a:path w="1432739" h="831382">
                  <a:moveTo>
                    <a:pt x="15088" y="0"/>
                  </a:moveTo>
                  <a:lnTo>
                    <a:pt x="1417650" y="0"/>
                  </a:lnTo>
                  <a:cubicBezTo>
                    <a:pt x="1425983" y="0"/>
                    <a:pt x="1432739" y="6755"/>
                    <a:pt x="1432739" y="15088"/>
                  </a:cubicBezTo>
                  <a:lnTo>
                    <a:pt x="1432739" y="816293"/>
                  </a:lnTo>
                  <a:cubicBezTo>
                    <a:pt x="1432739" y="824627"/>
                    <a:pt x="1425983" y="831382"/>
                    <a:pt x="1417650" y="831382"/>
                  </a:cubicBezTo>
                  <a:lnTo>
                    <a:pt x="15088" y="831382"/>
                  </a:lnTo>
                  <a:cubicBezTo>
                    <a:pt x="6755" y="831382"/>
                    <a:pt x="0" y="824627"/>
                    <a:pt x="0" y="816293"/>
                  </a:cubicBezTo>
                  <a:lnTo>
                    <a:pt x="0" y="15088"/>
                  </a:lnTo>
                  <a:cubicBezTo>
                    <a:pt x="0" y="6755"/>
                    <a:pt x="6755" y="0"/>
                    <a:pt x="15088" y="0"/>
                  </a:cubicBezTo>
                  <a:close/>
                </a:path>
              </a:pathLst>
            </a:custGeom>
            <a:ln w="19050" cap="sq">
              <a:solidFill>
                <a:srgbClr val="FFFFFF"/>
              </a:solidFill>
              <a:prstDash val="solid"/>
              <a:miter/>
            </a:ln>
          </p:spPr>
        </p:sp>
        <p:sp>
          <p:nvSpPr>
            <p:cNvPr id="8" name="TextBox 8"/>
            <p:cNvSpPr txBox="1"/>
            <p:nvPr/>
          </p:nvSpPr>
          <p:spPr>
            <a:xfrm>
              <a:off x="0" y="-9525"/>
              <a:ext cx="1432739" cy="840907"/>
            </a:xfrm>
            <a:prstGeom prst="rect">
              <a:avLst/>
            </a:prstGeom>
          </p:spPr>
          <p:txBody>
            <a:bodyPr lIns="50800" tIns="50800" rIns="50800" bIns="50800" rtlCol="0" anchor="ctr"/>
            <a:lstStyle/>
            <a:p>
              <a:pPr marL="0" lvl="0" indent="0" algn="ctr">
                <a:lnSpc>
                  <a:spcPts val="2880"/>
                </a:lnSpc>
                <a:spcBef>
                  <a:spcPct val="0"/>
                </a:spcBef>
              </a:pPr>
              <a:endParaRPr/>
            </a:p>
          </p:txBody>
        </p:sp>
      </p:grpSp>
      <p:grpSp>
        <p:nvGrpSpPr>
          <p:cNvPr id="9" name="Group 9"/>
          <p:cNvGrpSpPr/>
          <p:nvPr/>
        </p:nvGrpSpPr>
        <p:grpSpPr>
          <a:xfrm>
            <a:off x="1028700" y="710079"/>
            <a:ext cx="6450258" cy="3657600"/>
            <a:chOff x="0" y="0"/>
            <a:chExt cx="8600343" cy="4876800"/>
          </a:xfrm>
        </p:grpSpPr>
        <p:sp>
          <p:nvSpPr>
            <p:cNvPr id="10" name="Freeform 10"/>
            <p:cNvSpPr/>
            <p:nvPr/>
          </p:nvSpPr>
          <p:spPr>
            <a:xfrm>
              <a:off x="6223672" y="1918071"/>
              <a:ext cx="1977142" cy="1243128"/>
            </a:xfrm>
            <a:custGeom>
              <a:avLst/>
              <a:gdLst/>
              <a:ahLst/>
              <a:cxnLst/>
              <a:rect l="l" t="t" r="r" b="b"/>
              <a:pathLst>
                <a:path w="1977142" h="1243128">
                  <a:moveTo>
                    <a:pt x="0" y="0"/>
                  </a:moveTo>
                  <a:lnTo>
                    <a:pt x="1977143" y="0"/>
                  </a:lnTo>
                  <a:lnTo>
                    <a:pt x="1977143" y="1243129"/>
                  </a:lnTo>
                  <a:lnTo>
                    <a:pt x="0" y="124312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0" y="-9525"/>
              <a:ext cx="8600343" cy="4886325"/>
            </a:xfrm>
            <a:prstGeom prst="rect">
              <a:avLst/>
            </a:prstGeom>
          </p:spPr>
          <p:txBody>
            <a:bodyPr lIns="0" tIns="0" rIns="0" bIns="0" rtlCol="0" anchor="t">
              <a:spAutoFit/>
            </a:bodyPr>
            <a:lstStyle/>
            <a:p>
              <a:pPr algn="l">
                <a:lnSpc>
                  <a:spcPts val="9600"/>
                </a:lnSpc>
              </a:pPr>
              <a:r>
                <a:rPr lang="en-US" sz="8000" b="1">
                  <a:solidFill>
                    <a:srgbClr val="FFFFFF"/>
                  </a:solidFill>
                  <a:latin typeface="Aileron Bold"/>
                  <a:ea typeface="Aileron Bold"/>
                  <a:cs typeface="Aileron Bold"/>
                  <a:sym typeface="Aileron Bold"/>
                </a:rPr>
                <a:t>Technologies Utilisées</a:t>
              </a:r>
            </a:p>
            <a:p>
              <a:pPr algn="l">
                <a:lnSpc>
                  <a:spcPts val="9600"/>
                </a:lnSpc>
              </a:pPr>
              <a:endParaRPr lang="en-US" sz="8000" b="1">
                <a:solidFill>
                  <a:srgbClr val="FFFFFF"/>
                </a:solidFill>
                <a:latin typeface="Aileron Bold"/>
                <a:ea typeface="Aileron Bold"/>
                <a:cs typeface="Aileron Bold"/>
                <a:sym typeface="Aileron Bold"/>
              </a:endParaRPr>
            </a:p>
          </p:txBody>
        </p:sp>
      </p:grpSp>
      <p:sp>
        <p:nvSpPr>
          <p:cNvPr id="12" name="TextBox 12"/>
          <p:cNvSpPr txBox="1"/>
          <p:nvPr/>
        </p:nvSpPr>
        <p:spPr>
          <a:xfrm>
            <a:off x="7284175" y="3842845"/>
            <a:ext cx="9688198" cy="4780852"/>
          </a:xfrm>
          <a:prstGeom prst="rect">
            <a:avLst/>
          </a:prstGeom>
        </p:spPr>
        <p:txBody>
          <a:bodyPr lIns="0" tIns="0" rIns="0" bIns="0" rtlCol="0" anchor="t">
            <a:spAutoFit/>
          </a:bodyPr>
          <a:lstStyle/>
          <a:p>
            <a:pPr algn="l">
              <a:lnSpc>
                <a:spcPts val="6338"/>
              </a:lnSpc>
            </a:pPr>
            <a:r>
              <a:rPr lang="en-US" sz="4527" u="sng">
                <a:solidFill>
                  <a:srgbClr val="FFFFFF"/>
                </a:solidFill>
                <a:latin typeface="Work Sans"/>
                <a:ea typeface="Work Sans"/>
                <a:cs typeface="Work Sans"/>
                <a:sym typeface="Work Sans"/>
              </a:rPr>
              <a:t>Pandas</a:t>
            </a:r>
            <a:r>
              <a:rPr lang="en-US" sz="4527">
                <a:solidFill>
                  <a:srgbClr val="FFFFFF"/>
                </a:solidFill>
                <a:latin typeface="Work Sans"/>
                <a:ea typeface="Work Sans"/>
                <a:cs typeface="Work Sans"/>
                <a:sym typeface="Work Sans"/>
              </a:rPr>
              <a:t> : Pour la manipulation et le nettoyage des données.</a:t>
            </a:r>
          </a:p>
          <a:p>
            <a:pPr algn="l">
              <a:lnSpc>
                <a:spcPts val="6338"/>
              </a:lnSpc>
            </a:pPr>
            <a:r>
              <a:rPr lang="en-US" sz="4527" u="sng">
                <a:solidFill>
                  <a:srgbClr val="FFFFFF"/>
                </a:solidFill>
                <a:latin typeface="Work Sans"/>
                <a:ea typeface="Work Sans"/>
                <a:cs typeface="Work Sans"/>
                <a:sym typeface="Work Sans"/>
              </a:rPr>
              <a:t>Matplotlib</a:t>
            </a:r>
            <a:r>
              <a:rPr lang="en-US" sz="4527">
                <a:solidFill>
                  <a:srgbClr val="FFFFFF"/>
                </a:solidFill>
                <a:latin typeface="Work Sans"/>
                <a:ea typeface="Work Sans"/>
                <a:cs typeface="Work Sans"/>
                <a:sym typeface="Work Sans"/>
              </a:rPr>
              <a:t> : Pour la création des graphiques.</a:t>
            </a:r>
          </a:p>
          <a:p>
            <a:pPr algn="l">
              <a:lnSpc>
                <a:spcPts val="6338"/>
              </a:lnSpc>
            </a:pPr>
            <a:r>
              <a:rPr lang="en-US" sz="4527" u="sng">
                <a:solidFill>
                  <a:srgbClr val="FFFFFF"/>
                </a:solidFill>
                <a:latin typeface="Work Sans"/>
                <a:ea typeface="Work Sans"/>
                <a:cs typeface="Work Sans"/>
                <a:sym typeface="Work Sans"/>
              </a:rPr>
              <a:t>Python-docx </a:t>
            </a:r>
            <a:r>
              <a:rPr lang="en-US" sz="4527">
                <a:solidFill>
                  <a:srgbClr val="FFFFFF"/>
                </a:solidFill>
                <a:latin typeface="Work Sans"/>
                <a:ea typeface="Work Sans"/>
                <a:cs typeface="Work Sans"/>
                <a:sym typeface="Work Sans"/>
              </a:rPr>
              <a:t>: Pour la génération automatisée de documents Word.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617</Words>
  <Application>Microsoft Office PowerPoint</Application>
  <PresentationFormat>Personnalisé</PresentationFormat>
  <Paragraphs>34</Paragraphs>
  <Slides>10</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10</vt:i4>
      </vt:variant>
    </vt:vector>
  </HeadingPairs>
  <TitlesOfParts>
    <vt:vector size="17" baseType="lpstr">
      <vt:lpstr>Aileron Bold</vt:lpstr>
      <vt:lpstr>Work Sans Bold</vt:lpstr>
      <vt:lpstr>Calibri</vt:lpstr>
      <vt:lpstr>Work Sans</vt:lpstr>
      <vt:lpstr>Arial</vt:lpstr>
      <vt:lpstr>Aileron Heavy</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Superstore  _  Soubi-Charaf</dc:title>
  <cp:lastModifiedBy>charaf soubi</cp:lastModifiedBy>
  <cp:revision>2</cp:revision>
  <dcterms:created xsi:type="dcterms:W3CDTF">2006-08-16T00:00:00Z</dcterms:created>
  <dcterms:modified xsi:type="dcterms:W3CDTF">2026-03-27T15:47:43Z</dcterms:modified>
  <dc:identifier>DAHCJD7U0f8</dc:identifier>
</cp:coreProperties>
</file>