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ague Spartan" charset="1" panose="00000800000000000000"/>
      <p:regular r:id="rId15"/>
    </p:embeddedFont>
    <p:embeddedFont>
      <p:font typeface="Questrial" charset="1" panose="02000000000000000000"/>
      <p:regular r:id="rId16"/>
    </p:embeddedFont>
    <p:embeddedFont>
      <p:font typeface="Roboto" charset="1" panose="02000000000000000000"/>
      <p:regular r:id="rId17"/>
    </p:embeddedFont>
    <p:embeddedFont>
      <p:font typeface="Gagalin" charset="1" panose="00000500000000000000"/>
      <p:regular r:id="rId18"/>
    </p:embeddedFont>
    <p:embeddedFont>
      <p:font typeface="Some Time Later" charset="1" panose="02000503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1.pn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8561916" y="2012971"/>
            <a:ext cx="9231242" cy="4143514"/>
          </a:xfrm>
          <a:prstGeom prst="rect">
            <a:avLst/>
          </a:prstGeom>
        </p:spPr>
        <p:txBody>
          <a:bodyPr anchor="t" rtlCol="false" tIns="0" lIns="0" bIns="0" rIns="0">
            <a:spAutoFit/>
          </a:bodyPr>
          <a:lstStyle/>
          <a:p>
            <a:pPr algn="l">
              <a:lnSpc>
                <a:spcPts val="10732"/>
              </a:lnSpc>
            </a:pPr>
            <a:r>
              <a:rPr lang="en-US" sz="10319">
                <a:solidFill>
                  <a:srgbClr val="FFFFFF"/>
                </a:solidFill>
                <a:latin typeface="League Spartan"/>
                <a:ea typeface="League Spartan"/>
                <a:cs typeface="League Spartan"/>
                <a:sym typeface="League Spartan"/>
              </a:rPr>
              <a:t>base de données du superstore</a:t>
            </a:r>
          </a:p>
        </p:txBody>
      </p:sp>
      <p:sp>
        <p:nvSpPr>
          <p:cNvPr name="TextBox 3" id="3"/>
          <p:cNvSpPr txBox="true"/>
          <p:nvPr/>
        </p:nvSpPr>
        <p:spPr>
          <a:xfrm rot="0">
            <a:off x="8561916" y="8675922"/>
            <a:ext cx="7651458" cy="273685"/>
          </a:xfrm>
          <a:prstGeom prst="rect">
            <a:avLst/>
          </a:prstGeom>
        </p:spPr>
        <p:txBody>
          <a:bodyPr anchor="t" rtlCol="false" tIns="0" lIns="0" bIns="0" rIns="0">
            <a:spAutoFit/>
          </a:bodyPr>
          <a:lstStyle/>
          <a:p>
            <a:pPr algn="l">
              <a:lnSpc>
                <a:spcPts val="2239"/>
              </a:lnSpc>
            </a:pPr>
            <a:r>
              <a:rPr lang="en-US" sz="1599">
                <a:solidFill>
                  <a:srgbClr val="FFFFFF"/>
                </a:solidFill>
                <a:latin typeface="Questrial"/>
                <a:ea typeface="Questrial"/>
                <a:cs typeface="Questrial"/>
                <a:sym typeface="Questrial"/>
              </a:rPr>
              <a:t>soubicharaf@gmail.com</a:t>
            </a:r>
          </a:p>
        </p:txBody>
      </p:sp>
      <p:sp>
        <p:nvSpPr>
          <p:cNvPr name="Freeform 4" id="4"/>
          <p:cNvSpPr/>
          <p:nvPr/>
        </p:nvSpPr>
        <p:spPr>
          <a:xfrm flipH="false" flipV="false" rot="0">
            <a:off x="15248455" y="265007"/>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5" id="5"/>
          <p:cNvSpPr/>
          <p:nvPr/>
        </p:nvSpPr>
        <p:spPr>
          <a:xfrm flipH="false" flipV="false" rot="0">
            <a:off x="16887778" y="5402361"/>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grpSp>
        <p:nvGrpSpPr>
          <p:cNvPr name="Group 6" id="6"/>
          <p:cNvGrpSpPr/>
          <p:nvPr/>
        </p:nvGrpSpPr>
        <p:grpSpPr>
          <a:xfrm rot="0">
            <a:off x="8561916" y="6504006"/>
            <a:ext cx="2967069" cy="807119"/>
            <a:chOff x="0" y="0"/>
            <a:chExt cx="418225" cy="113768"/>
          </a:xfrm>
        </p:grpSpPr>
        <p:sp>
          <p:nvSpPr>
            <p:cNvPr name="Freeform 7" id="7"/>
            <p:cNvSpPr/>
            <p:nvPr/>
          </p:nvSpPr>
          <p:spPr>
            <a:xfrm flipH="false" flipV="false" rot="0">
              <a:off x="0" y="0"/>
              <a:ext cx="418225" cy="113768"/>
            </a:xfrm>
            <a:custGeom>
              <a:avLst/>
              <a:gdLst/>
              <a:ahLst/>
              <a:cxnLst/>
              <a:rect r="r" b="b" t="t" l="l"/>
              <a:pathLst>
                <a:path h="113768" w="418225">
                  <a:moveTo>
                    <a:pt x="0" y="0"/>
                  </a:moveTo>
                  <a:lnTo>
                    <a:pt x="418225" y="0"/>
                  </a:lnTo>
                  <a:lnTo>
                    <a:pt x="418225" y="113768"/>
                  </a:lnTo>
                  <a:lnTo>
                    <a:pt x="0" y="113768"/>
                  </a:lnTo>
                  <a:close/>
                </a:path>
              </a:pathLst>
            </a:custGeom>
            <a:gradFill rotWithShape="true">
              <a:gsLst>
                <a:gs pos="0">
                  <a:srgbClr val="396BA5">
                    <a:alpha val="85000"/>
                  </a:srgbClr>
                </a:gs>
                <a:gs pos="100000">
                  <a:srgbClr val="062C3F">
                    <a:alpha val="85000"/>
                  </a:srgbClr>
                </a:gs>
              </a:gsLst>
              <a:lin ang="0"/>
            </a:gradFill>
            <a:ln cap="sq">
              <a:noFill/>
              <a:prstDash val="solid"/>
              <a:miter/>
            </a:ln>
          </p:spPr>
        </p:sp>
        <p:sp>
          <p:nvSpPr>
            <p:cNvPr name="TextBox 8" id="8"/>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3548977" y="1226896"/>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10" id="10"/>
          <p:cNvSpPr/>
          <p:nvPr/>
        </p:nvSpPr>
        <p:spPr>
          <a:xfrm flipH="false" flipV="false" rot="0">
            <a:off x="15743297" y="8442712"/>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11" id="11"/>
          <p:cNvSpPr/>
          <p:nvPr/>
        </p:nvSpPr>
        <p:spPr>
          <a:xfrm flipH="false" flipV="false" rot="0">
            <a:off x="-3753845" y="6504006"/>
            <a:ext cx="5089406" cy="2203289"/>
          </a:xfrm>
          <a:custGeom>
            <a:avLst/>
            <a:gdLst/>
            <a:ahLst/>
            <a:cxnLst/>
            <a:rect r="r" b="b" t="t" l="l"/>
            <a:pathLst>
              <a:path h="2203289" w="5089406">
                <a:moveTo>
                  <a:pt x="0" y="0"/>
                </a:moveTo>
                <a:lnTo>
                  <a:pt x="5089407" y="0"/>
                </a:lnTo>
                <a:lnTo>
                  <a:pt x="5089407" y="2203288"/>
                </a:lnTo>
                <a:lnTo>
                  <a:pt x="0" y="2203288"/>
                </a:lnTo>
                <a:lnTo>
                  <a:pt x="0" y="0"/>
                </a:lnTo>
                <a:close/>
              </a:path>
            </a:pathLst>
          </a:custGeom>
          <a:blipFill>
            <a:blip r:embed="rId2"/>
            <a:stretch>
              <a:fillRect l="0" t="0" r="0" b="0"/>
            </a:stretch>
          </a:blipFill>
        </p:spPr>
      </p:sp>
      <p:sp>
        <p:nvSpPr>
          <p:cNvPr name="Freeform 12" id="12"/>
          <p:cNvSpPr/>
          <p:nvPr/>
        </p:nvSpPr>
        <p:spPr>
          <a:xfrm flipH="false" flipV="false" rot="0">
            <a:off x="719823" y="1366652"/>
            <a:ext cx="6830821" cy="8217529"/>
          </a:xfrm>
          <a:custGeom>
            <a:avLst/>
            <a:gdLst/>
            <a:ahLst/>
            <a:cxnLst/>
            <a:rect r="r" b="b" t="t" l="l"/>
            <a:pathLst>
              <a:path h="8217529" w="6830821">
                <a:moveTo>
                  <a:pt x="0" y="0"/>
                </a:moveTo>
                <a:lnTo>
                  <a:pt x="6830821" y="0"/>
                </a:lnTo>
                <a:lnTo>
                  <a:pt x="6830821" y="8217529"/>
                </a:lnTo>
                <a:lnTo>
                  <a:pt x="0" y="8217529"/>
                </a:lnTo>
                <a:lnTo>
                  <a:pt x="0" y="0"/>
                </a:lnTo>
                <a:close/>
              </a:path>
            </a:pathLst>
          </a:custGeom>
          <a:blipFill>
            <a:blip r:embed="rId3"/>
            <a:stretch>
              <a:fillRect l="0" t="0" r="0" b="0"/>
            </a:stretch>
          </a:blipFill>
        </p:spPr>
      </p:sp>
      <p:sp>
        <p:nvSpPr>
          <p:cNvPr name="TextBox 13" id="13"/>
          <p:cNvSpPr txBox="true"/>
          <p:nvPr/>
        </p:nvSpPr>
        <p:spPr>
          <a:xfrm rot="0">
            <a:off x="8561916" y="6746021"/>
            <a:ext cx="2967069" cy="332613"/>
          </a:xfrm>
          <a:prstGeom prst="rect">
            <a:avLst/>
          </a:prstGeom>
        </p:spPr>
        <p:txBody>
          <a:bodyPr anchor="t" rtlCol="false" tIns="0" lIns="0" bIns="0" rIns="0">
            <a:spAutoFit/>
          </a:bodyPr>
          <a:lstStyle/>
          <a:p>
            <a:pPr algn="ctr">
              <a:lnSpc>
                <a:spcPts val="2691"/>
              </a:lnSpc>
            </a:pPr>
            <a:r>
              <a:rPr lang="en-US" sz="2300" spc="236">
                <a:solidFill>
                  <a:srgbClr val="FFFFFF"/>
                </a:solidFill>
                <a:latin typeface="League Spartan"/>
                <a:ea typeface="League Spartan"/>
                <a:cs typeface="League Spartan"/>
                <a:sym typeface="League Spartan"/>
              </a:rPr>
              <a:t>SOUBI CHARAF</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812709" y="7779031"/>
            <a:ext cx="2967069" cy="807119"/>
            <a:chOff x="0" y="0"/>
            <a:chExt cx="418225" cy="113768"/>
          </a:xfrm>
        </p:grpSpPr>
        <p:sp>
          <p:nvSpPr>
            <p:cNvPr name="Freeform 3" id="3"/>
            <p:cNvSpPr/>
            <p:nvPr/>
          </p:nvSpPr>
          <p:spPr>
            <a:xfrm flipH="false" flipV="false" rot="0">
              <a:off x="0" y="0"/>
              <a:ext cx="418225" cy="113768"/>
            </a:xfrm>
            <a:custGeom>
              <a:avLst/>
              <a:gdLst/>
              <a:ahLst/>
              <a:cxnLst/>
              <a:rect r="r" b="b" t="t" l="l"/>
              <a:pathLst>
                <a:path h="113768" w="418225">
                  <a:moveTo>
                    <a:pt x="0" y="0"/>
                  </a:moveTo>
                  <a:lnTo>
                    <a:pt x="418225" y="0"/>
                  </a:lnTo>
                  <a:lnTo>
                    <a:pt x="418225" y="113768"/>
                  </a:lnTo>
                  <a:lnTo>
                    <a:pt x="0" y="113768"/>
                  </a:lnTo>
                  <a:close/>
                </a:path>
              </a:pathLst>
            </a:custGeom>
            <a:gradFill rotWithShape="true">
              <a:gsLst>
                <a:gs pos="0">
                  <a:srgbClr val="396BA5">
                    <a:alpha val="85000"/>
                  </a:srgbClr>
                </a:gs>
                <a:gs pos="100000">
                  <a:srgbClr val="062C3F">
                    <a:alpha val="85000"/>
                  </a:srgbClr>
                </a:gs>
              </a:gsLst>
              <a:lin ang="0"/>
            </a:gradFill>
            <a:ln cap="sq">
              <a:noFill/>
              <a:prstDash val="solid"/>
              <a:miter/>
            </a:ln>
          </p:spPr>
        </p:sp>
        <p:sp>
          <p:nvSpPr>
            <p:cNvPr name="TextBox 4" id="4"/>
            <p:cNvSpPr txBox="true"/>
            <p:nvPr/>
          </p:nvSpPr>
          <p:spPr>
            <a:xfrm>
              <a:off x="0" y="-38100"/>
              <a:ext cx="418225" cy="1518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5616699"/>
            <a:ext cx="8874682" cy="4670301"/>
          </a:xfrm>
          <a:custGeom>
            <a:avLst/>
            <a:gdLst/>
            <a:ahLst/>
            <a:cxnLst/>
            <a:rect r="r" b="b" t="t" l="l"/>
            <a:pathLst>
              <a:path h="4670301" w="8874682">
                <a:moveTo>
                  <a:pt x="0" y="0"/>
                </a:moveTo>
                <a:lnTo>
                  <a:pt x="8874682" y="0"/>
                </a:lnTo>
                <a:lnTo>
                  <a:pt x="8874682" y="4670301"/>
                </a:lnTo>
                <a:lnTo>
                  <a:pt x="0" y="4670301"/>
                </a:lnTo>
                <a:lnTo>
                  <a:pt x="0" y="0"/>
                </a:lnTo>
                <a:close/>
              </a:path>
            </a:pathLst>
          </a:custGeom>
          <a:blipFill>
            <a:blip r:embed="rId2"/>
            <a:stretch>
              <a:fillRect l="0" t="0" r="0" b="0"/>
            </a:stretch>
          </a:blipFill>
        </p:spPr>
      </p:sp>
      <p:sp>
        <p:nvSpPr>
          <p:cNvPr name="TextBox 6" id="6"/>
          <p:cNvSpPr txBox="true"/>
          <p:nvPr/>
        </p:nvSpPr>
        <p:spPr>
          <a:xfrm rot="0">
            <a:off x="9812709" y="2024975"/>
            <a:ext cx="7629291" cy="1247639"/>
          </a:xfrm>
          <a:prstGeom prst="rect">
            <a:avLst/>
          </a:prstGeom>
        </p:spPr>
        <p:txBody>
          <a:bodyPr anchor="t" rtlCol="false" tIns="0" lIns="0" bIns="0" rIns="0">
            <a:spAutoFit/>
          </a:bodyPr>
          <a:lstStyle/>
          <a:p>
            <a:pPr algn="l">
              <a:lnSpc>
                <a:spcPts val="9429"/>
              </a:lnSpc>
            </a:pPr>
            <a:r>
              <a:rPr lang="en-US" sz="9066">
                <a:solidFill>
                  <a:srgbClr val="FFFFFF"/>
                </a:solidFill>
                <a:latin typeface="League Spartan"/>
                <a:ea typeface="League Spartan"/>
                <a:cs typeface="League Spartan"/>
                <a:sym typeface="League Spartan"/>
              </a:rPr>
              <a:t>Planification</a:t>
            </a:r>
          </a:p>
        </p:txBody>
      </p:sp>
      <p:sp>
        <p:nvSpPr>
          <p:cNvPr name="Freeform 7" id="7"/>
          <p:cNvSpPr/>
          <p:nvPr/>
        </p:nvSpPr>
        <p:spPr>
          <a:xfrm flipH="false" flipV="false" rot="0">
            <a:off x="15248455" y="265007"/>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3"/>
            <a:stretch>
              <a:fillRect l="0" t="0" r="0" b="0"/>
            </a:stretch>
          </a:blipFill>
        </p:spPr>
      </p:sp>
      <p:sp>
        <p:nvSpPr>
          <p:cNvPr name="Freeform 8" id="8"/>
          <p:cNvSpPr/>
          <p:nvPr/>
        </p:nvSpPr>
        <p:spPr>
          <a:xfrm flipH="false" flipV="false" rot="0">
            <a:off x="16068309" y="7055011"/>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3"/>
            <a:stretch>
              <a:fillRect l="0" t="0" r="0" b="0"/>
            </a:stretch>
          </a:blipFill>
        </p:spPr>
      </p:sp>
      <p:sp>
        <p:nvSpPr>
          <p:cNvPr name="Freeform 9" id="9"/>
          <p:cNvSpPr/>
          <p:nvPr/>
        </p:nvSpPr>
        <p:spPr>
          <a:xfrm flipH="false" flipV="false" rot="0">
            <a:off x="6836023" y="8819433"/>
            <a:ext cx="4077318" cy="1765139"/>
          </a:xfrm>
          <a:custGeom>
            <a:avLst/>
            <a:gdLst/>
            <a:ahLst/>
            <a:cxnLst/>
            <a:rect r="r" b="b" t="t" l="l"/>
            <a:pathLst>
              <a:path h="1765139" w="4077318">
                <a:moveTo>
                  <a:pt x="0" y="0"/>
                </a:moveTo>
                <a:lnTo>
                  <a:pt x="4077318" y="0"/>
                </a:lnTo>
                <a:lnTo>
                  <a:pt x="4077318" y="1765139"/>
                </a:lnTo>
                <a:lnTo>
                  <a:pt x="0" y="1765139"/>
                </a:lnTo>
                <a:lnTo>
                  <a:pt x="0" y="0"/>
                </a:lnTo>
                <a:close/>
              </a:path>
            </a:pathLst>
          </a:custGeom>
          <a:blipFill>
            <a:blip r:embed="rId3"/>
            <a:stretch>
              <a:fillRect l="0" t="0" r="0" b="0"/>
            </a:stretch>
          </a:blipFill>
        </p:spPr>
      </p:sp>
      <p:sp>
        <p:nvSpPr>
          <p:cNvPr name="Freeform 10" id="10"/>
          <p:cNvSpPr/>
          <p:nvPr/>
        </p:nvSpPr>
        <p:spPr>
          <a:xfrm flipH="false" flipV="false" rot="0">
            <a:off x="-2755502" y="1028700"/>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3"/>
            <a:stretch>
              <a:fillRect l="0" t="0" r="0" b="0"/>
            </a:stretch>
          </a:blipFill>
        </p:spPr>
      </p:sp>
      <p:sp>
        <p:nvSpPr>
          <p:cNvPr name="Freeform 11" id="11"/>
          <p:cNvSpPr/>
          <p:nvPr/>
        </p:nvSpPr>
        <p:spPr>
          <a:xfrm flipH="false" flipV="false" rot="0">
            <a:off x="557125" y="2343733"/>
            <a:ext cx="8317557" cy="7943267"/>
          </a:xfrm>
          <a:custGeom>
            <a:avLst/>
            <a:gdLst/>
            <a:ahLst/>
            <a:cxnLst/>
            <a:rect r="r" b="b" t="t" l="l"/>
            <a:pathLst>
              <a:path h="7943267" w="8317557">
                <a:moveTo>
                  <a:pt x="0" y="0"/>
                </a:moveTo>
                <a:lnTo>
                  <a:pt x="8317557" y="0"/>
                </a:lnTo>
                <a:lnTo>
                  <a:pt x="8317557" y="7943267"/>
                </a:lnTo>
                <a:lnTo>
                  <a:pt x="0" y="7943267"/>
                </a:lnTo>
                <a:lnTo>
                  <a:pt x="0" y="0"/>
                </a:lnTo>
                <a:close/>
              </a:path>
            </a:pathLst>
          </a:custGeom>
          <a:blipFill>
            <a:blip r:embed="rId4"/>
            <a:stretch>
              <a:fillRect l="0" t="0" r="0" b="0"/>
            </a:stretch>
          </a:blipFill>
        </p:spPr>
      </p:sp>
      <p:sp>
        <p:nvSpPr>
          <p:cNvPr name="TextBox 12" id="12"/>
          <p:cNvSpPr txBox="true"/>
          <p:nvPr/>
        </p:nvSpPr>
        <p:spPr>
          <a:xfrm rot="0">
            <a:off x="9812709" y="3449955"/>
            <a:ext cx="7446591" cy="3339465"/>
          </a:xfrm>
          <a:prstGeom prst="rect">
            <a:avLst/>
          </a:prstGeom>
        </p:spPr>
        <p:txBody>
          <a:bodyPr anchor="t" rtlCol="false" tIns="0" lIns="0" bIns="0" rIns="0">
            <a:spAutoFit/>
          </a:bodyPr>
          <a:lstStyle/>
          <a:p>
            <a:pPr algn="just">
              <a:lnSpc>
                <a:spcPts val="3359"/>
              </a:lnSpc>
            </a:pPr>
            <a:r>
              <a:rPr lang="en-US" sz="2400">
                <a:solidFill>
                  <a:srgbClr val="FFFFFF"/>
                </a:solidFill>
                <a:latin typeface="Questrial"/>
                <a:ea typeface="Questrial"/>
                <a:cs typeface="Questrial"/>
                <a:sym typeface="Questrial"/>
              </a:rPr>
              <a:t>Le projet a été organisé sur Trello en différentes listes correspondant aux phases principales : configuration de l’environnement, conception du modèle relationnel, création des tables, chargement des données, analyse avec requêtes SQL, préparation de la démonstration et documentation finale. Chaque phase contient des tâches claires permettant de suivre l’avancement et d’assurer la cohérence et la qualité du projet.</a:t>
            </a:r>
          </a:p>
        </p:txBody>
      </p:sp>
      <p:sp>
        <p:nvSpPr>
          <p:cNvPr name="TextBox 13" id="13"/>
          <p:cNvSpPr txBox="true"/>
          <p:nvPr/>
        </p:nvSpPr>
        <p:spPr>
          <a:xfrm rot="0">
            <a:off x="9812709" y="8021047"/>
            <a:ext cx="2967069" cy="332613"/>
          </a:xfrm>
          <a:prstGeom prst="rect">
            <a:avLst/>
          </a:prstGeom>
        </p:spPr>
        <p:txBody>
          <a:bodyPr anchor="t" rtlCol="false" tIns="0" lIns="0" bIns="0" rIns="0">
            <a:spAutoFit/>
          </a:bodyPr>
          <a:lstStyle/>
          <a:p>
            <a:pPr algn="ctr">
              <a:lnSpc>
                <a:spcPts val="2691"/>
              </a:lnSpc>
            </a:pPr>
            <a:r>
              <a:rPr lang="en-US" sz="2300" spc="236">
                <a:solidFill>
                  <a:srgbClr val="FFFFFF"/>
                </a:solidFill>
                <a:latin typeface="League Spartan"/>
                <a:ea typeface="League Spartan"/>
                <a:cs typeface="League Spartan"/>
                <a:sym typeface="League Spartan"/>
              </a:rPr>
              <a:t>TRELLO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1132220" y="2045608"/>
            <a:ext cx="6127080" cy="7212692"/>
          </a:xfrm>
          <a:prstGeom prst="rect">
            <a:avLst/>
          </a:prstGeom>
        </p:spPr>
        <p:txBody>
          <a:bodyPr anchor="t" rtlCol="false" tIns="0" lIns="0" bIns="0" rIns="0">
            <a:spAutoFit/>
          </a:bodyPr>
          <a:lstStyle/>
          <a:p>
            <a:pPr algn="just">
              <a:lnSpc>
                <a:spcPts val="4456"/>
              </a:lnSpc>
            </a:pPr>
            <a:r>
              <a:rPr lang="en-US" sz="3183">
                <a:solidFill>
                  <a:srgbClr val="FFFFFF"/>
                </a:solidFill>
                <a:latin typeface="Questrial"/>
                <a:ea typeface="Questrial"/>
                <a:cs typeface="Questrial"/>
                <a:sym typeface="Questrial"/>
              </a:rPr>
              <a:t>  PostgerSQL/</a:t>
            </a:r>
          </a:p>
          <a:p>
            <a:pPr algn="just">
              <a:lnSpc>
                <a:spcPts val="4456"/>
              </a:lnSpc>
            </a:pPr>
            <a:r>
              <a:rPr lang="en-US" sz="3183">
                <a:solidFill>
                  <a:srgbClr val="FFFFFF"/>
                </a:solidFill>
                <a:latin typeface="Questrial"/>
                <a:ea typeface="Questrial"/>
                <a:cs typeface="Questrial"/>
                <a:sym typeface="Questrial"/>
              </a:rPr>
              <a:t>│</a:t>
            </a:r>
          </a:p>
          <a:p>
            <a:pPr algn="just">
              <a:lnSpc>
                <a:spcPts val="4456"/>
              </a:lnSpc>
            </a:pPr>
            <a:r>
              <a:rPr lang="en-US" sz="3183">
                <a:solidFill>
                  <a:srgbClr val="FFFFFF"/>
                </a:solidFill>
                <a:latin typeface="Questrial"/>
                <a:ea typeface="Questrial"/>
                <a:cs typeface="Questrial"/>
                <a:sym typeface="Questrial"/>
              </a:rPr>
              <a:t>├── scripts/</a:t>
            </a:r>
          </a:p>
          <a:p>
            <a:pPr algn="just">
              <a:lnSpc>
                <a:spcPts val="4456"/>
              </a:lnSpc>
            </a:pPr>
            <a:r>
              <a:rPr lang="en-US" sz="3183">
                <a:solidFill>
                  <a:srgbClr val="FFFFFF"/>
                </a:solidFill>
                <a:latin typeface="Questrial"/>
                <a:ea typeface="Questrial"/>
                <a:cs typeface="Questrial"/>
                <a:sym typeface="Questrial"/>
              </a:rPr>
              <a:t>│   ├── setup_db.py          </a:t>
            </a:r>
          </a:p>
          <a:p>
            <a:pPr algn="just">
              <a:lnSpc>
                <a:spcPts val="4456"/>
              </a:lnSpc>
            </a:pPr>
            <a:r>
              <a:rPr lang="en-US" sz="3183">
                <a:solidFill>
                  <a:srgbClr val="FFFFFF"/>
                </a:solidFill>
                <a:latin typeface="Questrial"/>
                <a:ea typeface="Questrial"/>
                <a:cs typeface="Questrial"/>
                <a:sym typeface="Questrial"/>
              </a:rPr>
              <a:t>│   ├── create_tables.py     </a:t>
            </a:r>
          </a:p>
          <a:p>
            <a:pPr algn="just">
              <a:lnSpc>
                <a:spcPts val="4456"/>
              </a:lnSpc>
            </a:pPr>
            <a:r>
              <a:rPr lang="en-US" sz="3183">
                <a:solidFill>
                  <a:srgbClr val="FFFFFF"/>
                </a:solidFill>
                <a:latin typeface="Questrial"/>
                <a:ea typeface="Questrial"/>
                <a:cs typeface="Questrial"/>
                <a:sym typeface="Questrial"/>
              </a:rPr>
              <a:t>│   ├── load_data.py         </a:t>
            </a:r>
          </a:p>
          <a:p>
            <a:pPr algn="just">
              <a:lnSpc>
                <a:spcPts val="4456"/>
              </a:lnSpc>
            </a:pPr>
            <a:r>
              <a:rPr lang="en-US" sz="3183">
                <a:solidFill>
                  <a:srgbClr val="FFFFFF"/>
                </a:solidFill>
                <a:latin typeface="Questrial"/>
                <a:ea typeface="Questrial"/>
                <a:cs typeface="Questrial"/>
                <a:sym typeface="Questrial"/>
              </a:rPr>
              <a:t>│   ├── verify_data.py        </a:t>
            </a:r>
          </a:p>
          <a:p>
            <a:pPr algn="just">
              <a:lnSpc>
                <a:spcPts val="4456"/>
              </a:lnSpc>
            </a:pPr>
            <a:r>
              <a:rPr lang="en-US" sz="3183">
                <a:solidFill>
                  <a:srgbClr val="FFFFFF"/>
                </a:solidFill>
                <a:latin typeface="Questrial"/>
                <a:ea typeface="Questrial"/>
                <a:cs typeface="Questrial"/>
                <a:sym typeface="Questrial"/>
              </a:rPr>
              <a:t>│   └── queries.py            </a:t>
            </a:r>
          </a:p>
          <a:p>
            <a:pPr algn="just">
              <a:lnSpc>
                <a:spcPts val="4456"/>
              </a:lnSpc>
            </a:pPr>
            <a:r>
              <a:rPr lang="en-US" sz="3183">
                <a:solidFill>
                  <a:srgbClr val="FFFFFF"/>
                </a:solidFill>
                <a:latin typeface="Questrial"/>
                <a:ea typeface="Questrial"/>
                <a:cs typeface="Questrial"/>
                <a:sym typeface="Questrial"/>
              </a:rPr>
              <a:t>│</a:t>
            </a:r>
          </a:p>
          <a:p>
            <a:pPr algn="just">
              <a:lnSpc>
                <a:spcPts val="4456"/>
              </a:lnSpc>
            </a:pPr>
            <a:r>
              <a:rPr lang="en-US" sz="3183">
                <a:solidFill>
                  <a:srgbClr val="FFFFFF"/>
                </a:solidFill>
                <a:latin typeface="Questrial"/>
                <a:ea typeface="Questrial"/>
                <a:cs typeface="Questrial"/>
                <a:sym typeface="Questrial"/>
              </a:rPr>
              <a:t>├── tests/</a:t>
            </a:r>
          </a:p>
          <a:p>
            <a:pPr algn="just">
              <a:lnSpc>
                <a:spcPts val="4456"/>
              </a:lnSpc>
            </a:pPr>
            <a:r>
              <a:rPr lang="en-US" sz="3183">
                <a:solidFill>
                  <a:srgbClr val="FFFFFF"/>
                </a:solidFill>
                <a:latin typeface="Questrial"/>
                <a:ea typeface="Questrial"/>
                <a:cs typeface="Questrial"/>
                <a:sym typeface="Questrial"/>
              </a:rPr>
              <a:t>│   ├── test_connection.py   </a:t>
            </a:r>
          </a:p>
          <a:p>
            <a:pPr algn="just">
              <a:lnSpc>
                <a:spcPts val="4456"/>
              </a:lnSpc>
            </a:pPr>
            <a:r>
              <a:rPr lang="en-US" sz="3183">
                <a:solidFill>
                  <a:srgbClr val="FFFFFF"/>
                </a:solidFill>
                <a:latin typeface="Questrial"/>
                <a:ea typeface="Questrial"/>
                <a:cs typeface="Questrial"/>
                <a:sym typeface="Questrial"/>
              </a:rPr>
              <a:t>│   ├── test_insertion.py    </a:t>
            </a:r>
          </a:p>
          <a:p>
            <a:pPr algn="just">
              <a:lnSpc>
                <a:spcPts val="4456"/>
              </a:lnSpc>
            </a:pPr>
            <a:r>
              <a:rPr lang="en-US" sz="3183">
                <a:solidFill>
                  <a:srgbClr val="FFFFFF"/>
                </a:solidFill>
                <a:latin typeface="Questrial"/>
                <a:ea typeface="Questrial"/>
                <a:cs typeface="Questrial"/>
                <a:sym typeface="Questrial"/>
              </a:rPr>
              <a:t>│   └── test_queries.py     </a:t>
            </a:r>
          </a:p>
        </p:txBody>
      </p:sp>
      <p:sp>
        <p:nvSpPr>
          <p:cNvPr name="Freeform 3" id="3"/>
          <p:cNvSpPr/>
          <p:nvPr/>
        </p:nvSpPr>
        <p:spPr>
          <a:xfrm flipH="false" flipV="false" rot="0">
            <a:off x="14334106" y="420760"/>
            <a:ext cx="5089406" cy="2203289"/>
          </a:xfrm>
          <a:custGeom>
            <a:avLst/>
            <a:gdLst/>
            <a:ahLst/>
            <a:cxnLst/>
            <a:rect r="r" b="b" t="t" l="l"/>
            <a:pathLst>
              <a:path h="2203289" w="5089406">
                <a:moveTo>
                  <a:pt x="0" y="0"/>
                </a:moveTo>
                <a:lnTo>
                  <a:pt x="5089407" y="0"/>
                </a:lnTo>
                <a:lnTo>
                  <a:pt x="5089407" y="2203289"/>
                </a:lnTo>
                <a:lnTo>
                  <a:pt x="0" y="2203289"/>
                </a:lnTo>
                <a:lnTo>
                  <a:pt x="0" y="0"/>
                </a:lnTo>
                <a:close/>
              </a:path>
            </a:pathLst>
          </a:custGeom>
          <a:blipFill>
            <a:blip r:embed="rId2"/>
            <a:stretch>
              <a:fillRect l="0" t="0" r="0" b="0"/>
            </a:stretch>
          </a:blipFill>
        </p:spPr>
      </p:sp>
      <p:sp>
        <p:nvSpPr>
          <p:cNvPr name="Freeform 4" id="4"/>
          <p:cNvSpPr/>
          <p:nvPr/>
        </p:nvSpPr>
        <p:spPr>
          <a:xfrm flipH="false" flipV="false" rot="0">
            <a:off x="16505935" y="3081249"/>
            <a:ext cx="5089406" cy="2203289"/>
          </a:xfrm>
          <a:custGeom>
            <a:avLst/>
            <a:gdLst/>
            <a:ahLst/>
            <a:cxnLst/>
            <a:rect r="r" b="b" t="t" l="l"/>
            <a:pathLst>
              <a:path h="2203289" w="5089406">
                <a:moveTo>
                  <a:pt x="0" y="0"/>
                </a:moveTo>
                <a:lnTo>
                  <a:pt x="5089406" y="0"/>
                </a:lnTo>
                <a:lnTo>
                  <a:pt x="5089406" y="2203288"/>
                </a:lnTo>
                <a:lnTo>
                  <a:pt x="0" y="2203288"/>
                </a:lnTo>
                <a:lnTo>
                  <a:pt x="0" y="0"/>
                </a:lnTo>
                <a:close/>
              </a:path>
            </a:pathLst>
          </a:custGeom>
          <a:blipFill>
            <a:blip r:embed="rId2"/>
            <a:stretch>
              <a:fillRect l="0" t="0" r="0" b="0"/>
            </a:stretch>
          </a:blipFill>
        </p:spPr>
      </p:sp>
      <p:sp>
        <p:nvSpPr>
          <p:cNvPr name="Freeform 5" id="5"/>
          <p:cNvSpPr/>
          <p:nvPr/>
        </p:nvSpPr>
        <p:spPr>
          <a:xfrm flipH="false" flipV="false" rot="0">
            <a:off x="-2312605" y="-297526"/>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6" id="6"/>
          <p:cNvSpPr/>
          <p:nvPr/>
        </p:nvSpPr>
        <p:spPr>
          <a:xfrm flipH="false" flipV="false" rot="0">
            <a:off x="1803092" y="2952153"/>
            <a:ext cx="6245212" cy="5964177"/>
          </a:xfrm>
          <a:custGeom>
            <a:avLst/>
            <a:gdLst/>
            <a:ahLst/>
            <a:cxnLst/>
            <a:rect r="r" b="b" t="t" l="l"/>
            <a:pathLst>
              <a:path h="5964177" w="6245212">
                <a:moveTo>
                  <a:pt x="0" y="0"/>
                </a:moveTo>
                <a:lnTo>
                  <a:pt x="6245212" y="0"/>
                </a:lnTo>
                <a:lnTo>
                  <a:pt x="6245212" y="5964177"/>
                </a:lnTo>
                <a:lnTo>
                  <a:pt x="0" y="5964177"/>
                </a:lnTo>
                <a:lnTo>
                  <a:pt x="0" y="0"/>
                </a:lnTo>
                <a:close/>
              </a:path>
            </a:pathLst>
          </a:custGeom>
          <a:blipFill>
            <a:blip r:embed="rId3"/>
            <a:stretch>
              <a:fillRect l="0" t="0" r="0" b="0"/>
            </a:stretch>
          </a:blipFill>
        </p:spPr>
      </p:sp>
      <p:sp>
        <p:nvSpPr>
          <p:cNvPr name="Freeform 7" id="7"/>
          <p:cNvSpPr/>
          <p:nvPr/>
        </p:nvSpPr>
        <p:spPr>
          <a:xfrm flipH="false" flipV="false" rot="0">
            <a:off x="1028700" y="8071035"/>
            <a:ext cx="3905117" cy="1690590"/>
          </a:xfrm>
          <a:custGeom>
            <a:avLst/>
            <a:gdLst/>
            <a:ahLst/>
            <a:cxnLst/>
            <a:rect r="r" b="b" t="t" l="l"/>
            <a:pathLst>
              <a:path h="1690590" w="3905117">
                <a:moveTo>
                  <a:pt x="0" y="0"/>
                </a:moveTo>
                <a:lnTo>
                  <a:pt x="3905117" y="0"/>
                </a:lnTo>
                <a:lnTo>
                  <a:pt x="3905117" y="1690590"/>
                </a:lnTo>
                <a:lnTo>
                  <a:pt x="0" y="1690590"/>
                </a:lnTo>
                <a:lnTo>
                  <a:pt x="0" y="0"/>
                </a:lnTo>
                <a:close/>
              </a:path>
            </a:pathLst>
          </a:custGeom>
          <a:blipFill>
            <a:blip r:embed="rId2"/>
            <a:stretch>
              <a:fillRect l="0" t="0" r="0" b="0"/>
            </a:stretch>
          </a:blipFill>
        </p:spPr>
      </p:sp>
      <p:sp>
        <p:nvSpPr>
          <p:cNvPr name="TextBox 8" id="8"/>
          <p:cNvSpPr txBox="true"/>
          <p:nvPr/>
        </p:nvSpPr>
        <p:spPr>
          <a:xfrm rot="0">
            <a:off x="4216433" y="507763"/>
            <a:ext cx="9855133" cy="2444390"/>
          </a:xfrm>
          <a:prstGeom prst="rect">
            <a:avLst/>
          </a:prstGeom>
        </p:spPr>
        <p:txBody>
          <a:bodyPr anchor="t" rtlCol="false" tIns="0" lIns="0" bIns="0" rIns="0">
            <a:spAutoFit/>
          </a:bodyPr>
          <a:lstStyle/>
          <a:p>
            <a:pPr algn="l">
              <a:lnSpc>
                <a:spcPts val="9429"/>
              </a:lnSpc>
            </a:pPr>
            <a:r>
              <a:rPr lang="en-US" sz="9066">
                <a:solidFill>
                  <a:srgbClr val="FFFFFF"/>
                </a:solidFill>
                <a:latin typeface="League Spartan"/>
                <a:ea typeface="League Spartan"/>
                <a:cs typeface="League Spartan"/>
                <a:sym typeface="League Spartan"/>
              </a:rPr>
              <a:t>schéma des fichiers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10048361" y="2084318"/>
            <a:ext cx="7385130" cy="6656778"/>
          </a:xfrm>
          <a:prstGeom prst="rect">
            <a:avLst/>
          </a:prstGeom>
        </p:spPr>
        <p:txBody>
          <a:bodyPr anchor="t" rtlCol="false" tIns="0" lIns="0" bIns="0" rIns="0">
            <a:spAutoFit/>
          </a:bodyPr>
          <a:lstStyle/>
          <a:p>
            <a:pPr algn="just">
              <a:lnSpc>
                <a:spcPts val="4456"/>
              </a:lnSpc>
            </a:pPr>
            <a:r>
              <a:rPr lang="en-US" sz="3183">
                <a:solidFill>
                  <a:srgbClr val="FFFFFF"/>
                </a:solidFill>
                <a:latin typeface="Questrial"/>
                <a:ea typeface="Questrial"/>
                <a:cs typeface="Questrial"/>
                <a:sym typeface="Questrial"/>
              </a:rPr>
              <a:t>├─ PostgreSQL/       </a:t>
            </a:r>
          </a:p>
          <a:p>
            <a:pPr algn="just">
              <a:lnSpc>
                <a:spcPts val="4456"/>
              </a:lnSpc>
            </a:pPr>
            <a:r>
              <a:rPr lang="en-US" sz="3183">
                <a:solidFill>
                  <a:srgbClr val="FFFFFF"/>
                </a:solidFill>
                <a:latin typeface="Questrial"/>
                <a:ea typeface="Questrial"/>
                <a:cs typeface="Questrial"/>
                <a:sym typeface="Questrial"/>
              </a:rPr>
              <a:t>│ ├─ main.py       </a:t>
            </a:r>
          </a:p>
          <a:p>
            <a:pPr algn="just">
              <a:lnSpc>
                <a:spcPts val="4456"/>
              </a:lnSpc>
            </a:pPr>
            <a:r>
              <a:rPr lang="en-US" sz="3183">
                <a:solidFill>
                  <a:srgbClr val="FFFFFF"/>
                </a:solidFill>
                <a:latin typeface="Questrial"/>
                <a:ea typeface="Questrial"/>
                <a:cs typeface="Questrial"/>
                <a:sym typeface="Questrial"/>
              </a:rPr>
              <a:t>│ ├─ scripts/ </a:t>
            </a:r>
          </a:p>
          <a:p>
            <a:pPr algn="just">
              <a:lnSpc>
                <a:spcPts val="4456"/>
              </a:lnSpc>
            </a:pPr>
            <a:r>
              <a:rPr lang="en-US" sz="3183">
                <a:solidFill>
                  <a:srgbClr val="FFFFFF"/>
                </a:solidFill>
                <a:latin typeface="Questrial"/>
                <a:ea typeface="Questrial"/>
                <a:cs typeface="Questrial"/>
                <a:sym typeface="Questrial"/>
              </a:rPr>
              <a:t>│ │ ├── config.py   </a:t>
            </a:r>
          </a:p>
          <a:p>
            <a:pPr algn="just">
              <a:lnSpc>
                <a:spcPts val="4456"/>
              </a:lnSpc>
            </a:pPr>
            <a:r>
              <a:rPr lang="en-US" sz="3183">
                <a:solidFill>
                  <a:srgbClr val="FFFFFF"/>
                </a:solidFill>
                <a:latin typeface="Questrial"/>
                <a:ea typeface="Questrial"/>
                <a:cs typeface="Questrial"/>
                <a:sym typeface="Questrial"/>
              </a:rPr>
              <a:t>│ │ ├── create_tables.py</a:t>
            </a:r>
          </a:p>
          <a:p>
            <a:pPr algn="just">
              <a:lnSpc>
                <a:spcPts val="4456"/>
              </a:lnSpc>
            </a:pPr>
            <a:r>
              <a:rPr lang="en-US" sz="3183">
                <a:solidFill>
                  <a:srgbClr val="FFFFFF"/>
                </a:solidFill>
                <a:latin typeface="Questrial"/>
                <a:ea typeface="Questrial"/>
                <a:cs typeface="Questrial"/>
                <a:sym typeface="Questrial"/>
              </a:rPr>
              <a:t>│ │ ├── split_csv.py  </a:t>
            </a:r>
          </a:p>
          <a:p>
            <a:pPr algn="just">
              <a:lnSpc>
                <a:spcPts val="4456"/>
              </a:lnSpc>
            </a:pPr>
            <a:r>
              <a:rPr lang="en-US" sz="3183">
                <a:solidFill>
                  <a:srgbClr val="FFFFFF"/>
                </a:solidFill>
                <a:latin typeface="Questrial"/>
                <a:ea typeface="Questrial"/>
                <a:cs typeface="Questrial"/>
                <a:sym typeface="Questrial"/>
              </a:rPr>
              <a:t>│ │ ├── insert_data.py   </a:t>
            </a:r>
          </a:p>
          <a:p>
            <a:pPr algn="just">
              <a:lnSpc>
                <a:spcPts val="4456"/>
              </a:lnSpc>
            </a:pPr>
            <a:r>
              <a:rPr lang="en-US" sz="3183">
                <a:solidFill>
                  <a:srgbClr val="FFFFFF"/>
                </a:solidFill>
                <a:latin typeface="Questrial"/>
                <a:ea typeface="Questrial"/>
                <a:cs typeface="Questrial"/>
                <a:sym typeface="Questrial"/>
              </a:rPr>
              <a:t>│ │ └── check_uniqueness.py </a:t>
            </a:r>
          </a:p>
          <a:p>
            <a:pPr algn="just">
              <a:lnSpc>
                <a:spcPts val="4456"/>
              </a:lnSpc>
            </a:pPr>
            <a:r>
              <a:rPr lang="en-US" sz="3183">
                <a:solidFill>
                  <a:srgbClr val="FFFFFF"/>
                </a:solidFill>
                <a:latin typeface="Questrial"/>
                <a:ea typeface="Questrial"/>
                <a:cs typeface="Questrial"/>
                <a:sym typeface="Questrial"/>
              </a:rPr>
              <a:t>│ └─ tests/       </a:t>
            </a:r>
          </a:p>
          <a:p>
            <a:pPr algn="just">
              <a:lnSpc>
                <a:spcPts val="4456"/>
              </a:lnSpc>
            </a:pPr>
            <a:r>
              <a:rPr lang="en-US" sz="3183">
                <a:solidFill>
                  <a:srgbClr val="FFFFFF"/>
                </a:solidFill>
                <a:latin typeface="Questrial"/>
                <a:ea typeface="Questrial"/>
                <a:cs typeface="Questrial"/>
                <a:sym typeface="Questrial"/>
              </a:rPr>
              <a:t>│   ├── test_analytics.py</a:t>
            </a:r>
          </a:p>
          <a:p>
            <a:pPr algn="just">
              <a:lnSpc>
                <a:spcPts val="4456"/>
              </a:lnSpc>
            </a:pPr>
            <a:r>
              <a:rPr lang="en-US" sz="3183">
                <a:solidFill>
                  <a:srgbClr val="FFFFFF"/>
                </a:solidFill>
                <a:latin typeface="Questrial"/>
                <a:ea typeface="Questrial"/>
                <a:cs typeface="Questrial"/>
                <a:sym typeface="Questrial"/>
              </a:rPr>
              <a:t>│   └── test_insertion.py</a:t>
            </a:r>
          </a:p>
          <a:p>
            <a:pPr algn="just">
              <a:lnSpc>
                <a:spcPts val="4456"/>
              </a:lnSpc>
            </a:pPr>
          </a:p>
        </p:txBody>
      </p:sp>
      <p:sp>
        <p:nvSpPr>
          <p:cNvPr name="Freeform 3" id="3"/>
          <p:cNvSpPr/>
          <p:nvPr/>
        </p:nvSpPr>
        <p:spPr>
          <a:xfrm flipH="false" flipV="false" rot="0">
            <a:off x="14334106" y="420760"/>
            <a:ext cx="5089406" cy="2203289"/>
          </a:xfrm>
          <a:custGeom>
            <a:avLst/>
            <a:gdLst/>
            <a:ahLst/>
            <a:cxnLst/>
            <a:rect r="r" b="b" t="t" l="l"/>
            <a:pathLst>
              <a:path h="2203289" w="5089406">
                <a:moveTo>
                  <a:pt x="0" y="0"/>
                </a:moveTo>
                <a:lnTo>
                  <a:pt x="5089407" y="0"/>
                </a:lnTo>
                <a:lnTo>
                  <a:pt x="5089407" y="2203289"/>
                </a:lnTo>
                <a:lnTo>
                  <a:pt x="0" y="2203289"/>
                </a:lnTo>
                <a:lnTo>
                  <a:pt x="0" y="0"/>
                </a:lnTo>
                <a:close/>
              </a:path>
            </a:pathLst>
          </a:custGeom>
          <a:blipFill>
            <a:blip r:embed="rId2"/>
            <a:stretch>
              <a:fillRect l="0" t="0" r="0" b="0"/>
            </a:stretch>
          </a:blipFill>
        </p:spPr>
      </p:sp>
      <p:sp>
        <p:nvSpPr>
          <p:cNvPr name="Freeform 4" id="4"/>
          <p:cNvSpPr/>
          <p:nvPr/>
        </p:nvSpPr>
        <p:spPr>
          <a:xfrm flipH="false" flipV="false" rot="0">
            <a:off x="16505935" y="3081249"/>
            <a:ext cx="5089406" cy="2203289"/>
          </a:xfrm>
          <a:custGeom>
            <a:avLst/>
            <a:gdLst/>
            <a:ahLst/>
            <a:cxnLst/>
            <a:rect r="r" b="b" t="t" l="l"/>
            <a:pathLst>
              <a:path h="2203289" w="5089406">
                <a:moveTo>
                  <a:pt x="0" y="0"/>
                </a:moveTo>
                <a:lnTo>
                  <a:pt x="5089406" y="0"/>
                </a:lnTo>
                <a:lnTo>
                  <a:pt x="5089406" y="2203288"/>
                </a:lnTo>
                <a:lnTo>
                  <a:pt x="0" y="2203288"/>
                </a:lnTo>
                <a:lnTo>
                  <a:pt x="0" y="0"/>
                </a:lnTo>
                <a:close/>
              </a:path>
            </a:pathLst>
          </a:custGeom>
          <a:blipFill>
            <a:blip r:embed="rId2"/>
            <a:stretch>
              <a:fillRect l="0" t="0" r="0" b="0"/>
            </a:stretch>
          </a:blipFill>
        </p:spPr>
      </p:sp>
      <p:sp>
        <p:nvSpPr>
          <p:cNvPr name="Freeform 5" id="5"/>
          <p:cNvSpPr/>
          <p:nvPr/>
        </p:nvSpPr>
        <p:spPr>
          <a:xfrm flipH="false" flipV="false" rot="0">
            <a:off x="-2312605" y="-297526"/>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6" id="6"/>
          <p:cNvSpPr/>
          <p:nvPr/>
        </p:nvSpPr>
        <p:spPr>
          <a:xfrm flipH="false" flipV="false" rot="0">
            <a:off x="1803092" y="2952153"/>
            <a:ext cx="6245212" cy="5964177"/>
          </a:xfrm>
          <a:custGeom>
            <a:avLst/>
            <a:gdLst/>
            <a:ahLst/>
            <a:cxnLst/>
            <a:rect r="r" b="b" t="t" l="l"/>
            <a:pathLst>
              <a:path h="5964177" w="6245212">
                <a:moveTo>
                  <a:pt x="0" y="0"/>
                </a:moveTo>
                <a:lnTo>
                  <a:pt x="6245212" y="0"/>
                </a:lnTo>
                <a:lnTo>
                  <a:pt x="6245212" y="5964177"/>
                </a:lnTo>
                <a:lnTo>
                  <a:pt x="0" y="5964177"/>
                </a:lnTo>
                <a:lnTo>
                  <a:pt x="0" y="0"/>
                </a:lnTo>
                <a:close/>
              </a:path>
            </a:pathLst>
          </a:custGeom>
          <a:blipFill>
            <a:blip r:embed="rId3"/>
            <a:stretch>
              <a:fillRect l="0" t="0" r="0" b="0"/>
            </a:stretch>
          </a:blipFill>
        </p:spPr>
      </p:sp>
      <p:sp>
        <p:nvSpPr>
          <p:cNvPr name="Freeform 7" id="7"/>
          <p:cNvSpPr/>
          <p:nvPr/>
        </p:nvSpPr>
        <p:spPr>
          <a:xfrm flipH="false" flipV="false" rot="0">
            <a:off x="1028700" y="8071035"/>
            <a:ext cx="3905117" cy="1690590"/>
          </a:xfrm>
          <a:custGeom>
            <a:avLst/>
            <a:gdLst/>
            <a:ahLst/>
            <a:cxnLst/>
            <a:rect r="r" b="b" t="t" l="l"/>
            <a:pathLst>
              <a:path h="1690590" w="3905117">
                <a:moveTo>
                  <a:pt x="0" y="0"/>
                </a:moveTo>
                <a:lnTo>
                  <a:pt x="3905117" y="0"/>
                </a:lnTo>
                <a:lnTo>
                  <a:pt x="3905117" y="1690590"/>
                </a:lnTo>
                <a:lnTo>
                  <a:pt x="0" y="1690590"/>
                </a:lnTo>
                <a:lnTo>
                  <a:pt x="0" y="0"/>
                </a:lnTo>
                <a:close/>
              </a:path>
            </a:pathLst>
          </a:custGeom>
          <a:blipFill>
            <a:blip r:embed="rId2"/>
            <a:stretch>
              <a:fillRect l="0" t="0" r="0" b="0"/>
            </a:stretch>
          </a:blipFill>
        </p:spPr>
      </p:sp>
      <p:sp>
        <p:nvSpPr>
          <p:cNvPr name="TextBox 8" id="8"/>
          <p:cNvSpPr txBox="true"/>
          <p:nvPr/>
        </p:nvSpPr>
        <p:spPr>
          <a:xfrm rot="0">
            <a:off x="4216433" y="507763"/>
            <a:ext cx="9855133" cy="2444390"/>
          </a:xfrm>
          <a:prstGeom prst="rect">
            <a:avLst/>
          </a:prstGeom>
        </p:spPr>
        <p:txBody>
          <a:bodyPr anchor="t" rtlCol="false" tIns="0" lIns="0" bIns="0" rIns="0">
            <a:spAutoFit/>
          </a:bodyPr>
          <a:lstStyle/>
          <a:p>
            <a:pPr algn="l">
              <a:lnSpc>
                <a:spcPts val="9429"/>
              </a:lnSpc>
            </a:pPr>
            <a:r>
              <a:rPr lang="en-US" sz="9066">
                <a:solidFill>
                  <a:srgbClr val="FFFFFF"/>
                </a:solidFill>
                <a:latin typeface="League Spartan"/>
                <a:ea typeface="League Spartan"/>
                <a:cs typeface="League Spartan"/>
                <a:sym typeface="League Spartan"/>
              </a:rPr>
              <a:t>schéma des fichiers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109582" y="1699387"/>
            <a:ext cx="4900975" cy="4873221"/>
            <a:chOff x="0" y="0"/>
            <a:chExt cx="759289" cy="754989"/>
          </a:xfrm>
        </p:grpSpPr>
        <p:sp>
          <p:nvSpPr>
            <p:cNvPr name="Freeform 3" id="3"/>
            <p:cNvSpPr/>
            <p:nvPr/>
          </p:nvSpPr>
          <p:spPr>
            <a:xfrm flipH="false" flipV="false" rot="0">
              <a:off x="0" y="0"/>
              <a:ext cx="759289" cy="754989"/>
            </a:xfrm>
            <a:custGeom>
              <a:avLst/>
              <a:gdLst/>
              <a:ahLst/>
              <a:cxnLst/>
              <a:rect r="r" b="b" t="t" l="l"/>
              <a:pathLst>
                <a:path h="754989" w="759289">
                  <a:moveTo>
                    <a:pt x="0" y="0"/>
                  </a:moveTo>
                  <a:lnTo>
                    <a:pt x="759289" y="0"/>
                  </a:lnTo>
                  <a:lnTo>
                    <a:pt x="759289" y="754989"/>
                  </a:lnTo>
                  <a:lnTo>
                    <a:pt x="0" y="754989"/>
                  </a:lnTo>
                  <a:close/>
                </a:path>
              </a:pathLst>
            </a:custGeom>
            <a:blipFill>
              <a:blip r:embed="rId2">
                <a:alphaModFix amt="90000"/>
              </a:blip>
              <a:stretch>
                <a:fillRect l="-9490" t="0" r="-79456" b="0"/>
              </a:stretch>
            </a:blipFill>
            <a:ln w="66675" cap="sq">
              <a:gradFill>
                <a:gsLst>
                  <a:gs pos="0">
                    <a:srgbClr val="396BA5">
                      <a:alpha val="90000"/>
                    </a:srgbClr>
                  </a:gs>
                  <a:gs pos="100000">
                    <a:srgbClr val="062C3F">
                      <a:alpha val="90000"/>
                    </a:srgbClr>
                  </a:gs>
                </a:gsLst>
                <a:lin ang="0"/>
              </a:gradFill>
              <a:prstDash val="solid"/>
              <a:miter/>
            </a:ln>
          </p:spPr>
        </p:sp>
      </p:grpSp>
      <p:grpSp>
        <p:nvGrpSpPr>
          <p:cNvPr name="Group 4" id="4"/>
          <p:cNvGrpSpPr/>
          <p:nvPr/>
        </p:nvGrpSpPr>
        <p:grpSpPr>
          <a:xfrm rot="0">
            <a:off x="8248304" y="1699387"/>
            <a:ext cx="4900975" cy="4873221"/>
            <a:chOff x="0" y="0"/>
            <a:chExt cx="759289" cy="754989"/>
          </a:xfrm>
        </p:grpSpPr>
        <p:sp>
          <p:nvSpPr>
            <p:cNvPr name="Freeform 5" id="5"/>
            <p:cNvSpPr/>
            <p:nvPr/>
          </p:nvSpPr>
          <p:spPr>
            <a:xfrm flipH="false" flipV="false" rot="0">
              <a:off x="0" y="0"/>
              <a:ext cx="759289" cy="754989"/>
            </a:xfrm>
            <a:custGeom>
              <a:avLst/>
              <a:gdLst/>
              <a:ahLst/>
              <a:cxnLst/>
              <a:rect r="r" b="b" t="t" l="l"/>
              <a:pathLst>
                <a:path h="754989" w="759289">
                  <a:moveTo>
                    <a:pt x="0" y="0"/>
                  </a:moveTo>
                  <a:lnTo>
                    <a:pt x="759289" y="0"/>
                  </a:lnTo>
                  <a:lnTo>
                    <a:pt x="759289" y="754989"/>
                  </a:lnTo>
                  <a:lnTo>
                    <a:pt x="0" y="754989"/>
                  </a:lnTo>
                  <a:close/>
                </a:path>
              </a:pathLst>
            </a:custGeom>
            <a:blipFill>
              <a:blip r:embed="rId3">
                <a:alphaModFix amt="90000"/>
              </a:blip>
              <a:stretch>
                <a:fillRect l="0" t="0" r="-239680" b="0"/>
              </a:stretch>
            </a:blipFill>
            <a:ln w="66675" cap="sq">
              <a:gradFill>
                <a:gsLst>
                  <a:gs pos="0">
                    <a:srgbClr val="396BA5">
                      <a:alpha val="90000"/>
                    </a:srgbClr>
                  </a:gs>
                  <a:gs pos="100000">
                    <a:srgbClr val="062C3F">
                      <a:alpha val="90000"/>
                    </a:srgbClr>
                  </a:gs>
                </a:gsLst>
                <a:lin ang="0"/>
              </a:gradFill>
              <a:prstDash val="solid"/>
              <a:miter/>
            </a:ln>
          </p:spPr>
        </p:sp>
      </p:grpSp>
      <p:grpSp>
        <p:nvGrpSpPr>
          <p:cNvPr name="Group 6" id="6"/>
          <p:cNvGrpSpPr/>
          <p:nvPr/>
        </p:nvGrpSpPr>
        <p:grpSpPr>
          <a:xfrm rot="0">
            <a:off x="13387025" y="1699387"/>
            <a:ext cx="4900975" cy="2436610"/>
            <a:chOff x="0" y="0"/>
            <a:chExt cx="759289" cy="377495"/>
          </a:xfrm>
        </p:grpSpPr>
        <p:sp>
          <p:nvSpPr>
            <p:cNvPr name="Freeform 7" id="7"/>
            <p:cNvSpPr/>
            <p:nvPr/>
          </p:nvSpPr>
          <p:spPr>
            <a:xfrm flipH="false" flipV="false" rot="0">
              <a:off x="0" y="0"/>
              <a:ext cx="759289" cy="377495"/>
            </a:xfrm>
            <a:custGeom>
              <a:avLst/>
              <a:gdLst/>
              <a:ahLst/>
              <a:cxnLst/>
              <a:rect r="r" b="b" t="t" l="l"/>
              <a:pathLst>
                <a:path h="377495" w="759289">
                  <a:moveTo>
                    <a:pt x="0" y="0"/>
                  </a:moveTo>
                  <a:lnTo>
                    <a:pt x="759289" y="0"/>
                  </a:lnTo>
                  <a:lnTo>
                    <a:pt x="759289" y="377495"/>
                  </a:lnTo>
                  <a:lnTo>
                    <a:pt x="0" y="377495"/>
                  </a:lnTo>
                  <a:close/>
                </a:path>
              </a:pathLst>
            </a:custGeom>
            <a:blipFill>
              <a:blip r:embed="rId4">
                <a:alphaModFix amt="90000"/>
              </a:blip>
              <a:stretch>
                <a:fillRect l="-13932" t="-168005" r="-65997" b="-53204"/>
              </a:stretch>
            </a:blipFill>
            <a:ln w="66675" cap="sq">
              <a:gradFill>
                <a:gsLst>
                  <a:gs pos="0">
                    <a:srgbClr val="396BA5">
                      <a:alpha val="90000"/>
                    </a:srgbClr>
                  </a:gs>
                  <a:gs pos="100000">
                    <a:srgbClr val="062C3F">
                      <a:alpha val="90000"/>
                    </a:srgbClr>
                  </a:gs>
                </a:gsLst>
                <a:lin ang="0"/>
              </a:gradFill>
              <a:prstDash val="solid"/>
              <a:miter/>
            </a:ln>
          </p:spPr>
        </p:sp>
      </p:grpSp>
      <p:sp>
        <p:nvSpPr>
          <p:cNvPr name="Freeform 8" id="8"/>
          <p:cNvSpPr/>
          <p:nvPr/>
        </p:nvSpPr>
        <p:spPr>
          <a:xfrm flipH="false" flipV="false" rot="0">
            <a:off x="-2217949" y="4628735"/>
            <a:ext cx="5089406" cy="2203289"/>
          </a:xfrm>
          <a:custGeom>
            <a:avLst/>
            <a:gdLst/>
            <a:ahLst/>
            <a:cxnLst/>
            <a:rect r="r" b="b" t="t" l="l"/>
            <a:pathLst>
              <a:path h="2203289" w="5089406">
                <a:moveTo>
                  <a:pt x="0" y="0"/>
                </a:moveTo>
                <a:lnTo>
                  <a:pt x="5089406" y="0"/>
                </a:lnTo>
                <a:lnTo>
                  <a:pt x="5089406" y="2203288"/>
                </a:lnTo>
                <a:lnTo>
                  <a:pt x="0" y="2203288"/>
                </a:lnTo>
                <a:lnTo>
                  <a:pt x="0" y="0"/>
                </a:lnTo>
                <a:close/>
              </a:path>
            </a:pathLst>
          </a:custGeom>
          <a:blipFill>
            <a:blip r:embed="rId5"/>
            <a:stretch>
              <a:fillRect l="0" t="0" r="0" b="0"/>
            </a:stretch>
          </a:blipFill>
        </p:spPr>
      </p:sp>
      <p:sp>
        <p:nvSpPr>
          <p:cNvPr name="Freeform 9" id="9"/>
          <p:cNvSpPr/>
          <p:nvPr/>
        </p:nvSpPr>
        <p:spPr>
          <a:xfrm flipH="false" flipV="false" rot="0">
            <a:off x="-3060613" y="597743"/>
            <a:ext cx="5089406" cy="2203289"/>
          </a:xfrm>
          <a:custGeom>
            <a:avLst/>
            <a:gdLst/>
            <a:ahLst/>
            <a:cxnLst/>
            <a:rect r="r" b="b" t="t" l="l"/>
            <a:pathLst>
              <a:path h="2203289" w="5089406">
                <a:moveTo>
                  <a:pt x="0" y="0"/>
                </a:moveTo>
                <a:lnTo>
                  <a:pt x="5089406" y="0"/>
                </a:lnTo>
                <a:lnTo>
                  <a:pt x="5089406" y="2203288"/>
                </a:lnTo>
                <a:lnTo>
                  <a:pt x="0" y="2203288"/>
                </a:lnTo>
                <a:lnTo>
                  <a:pt x="0" y="0"/>
                </a:lnTo>
                <a:close/>
              </a:path>
            </a:pathLst>
          </a:custGeom>
          <a:blipFill>
            <a:blip r:embed="rId5"/>
            <a:stretch>
              <a:fillRect l="0" t="0" r="0" b="0"/>
            </a:stretch>
          </a:blipFill>
        </p:spPr>
      </p:sp>
      <p:sp>
        <p:nvSpPr>
          <p:cNvPr name="Freeform 10" id="10"/>
          <p:cNvSpPr/>
          <p:nvPr/>
        </p:nvSpPr>
        <p:spPr>
          <a:xfrm flipH="false" flipV="false" rot="0">
            <a:off x="15575107" y="-319552"/>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5"/>
            <a:stretch>
              <a:fillRect l="0" t="0" r="0" b="0"/>
            </a:stretch>
          </a:blipFill>
        </p:spPr>
      </p:sp>
      <p:sp>
        <p:nvSpPr>
          <p:cNvPr name="Freeform 11" id="11"/>
          <p:cNvSpPr/>
          <p:nvPr/>
        </p:nvSpPr>
        <p:spPr>
          <a:xfrm flipH="false" flipV="false" rot="0">
            <a:off x="16772325" y="8254682"/>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5"/>
            <a:stretch>
              <a:fillRect l="0" t="0" r="0" b="0"/>
            </a:stretch>
          </a:blipFill>
        </p:spPr>
      </p:sp>
      <p:grpSp>
        <p:nvGrpSpPr>
          <p:cNvPr name="Group 12" id="12"/>
          <p:cNvGrpSpPr/>
          <p:nvPr/>
        </p:nvGrpSpPr>
        <p:grpSpPr>
          <a:xfrm rot="0">
            <a:off x="13387404" y="4135997"/>
            <a:ext cx="4900975" cy="2436610"/>
            <a:chOff x="0" y="0"/>
            <a:chExt cx="759289" cy="377495"/>
          </a:xfrm>
        </p:grpSpPr>
        <p:sp>
          <p:nvSpPr>
            <p:cNvPr name="Freeform 13" id="13"/>
            <p:cNvSpPr/>
            <p:nvPr/>
          </p:nvSpPr>
          <p:spPr>
            <a:xfrm flipH="false" flipV="false" rot="0">
              <a:off x="0" y="0"/>
              <a:ext cx="759289" cy="377495"/>
            </a:xfrm>
            <a:custGeom>
              <a:avLst/>
              <a:gdLst/>
              <a:ahLst/>
              <a:cxnLst/>
              <a:rect r="r" b="b" t="t" l="l"/>
              <a:pathLst>
                <a:path h="377495" w="759289">
                  <a:moveTo>
                    <a:pt x="0" y="0"/>
                  </a:moveTo>
                  <a:lnTo>
                    <a:pt x="759289" y="0"/>
                  </a:lnTo>
                  <a:lnTo>
                    <a:pt x="759289" y="377495"/>
                  </a:lnTo>
                  <a:lnTo>
                    <a:pt x="0" y="377495"/>
                  </a:lnTo>
                  <a:close/>
                </a:path>
              </a:pathLst>
            </a:custGeom>
            <a:blipFill>
              <a:blip r:embed="rId6">
                <a:alphaModFix amt="90000"/>
              </a:blip>
              <a:stretch>
                <a:fillRect l="0" t="-4905" r="0" b="-4905"/>
              </a:stretch>
            </a:blipFill>
            <a:ln w="66675" cap="sq">
              <a:gradFill>
                <a:gsLst>
                  <a:gs pos="0">
                    <a:srgbClr val="396BA5">
                      <a:alpha val="90000"/>
                    </a:srgbClr>
                  </a:gs>
                  <a:gs pos="100000">
                    <a:srgbClr val="062C3F">
                      <a:alpha val="90000"/>
                    </a:srgbClr>
                  </a:gs>
                </a:gsLst>
                <a:lin ang="0"/>
              </a:gradFill>
              <a:prstDash val="solid"/>
              <a:miter/>
            </a:ln>
          </p:spPr>
        </p:sp>
      </p:grpSp>
      <p:sp>
        <p:nvSpPr>
          <p:cNvPr name="TextBox 14" id="14"/>
          <p:cNvSpPr txBox="true"/>
          <p:nvPr/>
        </p:nvSpPr>
        <p:spPr>
          <a:xfrm rot="0">
            <a:off x="1028700" y="7621201"/>
            <a:ext cx="14333393" cy="2781439"/>
          </a:xfrm>
          <a:prstGeom prst="rect">
            <a:avLst/>
          </a:prstGeom>
        </p:spPr>
        <p:txBody>
          <a:bodyPr anchor="t" rtlCol="false" tIns="0" lIns="0" bIns="0" rIns="0">
            <a:spAutoFit/>
          </a:bodyPr>
          <a:lstStyle/>
          <a:p>
            <a:pPr algn="l">
              <a:lnSpc>
                <a:spcPts val="10732"/>
              </a:lnSpc>
            </a:pPr>
            <a:r>
              <a:rPr lang="en-US" sz="10319">
                <a:solidFill>
                  <a:srgbClr val="FFFFFF"/>
                </a:solidFill>
                <a:latin typeface="League Spartan"/>
                <a:ea typeface="League Spartan"/>
                <a:cs typeface="League Spartan"/>
                <a:sym typeface="League Spartan"/>
              </a:rPr>
              <a:t>Setup &amp; Connexion – Résumé</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7709707" cy="3172965"/>
            <a:chOff x="0" y="0"/>
            <a:chExt cx="967214" cy="398062"/>
          </a:xfrm>
        </p:grpSpPr>
        <p:sp>
          <p:nvSpPr>
            <p:cNvPr name="Freeform 3" id="3"/>
            <p:cNvSpPr/>
            <p:nvPr/>
          </p:nvSpPr>
          <p:spPr>
            <a:xfrm flipH="false" flipV="false" rot="0">
              <a:off x="0" y="0"/>
              <a:ext cx="967214" cy="398062"/>
            </a:xfrm>
            <a:custGeom>
              <a:avLst/>
              <a:gdLst/>
              <a:ahLst/>
              <a:cxnLst/>
              <a:rect r="r" b="b" t="t" l="l"/>
              <a:pathLst>
                <a:path h="398062" w="967214">
                  <a:moveTo>
                    <a:pt x="0" y="0"/>
                  </a:moveTo>
                  <a:lnTo>
                    <a:pt x="967214" y="0"/>
                  </a:lnTo>
                  <a:lnTo>
                    <a:pt x="967214" y="398062"/>
                  </a:lnTo>
                  <a:lnTo>
                    <a:pt x="0" y="398062"/>
                  </a:lnTo>
                  <a:close/>
                </a:path>
              </a:pathLst>
            </a:custGeom>
            <a:gradFill rotWithShape="true">
              <a:gsLst>
                <a:gs pos="0">
                  <a:srgbClr val="396BA5">
                    <a:alpha val="85000"/>
                  </a:srgbClr>
                </a:gs>
                <a:gs pos="100000">
                  <a:srgbClr val="062C3F">
                    <a:alpha val="85000"/>
                  </a:srgbClr>
                </a:gs>
              </a:gsLst>
              <a:lin ang="0"/>
            </a:gradFill>
            <a:ln cap="sq">
              <a:noFill/>
              <a:prstDash val="solid"/>
              <a:miter/>
            </a:ln>
          </p:spPr>
        </p:sp>
        <p:sp>
          <p:nvSpPr>
            <p:cNvPr name="TextBox 4" id="4"/>
            <p:cNvSpPr txBox="true"/>
            <p:nvPr/>
          </p:nvSpPr>
          <p:spPr>
            <a:xfrm>
              <a:off x="0" y="-38100"/>
              <a:ext cx="967214" cy="436162"/>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515587" y="1713002"/>
            <a:ext cx="6901015" cy="2174456"/>
          </a:xfrm>
          <a:prstGeom prst="rect">
            <a:avLst/>
          </a:prstGeom>
        </p:spPr>
        <p:txBody>
          <a:bodyPr anchor="t" rtlCol="false" tIns="0" lIns="0" bIns="0" rIns="0">
            <a:spAutoFit/>
          </a:bodyPr>
          <a:lstStyle/>
          <a:p>
            <a:pPr algn="just">
              <a:lnSpc>
                <a:spcPts val="2516"/>
              </a:lnSpc>
            </a:pPr>
            <a:r>
              <a:rPr lang="en-US" sz="1797">
                <a:solidFill>
                  <a:srgbClr val="FFFFFF"/>
                </a:solidFill>
                <a:latin typeface="Questrial"/>
                <a:ea typeface="Questrial"/>
                <a:cs typeface="Questrial"/>
                <a:sym typeface="Questrial"/>
              </a:rPr>
              <a:t>Installer PostgreSQL sur l’ordinateur local.</a:t>
            </a:r>
          </a:p>
          <a:p>
            <a:pPr algn="just">
              <a:lnSpc>
                <a:spcPts val="2516"/>
              </a:lnSpc>
            </a:pPr>
            <a:r>
              <a:rPr lang="en-US" sz="1797">
                <a:solidFill>
                  <a:srgbClr val="FFFFFF"/>
                </a:solidFill>
                <a:latin typeface="Questrial"/>
                <a:ea typeface="Questrial"/>
                <a:cs typeface="Questrial"/>
                <a:sym typeface="Questrial"/>
              </a:rPr>
              <a:t>Installer Python packages nécessaires :</a:t>
            </a:r>
          </a:p>
          <a:p>
            <a:pPr algn="just" marL="388123" indent="-194061" lvl="1">
              <a:lnSpc>
                <a:spcPts val="2516"/>
              </a:lnSpc>
              <a:buFont typeface="Arial"/>
              <a:buChar char="•"/>
            </a:pPr>
            <a:r>
              <a:rPr lang="en-US" sz="1797">
                <a:solidFill>
                  <a:srgbClr val="FFFFFF"/>
                </a:solidFill>
                <a:latin typeface="Questrial"/>
                <a:ea typeface="Questrial"/>
                <a:cs typeface="Questrial"/>
                <a:sym typeface="Questrial"/>
              </a:rPr>
              <a:t>SQLAlchemy pour ORM</a:t>
            </a:r>
          </a:p>
          <a:p>
            <a:pPr algn="just" marL="388123" indent="-194061" lvl="1">
              <a:lnSpc>
                <a:spcPts val="2516"/>
              </a:lnSpc>
              <a:buFont typeface="Arial"/>
              <a:buChar char="•"/>
            </a:pPr>
            <a:r>
              <a:rPr lang="en-US" sz="1797">
                <a:solidFill>
                  <a:srgbClr val="FFFFFF"/>
                </a:solidFill>
                <a:latin typeface="Questrial"/>
                <a:ea typeface="Questrial"/>
                <a:cs typeface="Questrial"/>
                <a:sym typeface="Questrial"/>
              </a:rPr>
              <a:t>psycopg2-binary pour connecter Python à PostgreSQL</a:t>
            </a:r>
          </a:p>
          <a:p>
            <a:pPr algn="just">
              <a:lnSpc>
                <a:spcPts val="2516"/>
              </a:lnSpc>
            </a:pPr>
            <a:r>
              <a:rPr lang="en-US" sz="1797">
                <a:solidFill>
                  <a:srgbClr val="FFFFFF"/>
                </a:solidFill>
                <a:latin typeface="Questrial"/>
                <a:ea typeface="Questrial"/>
                <a:cs typeface="Questrial"/>
                <a:sym typeface="Questrial"/>
              </a:rPr>
              <a:t>Tester la connexion locale : vérifier que PostgreSQL fonctionne et que la base est accessible via psql ou pgAdmin.</a:t>
            </a:r>
          </a:p>
          <a:p>
            <a:pPr algn="just">
              <a:lnSpc>
                <a:spcPts val="2516"/>
              </a:lnSpc>
            </a:pPr>
          </a:p>
        </p:txBody>
      </p:sp>
      <p:sp>
        <p:nvSpPr>
          <p:cNvPr name="TextBox 6" id="6"/>
          <p:cNvSpPr txBox="true"/>
          <p:nvPr/>
        </p:nvSpPr>
        <p:spPr>
          <a:xfrm rot="0">
            <a:off x="1515587" y="1352433"/>
            <a:ext cx="6688435" cy="374888"/>
          </a:xfrm>
          <a:prstGeom prst="rect">
            <a:avLst/>
          </a:prstGeom>
        </p:spPr>
        <p:txBody>
          <a:bodyPr anchor="t" rtlCol="false" tIns="0" lIns="0" bIns="0" rIns="0">
            <a:spAutoFit/>
          </a:bodyPr>
          <a:lstStyle/>
          <a:p>
            <a:pPr algn="l">
              <a:lnSpc>
                <a:spcPts val="3023"/>
              </a:lnSpc>
            </a:pPr>
            <a:r>
              <a:rPr lang="en-US" sz="2584" spc="266">
                <a:solidFill>
                  <a:srgbClr val="FFFFFF"/>
                </a:solidFill>
                <a:latin typeface="League Spartan"/>
                <a:ea typeface="League Spartan"/>
                <a:cs typeface="League Spartan"/>
                <a:sym typeface="League Spartan"/>
              </a:rPr>
              <a:t>INSTALLATION &amp; PRÉPARATION</a:t>
            </a:r>
          </a:p>
        </p:txBody>
      </p:sp>
      <p:sp>
        <p:nvSpPr>
          <p:cNvPr name="Freeform 7" id="7"/>
          <p:cNvSpPr/>
          <p:nvPr/>
        </p:nvSpPr>
        <p:spPr>
          <a:xfrm flipH="false" flipV="false" rot="0">
            <a:off x="7778614" y="6367020"/>
            <a:ext cx="12375131" cy="6512413"/>
          </a:xfrm>
          <a:custGeom>
            <a:avLst/>
            <a:gdLst/>
            <a:ahLst/>
            <a:cxnLst/>
            <a:rect r="r" b="b" t="t" l="l"/>
            <a:pathLst>
              <a:path h="6512413" w="12375131">
                <a:moveTo>
                  <a:pt x="0" y="0"/>
                </a:moveTo>
                <a:lnTo>
                  <a:pt x="12375132" y="0"/>
                </a:lnTo>
                <a:lnTo>
                  <a:pt x="12375132" y="6512413"/>
                </a:lnTo>
                <a:lnTo>
                  <a:pt x="0" y="6512413"/>
                </a:lnTo>
                <a:lnTo>
                  <a:pt x="0" y="0"/>
                </a:lnTo>
                <a:close/>
              </a:path>
            </a:pathLst>
          </a:custGeom>
          <a:blipFill>
            <a:blip r:embed="rId2"/>
            <a:stretch>
              <a:fillRect l="0" t="0" r="0" b="0"/>
            </a:stretch>
          </a:blipFill>
        </p:spPr>
      </p:sp>
      <p:sp>
        <p:nvSpPr>
          <p:cNvPr name="Freeform 8" id="8"/>
          <p:cNvSpPr/>
          <p:nvPr/>
        </p:nvSpPr>
        <p:spPr>
          <a:xfrm flipH="false" flipV="false" rot="0">
            <a:off x="5233911" y="7779031"/>
            <a:ext cx="5089406" cy="2203289"/>
          </a:xfrm>
          <a:custGeom>
            <a:avLst/>
            <a:gdLst/>
            <a:ahLst/>
            <a:cxnLst/>
            <a:rect r="r" b="b" t="t" l="l"/>
            <a:pathLst>
              <a:path h="2203289" w="5089406">
                <a:moveTo>
                  <a:pt x="0" y="0"/>
                </a:moveTo>
                <a:lnTo>
                  <a:pt x="5089407" y="0"/>
                </a:lnTo>
                <a:lnTo>
                  <a:pt x="5089407" y="2203289"/>
                </a:lnTo>
                <a:lnTo>
                  <a:pt x="0" y="2203289"/>
                </a:lnTo>
                <a:lnTo>
                  <a:pt x="0" y="0"/>
                </a:lnTo>
                <a:close/>
              </a:path>
            </a:pathLst>
          </a:custGeom>
          <a:blipFill>
            <a:blip r:embed="rId3"/>
            <a:stretch>
              <a:fillRect l="0" t="0" r="0" b="0"/>
            </a:stretch>
          </a:blipFill>
        </p:spPr>
      </p:sp>
      <p:sp>
        <p:nvSpPr>
          <p:cNvPr name="Freeform 9" id="9"/>
          <p:cNvSpPr/>
          <p:nvPr/>
        </p:nvSpPr>
        <p:spPr>
          <a:xfrm flipH="false" flipV="false" rot="0">
            <a:off x="-3573819" y="515645"/>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3"/>
            <a:stretch>
              <a:fillRect l="0" t="0" r="0" b="0"/>
            </a:stretch>
          </a:blipFill>
        </p:spPr>
      </p:sp>
      <p:sp>
        <p:nvSpPr>
          <p:cNvPr name="Freeform 10" id="10"/>
          <p:cNvSpPr/>
          <p:nvPr/>
        </p:nvSpPr>
        <p:spPr>
          <a:xfrm flipH="false" flipV="false" rot="0">
            <a:off x="16454991" y="-72944"/>
            <a:ext cx="5089406" cy="2203289"/>
          </a:xfrm>
          <a:custGeom>
            <a:avLst/>
            <a:gdLst/>
            <a:ahLst/>
            <a:cxnLst/>
            <a:rect r="r" b="b" t="t" l="l"/>
            <a:pathLst>
              <a:path h="2203289" w="5089406">
                <a:moveTo>
                  <a:pt x="0" y="0"/>
                </a:moveTo>
                <a:lnTo>
                  <a:pt x="5089407" y="0"/>
                </a:lnTo>
                <a:lnTo>
                  <a:pt x="5089407" y="2203288"/>
                </a:lnTo>
                <a:lnTo>
                  <a:pt x="0" y="2203288"/>
                </a:lnTo>
                <a:lnTo>
                  <a:pt x="0" y="0"/>
                </a:lnTo>
                <a:close/>
              </a:path>
            </a:pathLst>
          </a:custGeom>
          <a:blipFill>
            <a:blip r:embed="rId3"/>
            <a:stretch>
              <a:fillRect l="0" t="0" r="0" b="0"/>
            </a:stretch>
          </a:blipFill>
        </p:spPr>
      </p:sp>
      <p:sp>
        <p:nvSpPr>
          <p:cNvPr name="Freeform 11" id="11"/>
          <p:cNvSpPr/>
          <p:nvPr/>
        </p:nvSpPr>
        <p:spPr>
          <a:xfrm flipH="false" flipV="false" rot="0">
            <a:off x="17078317" y="7252015"/>
            <a:ext cx="5089406" cy="2203289"/>
          </a:xfrm>
          <a:custGeom>
            <a:avLst/>
            <a:gdLst/>
            <a:ahLst/>
            <a:cxnLst/>
            <a:rect r="r" b="b" t="t" l="l"/>
            <a:pathLst>
              <a:path h="2203289" w="5089406">
                <a:moveTo>
                  <a:pt x="0" y="0"/>
                </a:moveTo>
                <a:lnTo>
                  <a:pt x="5089407" y="0"/>
                </a:lnTo>
                <a:lnTo>
                  <a:pt x="5089407" y="2203289"/>
                </a:lnTo>
                <a:lnTo>
                  <a:pt x="0" y="2203289"/>
                </a:lnTo>
                <a:lnTo>
                  <a:pt x="0" y="0"/>
                </a:lnTo>
                <a:close/>
              </a:path>
            </a:pathLst>
          </a:custGeom>
          <a:blipFill>
            <a:blip r:embed="rId3"/>
            <a:stretch>
              <a:fillRect l="0" t="0" r="0" b="0"/>
            </a:stretch>
          </a:blipFill>
        </p:spPr>
      </p:sp>
      <p:sp>
        <p:nvSpPr>
          <p:cNvPr name="Freeform 12" id="12"/>
          <p:cNvSpPr/>
          <p:nvPr/>
        </p:nvSpPr>
        <p:spPr>
          <a:xfrm flipH="false" flipV="false" rot="0">
            <a:off x="-3765140" y="8182591"/>
            <a:ext cx="5089406" cy="2203289"/>
          </a:xfrm>
          <a:custGeom>
            <a:avLst/>
            <a:gdLst/>
            <a:ahLst/>
            <a:cxnLst/>
            <a:rect r="r" b="b" t="t" l="l"/>
            <a:pathLst>
              <a:path h="2203289" w="5089406">
                <a:moveTo>
                  <a:pt x="0" y="0"/>
                </a:moveTo>
                <a:lnTo>
                  <a:pt x="5089406" y="0"/>
                </a:lnTo>
                <a:lnTo>
                  <a:pt x="5089406" y="2203288"/>
                </a:lnTo>
                <a:lnTo>
                  <a:pt x="0" y="2203288"/>
                </a:lnTo>
                <a:lnTo>
                  <a:pt x="0" y="0"/>
                </a:lnTo>
                <a:close/>
              </a:path>
            </a:pathLst>
          </a:custGeom>
          <a:blipFill>
            <a:blip r:embed="rId3"/>
            <a:stretch>
              <a:fillRect l="0" t="0" r="0" b="0"/>
            </a:stretch>
          </a:blipFill>
        </p:spPr>
      </p:sp>
      <p:grpSp>
        <p:nvGrpSpPr>
          <p:cNvPr name="Group 13" id="13"/>
          <p:cNvGrpSpPr/>
          <p:nvPr/>
        </p:nvGrpSpPr>
        <p:grpSpPr>
          <a:xfrm rot="0">
            <a:off x="9368610" y="3368205"/>
            <a:ext cx="7709707" cy="3172965"/>
            <a:chOff x="0" y="0"/>
            <a:chExt cx="967214" cy="398062"/>
          </a:xfrm>
        </p:grpSpPr>
        <p:sp>
          <p:nvSpPr>
            <p:cNvPr name="Freeform 14" id="14"/>
            <p:cNvSpPr/>
            <p:nvPr/>
          </p:nvSpPr>
          <p:spPr>
            <a:xfrm flipH="false" flipV="false" rot="0">
              <a:off x="0" y="0"/>
              <a:ext cx="967214" cy="398062"/>
            </a:xfrm>
            <a:custGeom>
              <a:avLst/>
              <a:gdLst/>
              <a:ahLst/>
              <a:cxnLst/>
              <a:rect r="r" b="b" t="t" l="l"/>
              <a:pathLst>
                <a:path h="398062" w="967214">
                  <a:moveTo>
                    <a:pt x="0" y="0"/>
                  </a:moveTo>
                  <a:lnTo>
                    <a:pt x="967214" y="0"/>
                  </a:lnTo>
                  <a:lnTo>
                    <a:pt x="967214" y="398062"/>
                  </a:lnTo>
                  <a:lnTo>
                    <a:pt x="0" y="398062"/>
                  </a:lnTo>
                  <a:close/>
                </a:path>
              </a:pathLst>
            </a:custGeom>
            <a:gradFill rotWithShape="true">
              <a:gsLst>
                <a:gs pos="0">
                  <a:srgbClr val="396BA5">
                    <a:alpha val="85000"/>
                  </a:srgbClr>
                </a:gs>
                <a:gs pos="100000">
                  <a:srgbClr val="062C3F">
                    <a:alpha val="85000"/>
                  </a:srgbClr>
                </a:gs>
              </a:gsLst>
              <a:lin ang="0"/>
            </a:gradFill>
            <a:ln cap="sq">
              <a:noFill/>
              <a:prstDash val="solid"/>
              <a:miter/>
            </a:ln>
          </p:spPr>
        </p:sp>
        <p:sp>
          <p:nvSpPr>
            <p:cNvPr name="TextBox 15" id="15"/>
            <p:cNvSpPr txBox="true"/>
            <p:nvPr/>
          </p:nvSpPr>
          <p:spPr>
            <a:xfrm>
              <a:off x="0" y="-38100"/>
              <a:ext cx="967214" cy="436162"/>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9855497" y="4052507"/>
            <a:ext cx="6901015" cy="2174456"/>
          </a:xfrm>
          <a:prstGeom prst="rect">
            <a:avLst/>
          </a:prstGeom>
        </p:spPr>
        <p:txBody>
          <a:bodyPr anchor="t" rtlCol="false" tIns="0" lIns="0" bIns="0" rIns="0">
            <a:spAutoFit/>
          </a:bodyPr>
          <a:lstStyle/>
          <a:p>
            <a:pPr algn="just">
              <a:lnSpc>
                <a:spcPts val="2516"/>
              </a:lnSpc>
            </a:pPr>
            <a:r>
              <a:rPr lang="en-US" sz="1797">
                <a:solidFill>
                  <a:srgbClr val="FFFFFF"/>
                </a:solidFill>
                <a:latin typeface="Questrial"/>
                <a:ea typeface="Questrial"/>
                <a:cs typeface="Questrial"/>
                <a:sym typeface="Questrial"/>
              </a:rPr>
              <a:t>Créer la base superstore_db.</a:t>
            </a:r>
          </a:p>
          <a:p>
            <a:pPr algn="just">
              <a:lnSpc>
                <a:spcPts val="2516"/>
              </a:lnSpc>
            </a:pPr>
            <a:r>
              <a:rPr lang="en-US" sz="1797">
                <a:solidFill>
                  <a:srgbClr val="FFFFFF"/>
                </a:solidFill>
                <a:latin typeface="Questrial"/>
                <a:ea typeface="Questrial"/>
                <a:cs typeface="Questrial"/>
                <a:sym typeface="Questrial"/>
              </a:rPr>
              <a:t>Vérifier l’accès via :</a:t>
            </a:r>
          </a:p>
          <a:p>
            <a:pPr algn="just" marL="388123" indent="-194061" lvl="1">
              <a:lnSpc>
                <a:spcPts val="2516"/>
              </a:lnSpc>
              <a:buFont typeface="Arial"/>
              <a:buChar char="•"/>
            </a:pPr>
            <a:r>
              <a:rPr lang="en-US" sz="1797">
                <a:solidFill>
                  <a:srgbClr val="FFFFFF"/>
                </a:solidFill>
                <a:latin typeface="Questrial"/>
                <a:ea typeface="Questrial"/>
                <a:cs typeface="Questrial"/>
                <a:sym typeface="Questrial"/>
              </a:rPr>
              <a:t>pgAdmin (interface graphique)</a:t>
            </a:r>
          </a:p>
          <a:p>
            <a:pPr algn="just" marL="388123" indent="-194061" lvl="1">
              <a:lnSpc>
                <a:spcPts val="2516"/>
              </a:lnSpc>
              <a:buFont typeface="Arial"/>
              <a:buChar char="•"/>
            </a:pPr>
            <a:r>
              <a:rPr lang="en-US" sz="1797">
                <a:solidFill>
                  <a:srgbClr val="FFFFFF"/>
                </a:solidFill>
                <a:latin typeface="Questrial"/>
                <a:ea typeface="Questrial"/>
                <a:cs typeface="Questrial"/>
                <a:sym typeface="Questrial"/>
              </a:rPr>
              <a:t>p</a:t>
            </a:r>
            <a:r>
              <a:rPr lang="en-US" sz="1797">
                <a:solidFill>
                  <a:srgbClr val="FFFFFF"/>
                </a:solidFill>
                <a:latin typeface="Questrial"/>
                <a:ea typeface="Questrial"/>
                <a:cs typeface="Questrial"/>
                <a:sym typeface="Questrial"/>
              </a:rPr>
              <a:t>sql (terminal / console)</a:t>
            </a:r>
          </a:p>
          <a:p>
            <a:pPr algn="just">
              <a:lnSpc>
                <a:spcPts val="2516"/>
              </a:lnSpc>
            </a:pPr>
            <a:r>
              <a:rPr lang="en-US" sz="1797">
                <a:solidFill>
                  <a:srgbClr val="FFFFFF"/>
                </a:solidFill>
                <a:latin typeface="Questrial"/>
                <a:ea typeface="Questrial"/>
                <a:cs typeface="Questrial"/>
                <a:sym typeface="Questrial"/>
              </a:rPr>
              <a:t>Objectif : confirmer que l’utilisateur PostgreSQL et la base sont correctement configurés pour Python.</a:t>
            </a:r>
          </a:p>
          <a:p>
            <a:pPr algn="just">
              <a:lnSpc>
                <a:spcPts val="2516"/>
              </a:lnSpc>
            </a:pPr>
          </a:p>
        </p:txBody>
      </p:sp>
      <p:sp>
        <p:nvSpPr>
          <p:cNvPr name="TextBox 17" id="17"/>
          <p:cNvSpPr txBox="true"/>
          <p:nvPr/>
        </p:nvSpPr>
        <p:spPr>
          <a:xfrm rot="0">
            <a:off x="9855497" y="3691938"/>
            <a:ext cx="7222820" cy="374888"/>
          </a:xfrm>
          <a:prstGeom prst="rect">
            <a:avLst/>
          </a:prstGeom>
        </p:spPr>
        <p:txBody>
          <a:bodyPr anchor="t" rtlCol="false" tIns="0" lIns="0" bIns="0" rIns="0">
            <a:spAutoFit/>
          </a:bodyPr>
          <a:lstStyle/>
          <a:p>
            <a:pPr algn="l">
              <a:lnSpc>
                <a:spcPts val="3023"/>
              </a:lnSpc>
            </a:pPr>
            <a:r>
              <a:rPr lang="en-US" sz="2584" spc="266">
                <a:solidFill>
                  <a:srgbClr val="FFFFFF"/>
                </a:solidFill>
                <a:latin typeface="League Spartan"/>
                <a:ea typeface="League Spartan"/>
                <a:cs typeface="League Spartan"/>
                <a:sym typeface="League Spartan"/>
              </a:rPr>
              <a:t>CRÉATION DE LA BASE DE DONNÉES</a:t>
            </a:r>
          </a:p>
        </p:txBody>
      </p:sp>
      <p:grpSp>
        <p:nvGrpSpPr>
          <p:cNvPr name="Group 18" id="18"/>
          <p:cNvGrpSpPr/>
          <p:nvPr/>
        </p:nvGrpSpPr>
        <p:grpSpPr>
          <a:xfrm rot="0">
            <a:off x="1028700" y="5143500"/>
            <a:ext cx="7709707" cy="3479470"/>
            <a:chOff x="0" y="0"/>
            <a:chExt cx="967214" cy="436514"/>
          </a:xfrm>
        </p:grpSpPr>
        <p:sp>
          <p:nvSpPr>
            <p:cNvPr name="Freeform 19" id="19"/>
            <p:cNvSpPr/>
            <p:nvPr/>
          </p:nvSpPr>
          <p:spPr>
            <a:xfrm flipH="false" flipV="false" rot="0">
              <a:off x="0" y="0"/>
              <a:ext cx="967214" cy="436514"/>
            </a:xfrm>
            <a:custGeom>
              <a:avLst/>
              <a:gdLst/>
              <a:ahLst/>
              <a:cxnLst/>
              <a:rect r="r" b="b" t="t" l="l"/>
              <a:pathLst>
                <a:path h="436514" w="967214">
                  <a:moveTo>
                    <a:pt x="0" y="0"/>
                  </a:moveTo>
                  <a:lnTo>
                    <a:pt x="967214" y="0"/>
                  </a:lnTo>
                  <a:lnTo>
                    <a:pt x="967214" y="436514"/>
                  </a:lnTo>
                  <a:lnTo>
                    <a:pt x="0" y="436514"/>
                  </a:lnTo>
                  <a:close/>
                </a:path>
              </a:pathLst>
            </a:custGeom>
            <a:gradFill rotWithShape="true">
              <a:gsLst>
                <a:gs pos="0">
                  <a:srgbClr val="396BA5">
                    <a:alpha val="85000"/>
                  </a:srgbClr>
                </a:gs>
                <a:gs pos="100000">
                  <a:srgbClr val="062C3F">
                    <a:alpha val="85000"/>
                  </a:srgbClr>
                </a:gs>
              </a:gsLst>
              <a:lin ang="0"/>
            </a:gradFill>
            <a:ln cap="sq">
              <a:noFill/>
              <a:prstDash val="solid"/>
              <a:miter/>
            </a:ln>
          </p:spPr>
        </p:sp>
        <p:sp>
          <p:nvSpPr>
            <p:cNvPr name="TextBox 20" id="20"/>
            <p:cNvSpPr txBox="true"/>
            <p:nvPr/>
          </p:nvSpPr>
          <p:spPr>
            <a:xfrm>
              <a:off x="0" y="-38100"/>
              <a:ext cx="967214" cy="474614"/>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515587" y="5827802"/>
            <a:ext cx="6901015" cy="2795168"/>
          </a:xfrm>
          <a:prstGeom prst="rect">
            <a:avLst/>
          </a:prstGeom>
        </p:spPr>
        <p:txBody>
          <a:bodyPr anchor="t" rtlCol="false" tIns="0" lIns="0" bIns="0" rIns="0">
            <a:spAutoFit/>
          </a:bodyPr>
          <a:lstStyle/>
          <a:p>
            <a:pPr algn="just">
              <a:lnSpc>
                <a:spcPts val="2516"/>
              </a:lnSpc>
            </a:pPr>
            <a:r>
              <a:rPr lang="en-US" sz="1797">
                <a:solidFill>
                  <a:srgbClr val="FFFFFF"/>
                </a:solidFill>
                <a:latin typeface="Questrial"/>
                <a:ea typeface="Questrial"/>
                <a:cs typeface="Questrial"/>
                <a:sym typeface="Questrial"/>
              </a:rPr>
              <a:t>Configurer l’engine SQLAlchemy :</a:t>
            </a:r>
          </a:p>
          <a:p>
            <a:pPr algn="just" marL="388123" indent="-194061" lvl="1">
              <a:lnSpc>
                <a:spcPts val="2516"/>
              </a:lnSpc>
              <a:buFont typeface="Arial"/>
              <a:buChar char="•"/>
            </a:pPr>
            <a:r>
              <a:rPr lang="en-US" sz="1797">
                <a:solidFill>
                  <a:srgbClr val="FFFFFF"/>
                </a:solidFill>
                <a:latin typeface="Questrial"/>
                <a:ea typeface="Questrial"/>
                <a:cs typeface="Questrial"/>
                <a:sym typeface="Questrial"/>
              </a:rPr>
              <a:t>Créer un engine avec create_engine et les paramètres PostgreSQL (host, port, user, password, database).</a:t>
            </a:r>
          </a:p>
          <a:p>
            <a:pPr algn="just">
              <a:lnSpc>
                <a:spcPts val="2516"/>
              </a:lnSpc>
            </a:pPr>
            <a:r>
              <a:rPr lang="en-US" sz="1797">
                <a:solidFill>
                  <a:srgbClr val="FFFFFF"/>
                </a:solidFill>
                <a:latin typeface="Questrial"/>
                <a:ea typeface="Questrial"/>
                <a:cs typeface="Questrial"/>
                <a:sym typeface="Questrial"/>
              </a:rPr>
              <a:t>Créer la table clients via SQLAlchemy si elle n’existe pas.</a:t>
            </a:r>
          </a:p>
          <a:p>
            <a:pPr algn="just">
              <a:lnSpc>
                <a:spcPts val="2516"/>
              </a:lnSpc>
            </a:pPr>
            <a:r>
              <a:rPr lang="en-US" sz="1797">
                <a:solidFill>
                  <a:srgbClr val="FFFFFF"/>
                </a:solidFill>
                <a:latin typeface="Questrial"/>
                <a:ea typeface="Questrial"/>
                <a:cs typeface="Questrial"/>
                <a:sym typeface="Questrial"/>
              </a:rPr>
              <a:t>Tester insertion simple : insérer un row (name="Ahmed") et vérifier que l’insertion fonctionne.</a:t>
            </a:r>
          </a:p>
          <a:p>
            <a:pPr algn="just">
              <a:lnSpc>
                <a:spcPts val="2516"/>
              </a:lnSpc>
            </a:pPr>
            <a:r>
              <a:rPr lang="en-US" sz="1797">
                <a:solidFill>
                  <a:srgbClr val="FFFFFF"/>
                </a:solidFill>
                <a:latin typeface="Questrial"/>
                <a:ea typeface="Questrial"/>
                <a:cs typeface="Questrial"/>
                <a:sym typeface="Questrial"/>
              </a:rPr>
              <a:t>Vérification des données : sélectionner et afficher les rows pour confirmer le bon fonctionnement.</a:t>
            </a:r>
          </a:p>
          <a:p>
            <a:pPr algn="just">
              <a:lnSpc>
                <a:spcPts val="2516"/>
              </a:lnSpc>
            </a:pPr>
          </a:p>
        </p:txBody>
      </p:sp>
      <p:sp>
        <p:nvSpPr>
          <p:cNvPr name="TextBox 22" id="22"/>
          <p:cNvSpPr txBox="true"/>
          <p:nvPr/>
        </p:nvSpPr>
        <p:spPr>
          <a:xfrm rot="0">
            <a:off x="1515587" y="5467233"/>
            <a:ext cx="6901015" cy="374888"/>
          </a:xfrm>
          <a:prstGeom prst="rect">
            <a:avLst/>
          </a:prstGeom>
        </p:spPr>
        <p:txBody>
          <a:bodyPr anchor="t" rtlCol="false" tIns="0" lIns="0" bIns="0" rIns="0">
            <a:spAutoFit/>
          </a:bodyPr>
          <a:lstStyle/>
          <a:p>
            <a:pPr algn="l">
              <a:lnSpc>
                <a:spcPts val="3023"/>
              </a:lnSpc>
            </a:pPr>
            <a:r>
              <a:rPr lang="en-US" sz="2584" spc="266">
                <a:solidFill>
                  <a:srgbClr val="FFFFFF"/>
                </a:solidFill>
                <a:latin typeface="League Spartan"/>
                <a:ea typeface="League Spartan"/>
                <a:cs typeface="League Spartan"/>
                <a:sym typeface="League Spartan"/>
              </a:rPr>
              <a:t>CONNEXION PYTHON &amp; TEST SQL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376882" y="7832930"/>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3" id="3"/>
          <p:cNvSpPr/>
          <p:nvPr/>
        </p:nvSpPr>
        <p:spPr>
          <a:xfrm flipH="false" flipV="false" rot="0">
            <a:off x="-2910341" y="80706"/>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4" id="4"/>
          <p:cNvSpPr/>
          <p:nvPr/>
        </p:nvSpPr>
        <p:spPr>
          <a:xfrm flipH="false" flipV="false" rot="0">
            <a:off x="-3756669" y="6085378"/>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5" id="5"/>
          <p:cNvSpPr/>
          <p:nvPr/>
        </p:nvSpPr>
        <p:spPr>
          <a:xfrm flipH="false" flipV="false" rot="0">
            <a:off x="1028700" y="1890037"/>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1100554" y="2605208"/>
            <a:ext cx="2526676" cy="0"/>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10213719" y="1890037"/>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10285573" y="2605208"/>
            <a:ext cx="2526676" cy="0"/>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1549919" y="5764966"/>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a:off x="11621773" y="6480137"/>
            <a:ext cx="2526676" cy="0"/>
          </a:xfrm>
          <a:prstGeom prst="line">
            <a:avLst/>
          </a:prstGeom>
          <a:ln cap="flat" w="47625">
            <a:solidFill>
              <a:srgbClr val="FFFFFF"/>
            </a:solidFill>
            <a:prstDash val="solid"/>
            <a:headEnd type="none" len="sm" w="sm"/>
            <a:tailEnd type="none" len="sm" w="sm"/>
          </a:ln>
        </p:spPr>
      </p:sp>
      <p:sp>
        <p:nvSpPr>
          <p:cNvPr name="Freeform 11" id="11"/>
          <p:cNvSpPr/>
          <p:nvPr/>
        </p:nvSpPr>
        <p:spPr>
          <a:xfrm flipH="false" flipV="false" rot="0">
            <a:off x="4183955" y="5764966"/>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a:off x="4255809" y="6480137"/>
            <a:ext cx="2526676" cy="0"/>
          </a:xfrm>
          <a:prstGeom prst="line">
            <a:avLst/>
          </a:prstGeom>
          <a:ln cap="flat" w="47625">
            <a:solidFill>
              <a:srgbClr val="FFFFFF"/>
            </a:solidFill>
            <a:prstDash val="solid"/>
            <a:headEnd type="none" len="sm" w="sm"/>
            <a:tailEnd type="none" len="sm" w="sm"/>
          </a:ln>
        </p:spPr>
      </p:sp>
      <p:sp>
        <p:nvSpPr>
          <p:cNvPr name="Freeform 13" id="13"/>
          <p:cNvSpPr/>
          <p:nvPr/>
        </p:nvSpPr>
        <p:spPr>
          <a:xfrm flipH="false" flipV="false" rot="0">
            <a:off x="14586900" y="1890037"/>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4" id="14"/>
          <p:cNvSpPr/>
          <p:nvPr/>
        </p:nvSpPr>
        <p:spPr>
          <a:xfrm>
            <a:off x="14658754" y="2605208"/>
            <a:ext cx="2526676" cy="0"/>
          </a:xfrm>
          <a:prstGeom prst="line">
            <a:avLst/>
          </a:prstGeom>
          <a:ln cap="flat" w="47625">
            <a:solidFill>
              <a:srgbClr val="FFFFFF"/>
            </a:solidFill>
            <a:prstDash val="solid"/>
            <a:headEnd type="none" len="sm" w="sm"/>
            <a:tailEnd type="none" len="sm" w="sm"/>
          </a:ln>
        </p:spPr>
      </p:sp>
      <p:sp>
        <p:nvSpPr>
          <p:cNvPr name="AutoShape 15" id="15"/>
          <p:cNvSpPr/>
          <p:nvPr/>
        </p:nvSpPr>
        <p:spPr>
          <a:xfrm flipV="true">
            <a:off x="6782485" y="7575006"/>
            <a:ext cx="4825247" cy="0"/>
          </a:xfrm>
          <a:prstGeom prst="line">
            <a:avLst/>
          </a:prstGeom>
          <a:ln cap="flat" w="47625">
            <a:solidFill>
              <a:srgbClr val="FFFFFF"/>
            </a:solidFill>
            <a:prstDash val="solid"/>
            <a:headEnd type="none" len="sm" w="sm"/>
            <a:tailEnd type="none" len="sm" w="sm"/>
          </a:ln>
        </p:spPr>
      </p:sp>
      <p:sp>
        <p:nvSpPr>
          <p:cNvPr name="TextBox 16" id="16"/>
          <p:cNvSpPr txBox="true"/>
          <p:nvPr/>
        </p:nvSpPr>
        <p:spPr>
          <a:xfrm rot="0">
            <a:off x="1286290" y="2663817"/>
            <a:ext cx="1938882" cy="868976"/>
          </a:xfrm>
          <a:prstGeom prst="rect">
            <a:avLst/>
          </a:prstGeom>
        </p:spPr>
        <p:txBody>
          <a:bodyPr anchor="t" rtlCol="false" tIns="0" lIns="0" bIns="0" rIns="0">
            <a:spAutoFit/>
          </a:bodyPr>
          <a:lstStyle/>
          <a:p>
            <a:pPr algn="l">
              <a:lnSpc>
                <a:spcPts val="2381"/>
              </a:lnSpc>
            </a:pPr>
            <a:r>
              <a:rPr lang="en-US" sz="1701">
                <a:solidFill>
                  <a:srgbClr val="FFFFFF"/>
                </a:solidFill>
                <a:latin typeface="Roboto"/>
                <a:ea typeface="Roboto"/>
                <a:cs typeface="Roboto"/>
                <a:sym typeface="Roboto"/>
              </a:rPr>
              <a:t>R</a:t>
            </a:r>
            <a:r>
              <a:rPr lang="en-US" sz="1701">
                <a:solidFill>
                  <a:srgbClr val="FFFFFF"/>
                </a:solidFill>
                <a:latin typeface="Roboto"/>
                <a:ea typeface="Roboto"/>
                <a:cs typeface="Roboto"/>
                <a:sym typeface="Roboto"/>
              </a:rPr>
              <a:t>Customer ID </a:t>
            </a:r>
          </a:p>
          <a:p>
            <a:pPr algn="l">
              <a:lnSpc>
                <a:spcPts val="2381"/>
              </a:lnSpc>
            </a:pPr>
            <a:r>
              <a:rPr lang="en-US" sz="1701">
                <a:solidFill>
                  <a:srgbClr val="FFFFFF"/>
                </a:solidFill>
                <a:latin typeface="Roboto"/>
                <a:ea typeface="Roboto"/>
                <a:cs typeface="Roboto"/>
                <a:sym typeface="Roboto"/>
              </a:rPr>
              <a:t>Customer Name </a:t>
            </a:r>
          </a:p>
          <a:p>
            <a:pPr algn="l">
              <a:lnSpc>
                <a:spcPts val="2381"/>
              </a:lnSpc>
            </a:pPr>
            <a:r>
              <a:rPr lang="en-US" sz="1701">
                <a:solidFill>
                  <a:srgbClr val="FFFFFF"/>
                </a:solidFill>
                <a:latin typeface="Roboto"/>
                <a:ea typeface="Roboto"/>
                <a:cs typeface="Roboto"/>
                <a:sym typeface="Roboto"/>
              </a:rPr>
              <a:t>Segment </a:t>
            </a:r>
          </a:p>
        </p:txBody>
      </p:sp>
      <p:sp>
        <p:nvSpPr>
          <p:cNvPr name="TextBox 17" id="17"/>
          <p:cNvSpPr txBox="true"/>
          <p:nvPr/>
        </p:nvSpPr>
        <p:spPr>
          <a:xfrm rot="0">
            <a:off x="1417317" y="2218033"/>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CLIENT</a:t>
            </a:r>
          </a:p>
        </p:txBody>
      </p:sp>
      <p:sp>
        <p:nvSpPr>
          <p:cNvPr name="TextBox 18" id="18"/>
          <p:cNvSpPr txBox="true"/>
          <p:nvPr/>
        </p:nvSpPr>
        <p:spPr>
          <a:xfrm rot="-74722">
            <a:off x="1252008" y="115351"/>
            <a:ext cx="2378908" cy="2006392"/>
          </a:xfrm>
          <a:prstGeom prst="rect">
            <a:avLst/>
          </a:prstGeom>
        </p:spPr>
        <p:txBody>
          <a:bodyPr anchor="t" rtlCol="false" tIns="0" lIns="0" bIns="0" rIns="0">
            <a:spAutoFit/>
          </a:bodyPr>
          <a:lstStyle/>
          <a:p>
            <a:pPr algn="ctr">
              <a:lnSpc>
                <a:spcPts val="15141"/>
              </a:lnSpc>
            </a:pPr>
            <a:r>
              <a:rPr lang="en-US" sz="10815" spc="681">
                <a:solidFill>
                  <a:srgbClr val="FFFFFF"/>
                </a:solidFill>
                <a:latin typeface="Some Time Later"/>
                <a:ea typeface="Some Time Later"/>
                <a:cs typeface="Some Time Later"/>
                <a:sym typeface="Some Time Later"/>
              </a:rPr>
              <a:t>MCD</a:t>
            </a:r>
          </a:p>
        </p:txBody>
      </p:sp>
      <p:sp>
        <p:nvSpPr>
          <p:cNvPr name="TextBox 19" id="19"/>
          <p:cNvSpPr txBox="true"/>
          <p:nvPr/>
        </p:nvSpPr>
        <p:spPr>
          <a:xfrm rot="0">
            <a:off x="10471309" y="2663817"/>
            <a:ext cx="1938882" cy="1743059"/>
          </a:xfrm>
          <a:prstGeom prst="rect">
            <a:avLst/>
          </a:prstGeom>
        </p:spPr>
        <p:txBody>
          <a:bodyPr anchor="t" rtlCol="false" tIns="0" lIns="0" bIns="0" rIns="0">
            <a:spAutoFit/>
          </a:bodyPr>
          <a:lstStyle/>
          <a:p>
            <a:pPr algn="l">
              <a:lnSpc>
                <a:spcPts val="2381"/>
              </a:lnSpc>
            </a:pPr>
            <a:r>
              <a:rPr lang="en-US" sz="1701">
                <a:solidFill>
                  <a:srgbClr val="FFFFFF"/>
                </a:solidFill>
                <a:latin typeface="Roboto"/>
                <a:ea typeface="Roboto"/>
                <a:cs typeface="Roboto"/>
                <a:sym typeface="Roboto"/>
              </a:rPr>
              <a:t>Date_ID</a:t>
            </a:r>
          </a:p>
          <a:p>
            <a:pPr algn="l">
              <a:lnSpc>
                <a:spcPts val="2381"/>
              </a:lnSpc>
            </a:pPr>
            <a:r>
              <a:rPr lang="en-US" sz="1701">
                <a:solidFill>
                  <a:srgbClr val="FFFFFF"/>
                </a:solidFill>
                <a:latin typeface="Roboto"/>
                <a:ea typeface="Roboto"/>
                <a:cs typeface="Roboto"/>
                <a:sym typeface="Roboto"/>
              </a:rPr>
              <a:t>Order_Date</a:t>
            </a:r>
          </a:p>
          <a:p>
            <a:pPr algn="l">
              <a:lnSpc>
                <a:spcPts val="2381"/>
              </a:lnSpc>
            </a:pPr>
            <a:r>
              <a:rPr lang="en-US" sz="1701">
                <a:solidFill>
                  <a:srgbClr val="FFFFFF"/>
                </a:solidFill>
                <a:latin typeface="Roboto"/>
                <a:ea typeface="Roboto"/>
                <a:cs typeface="Roboto"/>
                <a:sym typeface="Roboto"/>
              </a:rPr>
              <a:t>A</a:t>
            </a:r>
            <a:r>
              <a:rPr lang="en-US" sz="1701">
                <a:solidFill>
                  <a:srgbClr val="FFFFFF"/>
                </a:solidFill>
                <a:latin typeface="Roboto"/>
                <a:ea typeface="Roboto"/>
                <a:cs typeface="Roboto"/>
                <a:sym typeface="Roboto"/>
              </a:rPr>
              <a:t>nnees</a:t>
            </a:r>
          </a:p>
          <a:p>
            <a:pPr algn="l">
              <a:lnSpc>
                <a:spcPts val="2381"/>
              </a:lnSpc>
            </a:pPr>
            <a:r>
              <a:rPr lang="en-US" sz="1701">
                <a:solidFill>
                  <a:srgbClr val="FFFFFF"/>
                </a:solidFill>
                <a:latin typeface="Roboto"/>
                <a:ea typeface="Roboto"/>
                <a:cs typeface="Roboto"/>
                <a:sym typeface="Roboto"/>
              </a:rPr>
              <a:t>Mois</a:t>
            </a:r>
          </a:p>
          <a:p>
            <a:pPr algn="l">
              <a:lnSpc>
                <a:spcPts val="2381"/>
              </a:lnSpc>
            </a:pPr>
            <a:r>
              <a:rPr lang="en-US" sz="1701">
                <a:solidFill>
                  <a:srgbClr val="FFFFFF"/>
                </a:solidFill>
                <a:latin typeface="Roboto"/>
                <a:ea typeface="Roboto"/>
                <a:cs typeface="Roboto"/>
                <a:sym typeface="Roboto"/>
              </a:rPr>
              <a:t>Trimestre</a:t>
            </a:r>
          </a:p>
          <a:p>
            <a:pPr algn="l">
              <a:lnSpc>
                <a:spcPts val="2381"/>
              </a:lnSpc>
            </a:pPr>
          </a:p>
        </p:txBody>
      </p:sp>
      <p:sp>
        <p:nvSpPr>
          <p:cNvPr name="TextBox 20" id="20"/>
          <p:cNvSpPr txBox="true"/>
          <p:nvPr/>
        </p:nvSpPr>
        <p:spPr>
          <a:xfrm rot="0">
            <a:off x="10602336" y="2218033"/>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TIME</a:t>
            </a:r>
          </a:p>
        </p:txBody>
      </p:sp>
      <p:sp>
        <p:nvSpPr>
          <p:cNvPr name="TextBox 21" id="21"/>
          <p:cNvSpPr txBox="true"/>
          <p:nvPr/>
        </p:nvSpPr>
        <p:spPr>
          <a:xfrm rot="0">
            <a:off x="11807509" y="6538746"/>
            <a:ext cx="1938882" cy="2034420"/>
          </a:xfrm>
          <a:prstGeom prst="rect">
            <a:avLst/>
          </a:prstGeom>
        </p:spPr>
        <p:txBody>
          <a:bodyPr anchor="t" rtlCol="false" tIns="0" lIns="0" bIns="0" rIns="0">
            <a:spAutoFit/>
          </a:bodyPr>
          <a:lstStyle/>
          <a:p>
            <a:pPr algn="l">
              <a:lnSpc>
                <a:spcPts val="2381"/>
              </a:lnSpc>
            </a:pPr>
            <a:r>
              <a:rPr lang="en-US" sz="1701">
                <a:solidFill>
                  <a:srgbClr val="FFFFFF"/>
                </a:solidFill>
                <a:latin typeface="Roboto"/>
                <a:ea typeface="Roboto"/>
                <a:cs typeface="Roboto"/>
                <a:sym typeface="Roboto"/>
              </a:rPr>
              <a:t>Row_ID</a:t>
            </a:r>
          </a:p>
          <a:p>
            <a:pPr algn="l">
              <a:lnSpc>
                <a:spcPts val="2381"/>
              </a:lnSpc>
            </a:pPr>
            <a:r>
              <a:rPr lang="en-US" sz="1701">
                <a:solidFill>
                  <a:srgbClr val="FFFFFF"/>
                </a:solidFill>
                <a:latin typeface="Roboto"/>
                <a:ea typeface="Roboto"/>
                <a:cs typeface="Roboto"/>
                <a:sym typeface="Roboto"/>
              </a:rPr>
              <a:t>Sales</a:t>
            </a:r>
          </a:p>
          <a:p>
            <a:pPr algn="l">
              <a:lnSpc>
                <a:spcPts val="2381"/>
              </a:lnSpc>
            </a:pPr>
            <a:r>
              <a:rPr lang="en-US" sz="1701">
                <a:solidFill>
                  <a:srgbClr val="FFFFFF"/>
                </a:solidFill>
                <a:latin typeface="Roboto"/>
                <a:ea typeface="Roboto"/>
                <a:cs typeface="Roboto"/>
                <a:sym typeface="Roboto"/>
              </a:rPr>
              <a:t>Quantity</a:t>
            </a:r>
          </a:p>
          <a:p>
            <a:pPr algn="l">
              <a:lnSpc>
                <a:spcPts val="2381"/>
              </a:lnSpc>
            </a:pPr>
            <a:r>
              <a:rPr lang="en-US" sz="1701">
                <a:solidFill>
                  <a:srgbClr val="FFFFFF"/>
                </a:solidFill>
                <a:latin typeface="Roboto"/>
                <a:ea typeface="Roboto"/>
                <a:cs typeface="Roboto"/>
                <a:sym typeface="Roboto"/>
              </a:rPr>
              <a:t>Marge_Relative</a:t>
            </a:r>
          </a:p>
          <a:p>
            <a:pPr algn="l">
              <a:lnSpc>
                <a:spcPts val="2381"/>
              </a:lnSpc>
            </a:pPr>
            <a:r>
              <a:rPr lang="en-US" sz="1701">
                <a:solidFill>
                  <a:srgbClr val="FFFFFF"/>
                </a:solidFill>
                <a:latin typeface="Roboto"/>
                <a:ea typeface="Roboto"/>
                <a:cs typeface="Roboto"/>
                <a:sym typeface="Roboto"/>
              </a:rPr>
              <a:t>Taux_Profit_Estime</a:t>
            </a:r>
          </a:p>
          <a:p>
            <a:pPr algn="l">
              <a:lnSpc>
                <a:spcPts val="2381"/>
              </a:lnSpc>
            </a:pPr>
            <a:r>
              <a:rPr lang="en-US" sz="1701">
                <a:solidFill>
                  <a:srgbClr val="FFFFFF"/>
                </a:solidFill>
                <a:latin typeface="Roboto"/>
                <a:ea typeface="Roboto"/>
                <a:cs typeface="Roboto"/>
                <a:sym typeface="Roboto"/>
              </a:rPr>
              <a:t>Ratio_Qte_Sales</a:t>
            </a:r>
          </a:p>
          <a:p>
            <a:pPr algn="l">
              <a:lnSpc>
                <a:spcPts val="2381"/>
              </a:lnSpc>
            </a:pPr>
          </a:p>
        </p:txBody>
      </p:sp>
      <p:sp>
        <p:nvSpPr>
          <p:cNvPr name="TextBox 22" id="22"/>
          <p:cNvSpPr txBox="true"/>
          <p:nvPr/>
        </p:nvSpPr>
        <p:spPr>
          <a:xfrm rot="0">
            <a:off x="11938536" y="6092962"/>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VENTES</a:t>
            </a:r>
          </a:p>
        </p:txBody>
      </p:sp>
      <p:sp>
        <p:nvSpPr>
          <p:cNvPr name="TextBox 23" id="23"/>
          <p:cNvSpPr txBox="true"/>
          <p:nvPr/>
        </p:nvSpPr>
        <p:spPr>
          <a:xfrm rot="0">
            <a:off x="4441545" y="6538746"/>
            <a:ext cx="1938882" cy="1451698"/>
          </a:xfrm>
          <a:prstGeom prst="rect">
            <a:avLst/>
          </a:prstGeom>
        </p:spPr>
        <p:txBody>
          <a:bodyPr anchor="t" rtlCol="false" tIns="0" lIns="0" bIns="0" rIns="0">
            <a:spAutoFit/>
          </a:bodyPr>
          <a:lstStyle/>
          <a:p>
            <a:pPr algn="l">
              <a:lnSpc>
                <a:spcPts val="2381"/>
              </a:lnSpc>
            </a:pPr>
            <a:r>
              <a:rPr lang="en-US" sz="1701">
                <a:solidFill>
                  <a:srgbClr val="FFFFFF"/>
                </a:solidFill>
                <a:latin typeface="Roboto"/>
                <a:ea typeface="Roboto"/>
                <a:cs typeface="Roboto"/>
                <a:sym typeface="Roboto"/>
              </a:rPr>
              <a:t>Order_ID</a:t>
            </a:r>
          </a:p>
          <a:p>
            <a:pPr algn="l">
              <a:lnSpc>
                <a:spcPts val="2381"/>
              </a:lnSpc>
            </a:pPr>
            <a:r>
              <a:rPr lang="en-US" sz="1701">
                <a:solidFill>
                  <a:srgbClr val="FFFFFF"/>
                </a:solidFill>
                <a:latin typeface="Roboto"/>
                <a:ea typeface="Roboto"/>
                <a:cs typeface="Roboto"/>
                <a:sym typeface="Roboto"/>
              </a:rPr>
              <a:t>Ship_Date</a:t>
            </a:r>
          </a:p>
          <a:p>
            <a:pPr algn="l">
              <a:lnSpc>
                <a:spcPts val="2381"/>
              </a:lnSpc>
            </a:pPr>
            <a:r>
              <a:rPr lang="en-US" sz="1701">
                <a:solidFill>
                  <a:srgbClr val="FFFFFF"/>
                </a:solidFill>
                <a:latin typeface="Roboto"/>
                <a:ea typeface="Roboto"/>
                <a:cs typeface="Roboto"/>
                <a:sym typeface="Roboto"/>
              </a:rPr>
              <a:t>Ship_</a:t>
            </a:r>
            <a:r>
              <a:rPr lang="en-US" sz="1701">
                <a:solidFill>
                  <a:srgbClr val="FFFFFF"/>
                </a:solidFill>
                <a:latin typeface="Roboto"/>
                <a:ea typeface="Roboto"/>
                <a:cs typeface="Roboto"/>
                <a:sym typeface="Roboto"/>
              </a:rPr>
              <a:t>Mode</a:t>
            </a:r>
          </a:p>
          <a:p>
            <a:pPr algn="l">
              <a:lnSpc>
                <a:spcPts val="2381"/>
              </a:lnSpc>
            </a:pPr>
            <a:r>
              <a:rPr lang="en-US" sz="1701">
                <a:solidFill>
                  <a:srgbClr val="FFFFFF"/>
                </a:solidFill>
                <a:latin typeface="Roboto"/>
                <a:ea typeface="Roboto"/>
                <a:cs typeface="Roboto"/>
                <a:sym typeface="Roboto"/>
              </a:rPr>
              <a:t>Délais_L</a:t>
            </a:r>
            <a:r>
              <a:rPr lang="en-US" sz="1701">
                <a:solidFill>
                  <a:srgbClr val="FFFFFF"/>
                </a:solidFill>
                <a:latin typeface="Roboto"/>
                <a:ea typeface="Roboto"/>
                <a:cs typeface="Roboto"/>
                <a:sym typeface="Roboto"/>
              </a:rPr>
              <a:t>ivraison</a:t>
            </a:r>
          </a:p>
          <a:p>
            <a:pPr algn="l">
              <a:lnSpc>
                <a:spcPts val="2381"/>
              </a:lnSpc>
            </a:pPr>
          </a:p>
        </p:txBody>
      </p:sp>
      <p:sp>
        <p:nvSpPr>
          <p:cNvPr name="TextBox 24" id="24"/>
          <p:cNvSpPr txBox="true"/>
          <p:nvPr/>
        </p:nvSpPr>
        <p:spPr>
          <a:xfrm rot="0">
            <a:off x="4572572" y="6092962"/>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C</a:t>
            </a:r>
            <a:r>
              <a:rPr lang="en-US" sz="2470" spc="49">
                <a:solidFill>
                  <a:srgbClr val="47CDD6"/>
                </a:solidFill>
                <a:latin typeface="Gagalin"/>
                <a:ea typeface="Gagalin"/>
                <a:cs typeface="Gagalin"/>
                <a:sym typeface="Gagalin"/>
              </a:rPr>
              <a:t>OMMANDE </a:t>
            </a:r>
          </a:p>
        </p:txBody>
      </p:sp>
      <p:sp>
        <p:nvSpPr>
          <p:cNvPr name="TextBox 25" id="25"/>
          <p:cNvSpPr txBox="true"/>
          <p:nvPr/>
        </p:nvSpPr>
        <p:spPr>
          <a:xfrm rot="0">
            <a:off x="14844490" y="2663817"/>
            <a:ext cx="1938882" cy="1160337"/>
          </a:xfrm>
          <a:prstGeom prst="rect">
            <a:avLst/>
          </a:prstGeom>
        </p:spPr>
        <p:txBody>
          <a:bodyPr anchor="t" rtlCol="false" tIns="0" lIns="0" bIns="0" rIns="0">
            <a:spAutoFit/>
          </a:bodyPr>
          <a:lstStyle/>
          <a:p>
            <a:pPr algn="l">
              <a:lnSpc>
                <a:spcPts val="2381"/>
              </a:lnSpc>
            </a:pPr>
            <a:r>
              <a:rPr lang="en-US" sz="1701">
                <a:solidFill>
                  <a:srgbClr val="FFFFFF"/>
                </a:solidFill>
                <a:latin typeface="Roboto"/>
                <a:ea typeface="Roboto"/>
                <a:cs typeface="Roboto"/>
                <a:sym typeface="Roboto"/>
              </a:rPr>
              <a:t>Product ID </a:t>
            </a:r>
          </a:p>
          <a:p>
            <a:pPr algn="l">
              <a:lnSpc>
                <a:spcPts val="2381"/>
              </a:lnSpc>
            </a:pPr>
            <a:r>
              <a:rPr lang="en-US" sz="1701">
                <a:solidFill>
                  <a:srgbClr val="FFFFFF"/>
                </a:solidFill>
                <a:latin typeface="Roboto"/>
                <a:ea typeface="Roboto"/>
                <a:cs typeface="Roboto"/>
                <a:sym typeface="Roboto"/>
              </a:rPr>
              <a:t>Product_Name</a:t>
            </a:r>
          </a:p>
          <a:p>
            <a:pPr algn="l">
              <a:lnSpc>
                <a:spcPts val="2381"/>
              </a:lnSpc>
            </a:pPr>
            <a:r>
              <a:rPr lang="en-US" sz="1701">
                <a:solidFill>
                  <a:srgbClr val="FFFFFF"/>
                </a:solidFill>
                <a:latin typeface="Roboto"/>
                <a:ea typeface="Roboto"/>
                <a:cs typeface="Roboto"/>
                <a:sym typeface="Roboto"/>
              </a:rPr>
              <a:t>Category</a:t>
            </a:r>
          </a:p>
          <a:p>
            <a:pPr algn="l">
              <a:lnSpc>
                <a:spcPts val="2381"/>
              </a:lnSpc>
            </a:pPr>
            <a:r>
              <a:rPr lang="en-US" sz="1701">
                <a:solidFill>
                  <a:srgbClr val="FFFFFF"/>
                </a:solidFill>
                <a:latin typeface="Roboto"/>
                <a:ea typeface="Roboto"/>
                <a:cs typeface="Roboto"/>
                <a:sym typeface="Roboto"/>
              </a:rPr>
              <a:t>Sub-Category</a:t>
            </a:r>
          </a:p>
        </p:txBody>
      </p:sp>
      <p:sp>
        <p:nvSpPr>
          <p:cNvPr name="TextBox 26" id="26"/>
          <p:cNvSpPr txBox="true"/>
          <p:nvPr/>
        </p:nvSpPr>
        <p:spPr>
          <a:xfrm rot="0">
            <a:off x="14975517" y="2218033"/>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PRODUITS</a:t>
            </a:r>
          </a:p>
        </p:txBody>
      </p:sp>
      <p:sp>
        <p:nvSpPr>
          <p:cNvPr name="TextBox 27" id="27"/>
          <p:cNvSpPr txBox="true"/>
          <p:nvPr/>
        </p:nvSpPr>
        <p:spPr>
          <a:xfrm rot="0">
            <a:off x="6922205" y="7253698"/>
            <a:ext cx="509066"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(1,N)</a:t>
            </a:r>
          </a:p>
        </p:txBody>
      </p:sp>
      <p:sp>
        <p:nvSpPr>
          <p:cNvPr name="TextBox 28" id="28"/>
          <p:cNvSpPr txBox="true"/>
          <p:nvPr/>
        </p:nvSpPr>
        <p:spPr>
          <a:xfrm rot="0">
            <a:off x="10825846" y="7253698"/>
            <a:ext cx="614904"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name="Freeform 29" id="29"/>
          <p:cNvSpPr/>
          <p:nvPr/>
        </p:nvSpPr>
        <p:spPr>
          <a:xfrm flipH="false" flipV="false" rot="0">
            <a:off x="5840538" y="1890037"/>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0" id="30"/>
          <p:cNvSpPr/>
          <p:nvPr/>
        </p:nvSpPr>
        <p:spPr>
          <a:xfrm>
            <a:off x="5912392" y="2605208"/>
            <a:ext cx="2526676" cy="0"/>
          </a:xfrm>
          <a:prstGeom prst="line">
            <a:avLst/>
          </a:prstGeom>
          <a:ln cap="flat" w="47625">
            <a:solidFill>
              <a:srgbClr val="FFFFFF"/>
            </a:solidFill>
            <a:prstDash val="solid"/>
            <a:headEnd type="none" len="sm" w="sm"/>
            <a:tailEnd type="none" len="sm" w="sm"/>
          </a:ln>
        </p:spPr>
      </p:sp>
      <p:sp>
        <p:nvSpPr>
          <p:cNvPr name="TextBox 31" id="31"/>
          <p:cNvSpPr txBox="true"/>
          <p:nvPr/>
        </p:nvSpPr>
        <p:spPr>
          <a:xfrm rot="0">
            <a:off x="6229155" y="2218033"/>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LOCALISA</a:t>
            </a:r>
            <a:r>
              <a:rPr lang="en-US" sz="2470" spc="49">
                <a:solidFill>
                  <a:srgbClr val="47CDD6"/>
                </a:solidFill>
                <a:latin typeface="Gagalin"/>
                <a:ea typeface="Gagalin"/>
                <a:cs typeface="Gagalin"/>
                <a:sym typeface="Gagalin"/>
              </a:rPr>
              <a:t>TION</a:t>
            </a:r>
          </a:p>
        </p:txBody>
      </p:sp>
      <p:sp>
        <p:nvSpPr>
          <p:cNvPr name="AutoShape 32" id="32"/>
          <p:cNvSpPr/>
          <p:nvPr/>
        </p:nvSpPr>
        <p:spPr>
          <a:xfrm flipV="true">
            <a:off x="14146508" y="7575006"/>
            <a:ext cx="2129064" cy="4631"/>
          </a:xfrm>
          <a:prstGeom prst="line">
            <a:avLst/>
          </a:prstGeom>
          <a:ln cap="flat" w="47625">
            <a:solidFill>
              <a:srgbClr val="FFFFFF"/>
            </a:solidFill>
            <a:prstDash val="solid"/>
            <a:headEnd type="none" len="sm" w="sm"/>
            <a:tailEnd type="none" len="sm" w="sm"/>
          </a:ln>
        </p:spPr>
      </p:sp>
      <p:sp>
        <p:nvSpPr>
          <p:cNvPr name="TextBox 33" id="33"/>
          <p:cNvSpPr txBox="true"/>
          <p:nvPr/>
        </p:nvSpPr>
        <p:spPr>
          <a:xfrm rot="0">
            <a:off x="14222319" y="7318917"/>
            <a:ext cx="509066"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name="TextBox 34" id="34"/>
          <p:cNvSpPr txBox="true"/>
          <p:nvPr/>
        </p:nvSpPr>
        <p:spPr>
          <a:xfrm rot="0">
            <a:off x="16168468" y="5450046"/>
            <a:ext cx="614904"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name="AutoShape 35" id="35"/>
          <p:cNvSpPr/>
          <p:nvPr/>
        </p:nvSpPr>
        <p:spPr>
          <a:xfrm flipH="true" flipV="true">
            <a:off x="16251759" y="5262438"/>
            <a:ext cx="0" cy="2326202"/>
          </a:xfrm>
          <a:prstGeom prst="line">
            <a:avLst/>
          </a:prstGeom>
          <a:ln cap="flat" w="47625">
            <a:solidFill>
              <a:srgbClr val="FFFFFF"/>
            </a:solidFill>
            <a:prstDash val="solid"/>
            <a:headEnd type="none" len="sm" w="sm"/>
            <a:tailEnd type="none" len="sm" w="sm"/>
          </a:ln>
        </p:spPr>
      </p:sp>
      <p:sp>
        <p:nvSpPr>
          <p:cNvPr name="AutoShape 36" id="36"/>
          <p:cNvSpPr/>
          <p:nvPr/>
        </p:nvSpPr>
        <p:spPr>
          <a:xfrm flipV="true">
            <a:off x="6856407" y="6990432"/>
            <a:ext cx="4253078" cy="68003"/>
          </a:xfrm>
          <a:prstGeom prst="line">
            <a:avLst/>
          </a:prstGeom>
          <a:ln cap="flat" w="47625">
            <a:solidFill>
              <a:srgbClr val="FFFFFF"/>
            </a:solidFill>
            <a:prstDash val="solid"/>
            <a:headEnd type="none" len="sm" w="sm"/>
            <a:tailEnd type="none" len="sm" w="sm"/>
          </a:ln>
        </p:spPr>
      </p:sp>
      <p:sp>
        <p:nvSpPr>
          <p:cNvPr name="TextBox 37" id="37"/>
          <p:cNvSpPr txBox="true"/>
          <p:nvPr/>
        </p:nvSpPr>
        <p:spPr>
          <a:xfrm rot="0">
            <a:off x="6932218" y="6797716"/>
            <a:ext cx="509066"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name="TextBox 38" id="38"/>
          <p:cNvSpPr txBox="true"/>
          <p:nvPr/>
        </p:nvSpPr>
        <p:spPr>
          <a:xfrm rot="0">
            <a:off x="10494582" y="5450046"/>
            <a:ext cx="614904"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name="AutoShape 39" id="39"/>
          <p:cNvSpPr/>
          <p:nvPr/>
        </p:nvSpPr>
        <p:spPr>
          <a:xfrm flipH="true" flipV="true">
            <a:off x="11109485" y="5315632"/>
            <a:ext cx="23813" cy="1674800"/>
          </a:xfrm>
          <a:prstGeom prst="line">
            <a:avLst/>
          </a:prstGeom>
          <a:ln cap="flat" w="47625">
            <a:solidFill>
              <a:srgbClr val="FFFFFF"/>
            </a:solidFill>
            <a:prstDash val="solid"/>
            <a:headEnd type="none" len="sm" w="sm"/>
            <a:tailEnd type="none" len="sm" w="sm"/>
          </a:ln>
        </p:spPr>
      </p:sp>
      <p:sp>
        <p:nvSpPr>
          <p:cNvPr name="AutoShape 40" id="40"/>
          <p:cNvSpPr/>
          <p:nvPr/>
        </p:nvSpPr>
        <p:spPr>
          <a:xfrm flipV="true">
            <a:off x="6782866" y="6576846"/>
            <a:ext cx="1132411" cy="25610"/>
          </a:xfrm>
          <a:prstGeom prst="line">
            <a:avLst/>
          </a:prstGeom>
          <a:ln cap="flat" w="47625">
            <a:solidFill>
              <a:srgbClr val="FFFFFF"/>
            </a:solidFill>
            <a:prstDash val="solid"/>
            <a:headEnd type="none" len="sm" w="sm"/>
            <a:tailEnd type="none" len="sm" w="sm"/>
          </a:ln>
        </p:spPr>
      </p:sp>
      <p:sp>
        <p:nvSpPr>
          <p:cNvPr name="TextBox 41" id="41"/>
          <p:cNvSpPr txBox="true"/>
          <p:nvPr/>
        </p:nvSpPr>
        <p:spPr>
          <a:xfrm rot="0">
            <a:off x="6858677" y="6341736"/>
            <a:ext cx="509066"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name="TextBox 42" id="42"/>
          <p:cNvSpPr txBox="true"/>
          <p:nvPr/>
        </p:nvSpPr>
        <p:spPr>
          <a:xfrm rot="0">
            <a:off x="7367743" y="5450046"/>
            <a:ext cx="614904"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name="AutoShape 43" id="43"/>
          <p:cNvSpPr/>
          <p:nvPr/>
        </p:nvSpPr>
        <p:spPr>
          <a:xfrm flipH="true" flipV="true">
            <a:off x="7915277" y="5291303"/>
            <a:ext cx="11906" cy="1311227"/>
          </a:xfrm>
          <a:prstGeom prst="line">
            <a:avLst/>
          </a:prstGeom>
          <a:ln cap="flat" w="47625">
            <a:solidFill>
              <a:srgbClr val="FFFFFF"/>
            </a:solidFill>
            <a:prstDash val="solid"/>
            <a:headEnd type="none" len="sm" w="sm"/>
            <a:tailEnd type="none" len="sm" w="sm"/>
          </a:ln>
        </p:spPr>
      </p:sp>
      <p:sp>
        <p:nvSpPr>
          <p:cNvPr name="AutoShape 44" id="44"/>
          <p:cNvSpPr/>
          <p:nvPr/>
        </p:nvSpPr>
        <p:spPr>
          <a:xfrm flipV="true">
            <a:off x="2370266" y="7566831"/>
            <a:ext cx="1813151" cy="8175"/>
          </a:xfrm>
          <a:prstGeom prst="line">
            <a:avLst/>
          </a:prstGeom>
          <a:ln cap="flat" w="47625">
            <a:solidFill>
              <a:srgbClr val="FFFFFF"/>
            </a:solidFill>
            <a:prstDash val="solid"/>
            <a:headEnd type="none" len="sm" w="sm"/>
            <a:tailEnd type="none" len="sm" w="sm"/>
          </a:ln>
        </p:spPr>
      </p:sp>
      <p:sp>
        <p:nvSpPr>
          <p:cNvPr name="TextBox 45" id="45"/>
          <p:cNvSpPr txBox="true"/>
          <p:nvPr/>
        </p:nvSpPr>
        <p:spPr>
          <a:xfrm rot="0">
            <a:off x="3652438" y="7220624"/>
            <a:ext cx="509066"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(0,N)</a:t>
            </a:r>
          </a:p>
        </p:txBody>
      </p:sp>
      <p:sp>
        <p:nvSpPr>
          <p:cNvPr name="TextBox 46" id="46"/>
          <p:cNvSpPr txBox="true"/>
          <p:nvPr/>
        </p:nvSpPr>
        <p:spPr>
          <a:xfrm rot="0">
            <a:off x="1829974" y="5484682"/>
            <a:ext cx="614904" cy="192717"/>
          </a:xfrm>
          <a:prstGeom prst="rect">
            <a:avLst/>
          </a:prstGeom>
        </p:spPr>
        <p:txBody>
          <a:bodyPr anchor="t" rtlCol="false" tIns="0" lIns="0" bIns="0" rIns="0">
            <a:spAutoFit/>
          </a:bodyPr>
          <a:lstStyle/>
          <a:p>
            <a:pPr algn="ctr">
              <a:lnSpc>
                <a:spcPts val="1378"/>
              </a:lnSpc>
            </a:pPr>
            <a:r>
              <a:rPr lang="en-US" sz="1722" spc="34">
                <a:solidFill>
                  <a:srgbClr val="C1FF72"/>
                </a:solidFill>
                <a:latin typeface="Gagalin"/>
                <a:ea typeface="Gagalin"/>
                <a:cs typeface="Gagalin"/>
                <a:sym typeface="Gagalin"/>
              </a:rPr>
              <a:t>(1,1)</a:t>
            </a:r>
          </a:p>
        </p:txBody>
      </p:sp>
      <p:sp>
        <p:nvSpPr>
          <p:cNvPr name="AutoShape 47" id="47"/>
          <p:cNvSpPr/>
          <p:nvPr/>
        </p:nvSpPr>
        <p:spPr>
          <a:xfrm flipV="true">
            <a:off x="2370266" y="5418007"/>
            <a:ext cx="0" cy="2156999"/>
          </a:xfrm>
          <a:prstGeom prst="line">
            <a:avLst/>
          </a:prstGeom>
          <a:ln cap="flat" w="47625">
            <a:solidFill>
              <a:srgbClr val="FFFFFF"/>
            </a:solidFill>
            <a:prstDash val="solid"/>
            <a:headEnd type="none" len="sm" w="sm"/>
            <a:tailEnd type="none" len="sm" w="sm"/>
          </a:ln>
        </p:spPr>
      </p:sp>
      <p:sp>
        <p:nvSpPr>
          <p:cNvPr name="TextBox 48" id="48"/>
          <p:cNvSpPr txBox="true"/>
          <p:nvPr/>
        </p:nvSpPr>
        <p:spPr>
          <a:xfrm rot="0">
            <a:off x="6098128" y="2663817"/>
            <a:ext cx="1938882" cy="1451698"/>
          </a:xfrm>
          <a:prstGeom prst="rect">
            <a:avLst/>
          </a:prstGeom>
        </p:spPr>
        <p:txBody>
          <a:bodyPr anchor="t" rtlCol="false" tIns="0" lIns="0" bIns="0" rIns="0">
            <a:spAutoFit/>
          </a:bodyPr>
          <a:lstStyle/>
          <a:p>
            <a:pPr algn="l">
              <a:lnSpc>
                <a:spcPts val="2381"/>
              </a:lnSpc>
            </a:pPr>
            <a:r>
              <a:rPr lang="en-US" sz="1701">
                <a:solidFill>
                  <a:srgbClr val="FFFFFF"/>
                </a:solidFill>
                <a:latin typeface="Roboto"/>
                <a:ea typeface="Roboto"/>
                <a:cs typeface="Roboto"/>
                <a:sym typeface="Roboto"/>
              </a:rPr>
              <a:t>Postal_Code</a:t>
            </a:r>
          </a:p>
          <a:p>
            <a:pPr algn="l">
              <a:lnSpc>
                <a:spcPts val="2381"/>
              </a:lnSpc>
            </a:pPr>
            <a:r>
              <a:rPr lang="en-US" sz="1701">
                <a:solidFill>
                  <a:srgbClr val="FFFFFF"/>
                </a:solidFill>
                <a:latin typeface="Roboto"/>
                <a:ea typeface="Roboto"/>
                <a:cs typeface="Roboto"/>
                <a:sym typeface="Roboto"/>
              </a:rPr>
              <a:t>City</a:t>
            </a:r>
          </a:p>
          <a:p>
            <a:pPr algn="l">
              <a:lnSpc>
                <a:spcPts val="2381"/>
              </a:lnSpc>
            </a:pPr>
            <a:r>
              <a:rPr lang="en-US" sz="1701">
                <a:solidFill>
                  <a:srgbClr val="FFFFFF"/>
                </a:solidFill>
                <a:latin typeface="Roboto"/>
                <a:ea typeface="Roboto"/>
                <a:cs typeface="Roboto"/>
                <a:sym typeface="Roboto"/>
              </a:rPr>
              <a:t>State</a:t>
            </a:r>
          </a:p>
          <a:p>
            <a:pPr algn="l">
              <a:lnSpc>
                <a:spcPts val="2381"/>
              </a:lnSpc>
            </a:pPr>
            <a:r>
              <a:rPr lang="en-US" sz="1701">
                <a:solidFill>
                  <a:srgbClr val="FFFFFF"/>
                </a:solidFill>
                <a:latin typeface="Roboto"/>
                <a:ea typeface="Roboto"/>
                <a:cs typeface="Roboto"/>
                <a:sym typeface="Roboto"/>
              </a:rPr>
              <a:t>Country</a:t>
            </a:r>
          </a:p>
          <a:p>
            <a:pPr algn="l">
              <a:lnSpc>
                <a:spcPts val="2381"/>
              </a:lnSpc>
            </a:pPr>
            <a:r>
              <a:rPr lang="en-US" sz="1701">
                <a:solidFill>
                  <a:srgbClr val="FFFFFF"/>
                </a:solidFill>
                <a:latin typeface="Roboto"/>
                <a:ea typeface="Roboto"/>
                <a:cs typeface="Roboto"/>
                <a:sym typeface="Roboto"/>
              </a:rPr>
              <a:t>Region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376882" y="7484506"/>
            <a:ext cx="5089406" cy="2203289"/>
          </a:xfrm>
          <a:custGeom>
            <a:avLst/>
            <a:gdLst/>
            <a:ahLst/>
            <a:cxnLst/>
            <a:rect r="r" b="b" t="t" l="l"/>
            <a:pathLst>
              <a:path h="2203289" w="5089406">
                <a:moveTo>
                  <a:pt x="0" y="0"/>
                </a:moveTo>
                <a:lnTo>
                  <a:pt x="5089406" y="0"/>
                </a:lnTo>
                <a:lnTo>
                  <a:pt x="5089406" y="2203288"/>
                </a:lnTo>
                <a:lnTo>
                  <a:pt x="0" y="2203288"/>
                </a:lnTo>
                <a:lnTo>
                  <a:pt x="0" y="0"/>
                </a:lnTo>
                <a:close/>
              </a:path>
            </a:pathLst>
          </a:custGeom>
          <a:blipFill>
            <a:blip r:embed="rId2"/>
            <a:stretch>
              <a:fillRect l="0" t="0" r="0" b="0"/>
            </a:stretch>
          </a:blipFill>
        </p:spPr>
      </p:sp>
      <p:sp>
        <p:nvSpPr>
          <p:cNvPr name="Freeform 3" id="3"/>
          <p:cNvSpPr/>
          <p:nvPr/>
        </p:nvSpPr>
        <p:spPr>
          <a:xfrm flipH="false" flipV="false" rot="0">
            <a:off x="-2910341" y="80706"/>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4" id="4"/>
          <p:cNvSpPr/>
          <p:nvPr/>
        </p:nvSpPr>
        <p:spPr>
          <a:xfrm flipH="false" flipV="false" rot="0">
            <a:off x="-3756669" y="6085378"/>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TextBox 5" id="5"/>
          <p:cNvSpPr txBox="true"/>
          <p:nvPr/>
        </p:nvSpPr>
        <p:spPr>
          <a:xfrm rot="-74722">
            <a:off x="1328882" y="115352"/>
            <a:ext cx="2225038" cy="2000809"/>
          </a:xfrm>
          <a:prstGeom prst="rect">
            <a:avLst/>
          </a:prstGeom>
        </p:spPr>
        <p:txBody>
          <a:bodyPr anchor="t" rtlCol="false" tIns="0" lIns="0" bIns="0" rIns="0">
            <a:spAutoFit/>
          </a:bodyPr>
          <a:lstStyle/>
          <a:p>
            <a:pPr algn="ctr">
              <a:lnSpc>
                <a:spcPts val="15141"/>
              </a:lnSpc>
            </a:pPr>
            <a:r>
              <a:rPr lang="en-US" sz="10815" spc="681">
                <a:solidFill>
                  <a:srgbClr val="FFFFFF"/>
                </a:solidFill>
                <a:latin typeface="Some Time Later"/>
                <a:ea typeface="Some Time Later"/>
                <a:cs typeface="Some Time Later"/>
                <a:sym typeface="Some Time Later"/>
              </a:rPr>
              <a:t>MLD</a:t>
            </a:r>
          </a:p>
        </p:txBody>
      </p:sp>
      <p:sp>
        <p:nvSpPr>
          <p:cNvPr name="Freeform 6" id="6"/>
          <p:cNvSpPr/>
          <p:nvPr/>
        </p:nvSpPr>
        <p:spPr>
          <a:xfrm flipH="false" flipV="false" rot="-5400000">
            <a:off x="5219232" y="203117"/>
            <a:ext cx="7849535" cy="10260830"/>
          </a:xfrm>
          <a:custGeom>
            <a:avLst/>
            <a:gdLst/>
            <a:ahLst/>
            <a:cxnLst/>
            <a:rect r="r" b="b" t="t" l="l"/>
            <a:pathLst>
              <a:path h="10260830" w="7849535">
                <a:moveTo>
                  <a:pt x="0" y="0"/>
                </a:moveTo>
                <a:lnTo>
                  <a:pt x="7849536" y="0"/>
                </a:lnTo>
                <a:lnTo>
                  <a:pt x="7849536" y="10260831"/>
                </a:lnTo>
                <a:lnTo>
                  <a:pt x="0" y="102608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92296">
            <a:off x="7846253" y="768496"/>
            <a:ext cx="2165926" cy="870883"/>
          </a:xfrm>
          <a:custGeom>
            <a:avLst/>
            <a:gdLst/>
            <a:ahLst/>
            <a:cxnLst/>
            <a:rect r="r" b="b" t="t" l="l"/>
            <a:pathLst>
              <a:path h="870883" w="2165926">
                <a:moveTo>
                  <a:pt x="0" y="0"/>
                </a:moveTo>
                <a:lnTo>
                  <a:pt x="2165926" y="0"/>
                </a:lnTo>
                <a:lnTo>
                  <a:pt x="2165926" y="870883"/>
                </a:lnTo>
                <a:lnTo>
                  <a:pt x="0" y="8708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6571021" y="2189242"/>
            <a:ext cx="7624291" cy="1413827"/>
          </a:xfrm>
          <a:prstGeom prst="rect">
            <a:avLst/>
          </a:prstGeom>
        </p:spPr>
        <p:txBody>
          <a:bodyPr anchor="t" rtlCol="false" tIns="0" lIns="0" bIns="0" rIns="0">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Order ID </a:t>
            </a:r>
            <a:r>
              <a:rPr lang="en-US" sz="2676">
                <a:solidFill>
                  <a:srgbClr val="FFFFFF"/>
                </a:solidFill>
                <a:latin typeface="Roboto"/>
                <a:ea typeface="Roboto"/>
                <a:cs typeface="Roboto"/>
                <a:sym typeface="Roboto"/>
              </a:rPr>
              <a:t> , Ship Date  , Ship Mode  ,</a:t>
            </a:r>
          </a:p>
          <a:p>
            <a:pPr algn="l">
              <a:lnSpc>
                <a:spcPts val="3747"/>
              </a:lnSpc>
            </a:pPr>
            <a:r>
              <a:rPr lang="en-US" sz="2676">
                <a:solidFill>
                  <a:srgbClr val="FFFFFF"/>
                </a:solidFill>
                <a:latin typeface="Roboto"/>
                <a:ea typeface="Roboto"/>
                <a:cs typeface="Roboto"/>
                <a:sym typeface="Roboto"/>
              </a:rPr>
              <a:t>Délais livraison , </a:t>
            </a:r>
            <a:r>
              <a:rPr lang="en-US" sz="2676">
                <a:solidFill>
                  <a:srgbClr val="C1FF72"/>
                </a:solidFill>
                <a:latin typeface="Roboto"/>
                <a:ea typeface="Roboto"/>
                <a:cs typeface="Roboto"/>
                <a:sym typeface="Roboto"/>
              </a:rPr>
              <a:t>#Customer_ID , #Date_ID , #Postal_Code</a:t>
            </a:r>
            <a:r>
              <a:rPr lang="en-US" sz="2676">
                <a:solidFill>
                  <a:srgbClr val="FFFFFF"/>
                </a:solidFill>
                <a:latin typeface="Roboto"/>
                <a:ea typeface="Roboto"/>
                <a:cs typeface="Roboto"/>
                <a:sym typeface="Roboto"/>
              </a:rPr>
              <a:t> )</a:t>
            </a:r>
          </a:p>
        </p:txBody>
      </p:sp>
      <p:sp>
        <p:nvSpPr>
          <p:cNvPr name="TextBox 9" id="9"/>
          <p:cNvSpPr txBox="true"/>
          <p:nvPr/>
        </p:nvSpPr>
        <p:spPr>
          <a:xfrm rot="0">
            <a:off x="4843727" y="2388770"/>
            <a:ext cx="1778353" cy="318493"/>
          </a:xfrm>
          <a:prstGeom prst="rect">
            <a:avLst/>
          </a:prstGeom>
        </p:spPr>
        <p:txBody>
          <a:bodyPr anchor="t" rtlCol="false" tIns="0" lIns="0" bIns="0" rIns="0">
            <a:spAutoFit/>
          </a:bodyPr>
          <a:lstStyle/>
          <a:p>
            <a:pPr algn="l">
              <a:lnSpc>
                <a:spcPts val="2248"/>
              </a:lnSpc>
            </a:pPr>
            <a:r>
              <a:rPr lang="en-US" sz="2810" spc="56">
                <a:solidFill>
                  <a:srgbClr val="FFE869"/>
                </a:solidFill>
                <a:latin typeface="Gagalin"/>
                <a:ea typeface="Gagalin"/>
                <a:cs typeface="Gagalin"/>
                <a:sym typeface="Gagalin"/>
              </a:rPr>
              <a:t>COMMANDE </a:t>
            </a:r>
          </a:p>
        </p:txBody>
      </p:sp>
      <p:sp>
        <p:nvSpPr>
          <p:cNvPr name="TextBox 10" id="10"/>
          <p:cNvSpPr txBox="true"/>
          <p:nvPr/>
        </p:nvSpPr>
        <p:spPr>
          <a:xfrm rot="0">
            <a:off x="6100683" y="3611711"/>
            <a:ext cx="7119332" cy="1398856"/>
          </a:xfrm>
          <a:prstGeom prst="rect">
            <a:avLst/>
          </a:prstGeom>
        </p:spPr>
        <p:txBody>
          <a:bodyPr anchor="t" rtlCol="false" tIns="0" lIns="0" bIns="0" rIns="0">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row ID </a:t>
            </a:r>
            <a:r>
              <a:rPr lang="en-US" sz="2676">
                <a:solidFill>
                  <a:srgbClr val="FFFFFF"/>
                </a:solidFill>
                <a:latin typeface="Roboto"/>
                <a:ea typeface="Roboto"/>
                <a:cs typeface="Roboto"/>
                <a:sym typeface="Roboto"/>
              </a:rPr>
              <a:t> , Sales , Quantity  , Marge_relative ,  Taux_profit_estime  , Ratio_Qte_Sales  , </a:t>
            </a:r>
            <a:r>
              <a:rPr lang="en-US" sz="2676">
                <a:solidFill>
                  <a:srgbClr val="C1FF72"/>
                </a:solidFill>
                <a:latin typeface="Roboto"/>
                <a:ea typeface="Roboto"/>
                <a:cs typeface="Roboto"/>
                <a:sym typeface="Roboto"/>
              </a:rPr>
              <a:t>#Product_ID , #Order_ID</a:t>
            </a:r>
            <a:r>
              <a:rPr lang="en-US" sz="2676">
                <a:solidFill>
                  <a:srgbClr val="FFFFFF"/>
                </a:solidFill>
                <a:latin typeface="Roboto"/>
                <a:ea typeface="Roboto"/>
                <a:cs typeface="Roboto"/>
                <a:sym typeface="Roboto"/>
              </a:rPr>
              <a:t> )</a:t>
            </a:r>
          </a:p>
        </p:txBody>
      </p:sp>
      <p:sp>
        <p:nvSpPr>
          <p:cNvPr name="TextBox 11" id="11"/>
          <p:cNvSpPr txBox="true"/>
          <p:nvPr/>
        </p:nvSpPr>
        <p:spPr>
          <a:xfrm rot="0">
            <a:off x="4638418" y="3755469"/>
            <a:ext cx="1967224" cy="318493"/>
          </a:xfrm>
          <a:prstGeom prst="rect">
            <a:avLst/>
          </a:prstGeom>
        </p:spPr>
        <p:txBody>
          <a:bodyPr anchor="t" rtlCol="false" tIns="0" lIns="0" bIns="0" rIns="0">
            <a:spAutoFit/>
          </a:bodyPr>
          <a:lstStyle/>
          <a:p>
            <a:pPr algn="l">
              <a:lnSpc>
                <a:spcPts val="2248"/>
              </a:lnSpc>
            </a:pPr>
            <a:r>
              <a:rPr lang="en-US" sz="2810" spc="56">
                <a:solidFill>
                  <a:srgbClr val="FFE869"/>
                </a:solidFill>
                <a:latin typeface="Gagalin"/>
                <a:ea typeface="Gagalin"/>
                <a:cs typeface="Gagalin"/>
                <a:sym typeface="Gagalin"/>
              </a:rPr>
              <a:t>VENTES</a:t>
            </a:r>
          </a:p>
        </p:txBody>
      </p:sp>
      <p:sp>
        <p:nvSpPr>
          <p:cNvPr name="TextBox 12" id="12"/>
          <p:cNvSpPr txBox="true"/>
          <p:nvPr/>
        </p:nvSpPr>
        <p:spPr>
          <a:xfrm rot="0">
            <a:off x="6220953" y="4992014"/>
            <a:ext cx="7383750" cy="942112"/>
          </a:xfrm>
          <a:prstGeom prst="rect">
            <a:avLst/>
          </a:prstGeom>
        </p:spPr>
        <p:txBody>
          <a:bodyPr anchor="t" rtlCol="false" tIns="0" lIns="0" bIns="0" rIns="0">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Product ID </a:t>
            </a:r>
            <a:r>
              <a:rPr lang="en-US" sz="2676">
                <a:solidFill>
                  <a:srgbClr val="FFFFFF"/>
                </a:solidFill>
                <a:latin typeface="Roboto"/>
                <a:ea typeface="Roboto"/>
                <a:cs typeface="Roboto"/>
                <a:sym typeface="Roboto"/>
              </a:rPr>
              <a:t> , Categ</a:t>
            </a:r>
            <a:r>
              <a:rPr lang="en-US" sz="2676" u="none">
                <a:solidFill>
                  <a:srgbClr val="FFFFFF"/>
                </a:solidFill>
                <a:latin typeface="Roboto"/>
                <a:ea typeface="Roboto"/>
                <a:cs typeface="Roboto"/>
                <a:sym typeface="Roboto"/>
              </a:rPr>
              <a:t>o</a:t>
            </a:r>
            <a:r>
              <a:rPr lang="en-US" sz="2676">
                <a:solidFill>
                  <a:srgbClr val="FFFFFF"/>
                </a:solidFill>
                <a:latin typeface="Roboto"/>
                <a:ea typeface="Roboto"/>
                <a:cs typeface="Roboto"/>
                <a:sym typeface="Roboto"/>
              </a:rPr>
              <a:t>ry , Sub-C</a:t>
            </a:r>
            <a:r>
              <a:rPr lang="en-US" sz="2676" u="none">
                <a:solidFill>
                  <a:srgbClr val="FFFFFF"/>
                </a:solidFill>
                <a:latin typeface="Roboto"/>
                <a:ea typeface="Roboto"/>
                <a:cs typeface="Roboto"/>
                <a:sym typeface="Roboto"/>
              </a:rPr>
              <a:t>ate</a:t>
            </a:r>
            <a:r>
              <a:rPr lang="en-US" sz="2676">
                <a:solidFill>
                  <a:srgbClr val="FFFFFF"/>
                </a:solidFill>
                <a:latin typeface="Roboto"/>
                <a:ea typeface="Roboto"/>
                <a:cs typeface="Roboto"/>
                <a:sym typeface="Roboto"/>
              </a:rPr>
              <a:t>go</a:t>
            </a:r>
            <a:r>
              <a:rPr lang="en-US" sz="2676" u="none">
                <a:solidFill>
                  <a:srgbClr val="FFFFFF"/>
                </a:solidFill>
                <a:latin typeface="Roboto"/>
                <a:ea typeface="Roboto"/>
                <a:cs typeface="Roboto"/>
                <a:sym typeface="Roboto"/>
              </a:rPr>
              <a:t>r</a:t>
            </a:r>
            <a:r>
              <a:rPr lang="en-US" sz="2676">
                <a:solidFill>
                  <a:srgbClr val="FFFFFF"/>
                </a:solidFill>
                <a:latin typeface="Roboto"/>
                <a:ea typeface="Roboto"/>
                <a:cs typeface="Roboto"/>
                <a:sym typeface="Roboto"/>
              </a:rPr>
              <a:t>y , </a:t>
            </a:r>
          </a:p>
          <a:p>
            <a:pPr algn="l">
              <a:lnSpc>
                <a:spcPts val="3747"/>
              </a:lnSpc>
            </a:pPr>
            <a:r>
              <a:rPr lang="en-US" sz="2676">
                <a:solidFill>
                  <a:srgbClr val="FFFFFF"/>
                </a:solidFill>
                <a:latin typeface="Roboto"/>
                <a:ea typeface="Roboto"/>
                <a:cs typeface="Roboto"/>
                <a:sym typeface="Roboto"/>
              </a:rPr>
              <a:t>Product Name )</a:t>
            </a:r>
          </a:p>
        </p:txBody>
      </p:sp>
      <p:sp>
        <p:nvSpPr>
          <p:cNvPr name="TextBox 13" id="13"/>
          <p:cNvSpPr txBox="true"/>
          <p:nvPr/>
        </p:nvSpPr>
        <p:spPr>
          <a:xfrm rot="0">
            <a:off x="4638418" y="5143917"/>
            <a:ext cx="1967224" cy="318493"/>
          </a:xfrm>
          <a:prstGeom prst="rect">
            <a:avLst/>
          </a:prstGeom>
        </p:spPr>
        <p:txBody>
          <a:bodyPr anchor="t" rtlCol="false" tIns="0" lIns="0" bIns="0" rIns="0">
            <a:spAutoFit/>
          </a:bodyPr>
          <a:lstStyle/>
          <a:p>
            <a:pPr algn="l">
              <a:lnSpc>
                <a:spcPts val="2248"/>
              </a:lnSpc>
            </a:pPr>
            <a:r>
              <a:rPr lang="en-US" sz="2810" spc="56">
                <a:solidFill>
                  <a:srgbClr val="FFE869"/>
                </a:solidFill>
                <a:latin typeface="Gagalin"/>
                <a:ea typeface="Gagalin"/>
                <a:cs typeface="Gagalin"/>
                <a:sym typeface="Gagalin"/>
              </a:rPr>
              <a:t>PRODUITS</a:t>
            </a:r>
          </a:p>
        </p:txBody>
      </p:sp>
      <p:sp>
        <p:nvSpPr>
          <p:cNvPr name="TextBox 14" id="14"/>
          <p:cNvSpPr txBox="true"/>
          <p:nvPr/>
        </p:nvSpPr>
        <p:spPr>
          <a:xfrm rot="0">
            <a:off x="6700568" y="5867450"/>
            <a:ext cx="7365197" cy="942112"/>
          </a:xfrm>
          <a:prstGeom prst="rect">
            <a:avLst/>
          </a:prstGeom>
        </p:spPr>
        <p:txBody>
          <a:bodyPr anchor="t" rtlCol="false" tIns="0" lIns="0" bIns="0" rIns="0">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Date_ID </a:t>
            </a:r>
            <a:r>
              <a:rPr lang="en-US" sz="2676">
                <a:solidFill>
                  <a:srgbClr val="FFFFFF"/>
                </a:solidFill>
                <a:latin typeface="Roboto"/>
                <a:ea typeface="Roboto"/>
                <a:cs typeface="Roboto"/>
                <a:sym typeface="Roboto"/>
              </a:rPr>
              <a:t> , Order_Date , Annees , Mois ,  Trimestre)</a:t>
            </a:r>
          </a:p>
        </p:txBody>
      </p:sp>
      <p:sp>
        <p:nvSpPr>
          <p:cNvPr name="TextBox 15" id="15"/>
          <p:cNvSpPr txBox="true"/>
          <p:nvPr/>
        </p:nvSpPr>
        <p:spPr>
          <a:xfrm rot="0">
            <a:off x="4638418" y="6067475"/>
            <a:ext cx="2102706" cy="318493"/>
          </a:xfrm>
          <a:prstGeom prst="rect">
            <a:avLst/>
          </a:prstGeom>
        </p:spPr>
        <p:txBody>
          <a:bodyPr anchor="t" rtlCol="false" tIns="0" lIns="0" bIns="0" rIns="0">
            <a:spAutoFit/>
          </a:bodyPr>
          <a:lstStyle/>
          <a:p>
            <a:pPr algn="l">
              <a:lnSpc>
                <a:spcPts val="2248"/>
              </a:lnSpc>
            </a:pPr>
            <a:r>
              <a:rPr lang="en-US" sz="2810" spc="56">
                <a:solidFill>
                  <a:srgbClr val="FFE869"/>
                </a:solidFill>
                <a:latin typeface="Gagalin"/>
                <a:ea typeface="Gagalin"/>
                <a:cs typeface="Gagalin"/>
                <a:sym typeface="Gagalin"/>
              </a:rPr>
              <a:t>DATE_TEMPS</a:t>
            </a:r>
          </a:p>
        </p:txBody>
      </p:sp>
      <p:sp>
        <p:nvSpPr>
          <p:cNvPr name="TextBox 16" id="16"/>
          <p:cNvSpPr txBox="true"/>
          <p:nvPr/>
        </p:nvSpPr>
        <p:spPr>
          <a:xfrm rot="0">
            <a:off x="5917813" y="6810059"/>
            <a:ext cx="7709330" cy="470396"/>
          </a:xfrm>
          <a:prstGeom prst="rect">
            <a:avLst/>
          </a:prstGeom>
        </p:spPr>
        <p:txBody>
          <a:bodyPr anchor="t" rtlCol="false" tIns="0" lIns="0" bIns="0" rIns="0">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RCustomer ID  </a:t>
            </a:r>
            <a:r>
              <a:rPr lang="en-US" sz="2676">
                <a:solidFill>
                  <a:srgbClr val="FFFFFF"/>
                </a:solidFill>
                <a:latin typeface="Roboto"/>
                <a:ea typeface="Roboto"/>
                <a:cs typeface="Roboto"/>
                <a:sym typeface="Roboto"/>
              </a:rPr>
              <a:t> , Customer Name  , Segment )</a:t>
            </a:r>
          </a:p>
        </p:txBody>
      </p:sp>
      <p:sp>
        <p:nvSpPr>
          <p:cNvPr name="TextBox 17" id="17"/>
          <p:cNvSpPr txBox="true"/>
          <p:nvPr/>
        </p:nvSpPr>
        <p:spPr>
          <a:xfrm rot="0">
            <a:off x="4660857" y="6961962"/>
            <a:ext cx="1256955" cy="318493"/>
          </a:xfrm>
          <a:prstGeom prst="rect">
            <a:avLst/>
          </a:prstGeom>
        </p:spPr>
        <p:txBody>
          <a:bodyPr anchor="t" rtlCol="false" tIns="0" lIns="0" bIns="0" rIns="0">
            <a:spAutoFit/>
          </a:bodyPr>
          <a:lstStyle/>
          <a:p>
            <a:pPr algn="l">
              <a:lnSpc>
                <a:spcPts val="2248"/>
              </a:lnSpc>
            </a:pPr>
            <a:r>
              <a:rPr lang="en-US" sz="2810" spc="56">
                <a:solidFill>
                  <a:srgbClr val="FFE869"/>
                </a:solidFill>
                <a:latin typeface="Gagalin"/>
                <a:ea typeface="Gagalin"/>
                <a:cs typeface="Gagalin"/>
                <a:sym typeface="Gagalin"/>
              </a:rPr>
              <a:t>CLIENT</a:t>
            </a:r>
          </a:p>
        </p:txBody>
      </p:sp>
      <p:sp>
        <p:nvSpPr>
          <p:cNvPr name="TextBox 18" id="18"/>
          <p:cNvSpPr txBox="true"/>
          <p:nvPr/>
        </p:nvSpPr>
        <p:spPr>
          <a:xfrm rot="0">
            <a:off x="6902489" y="7332028"/>
            <a:ext cx="6724653" cy="942112"/>
          </a:xfrm>
          <a:prstGeom prst="rect">
            <a:avLst/>
          </a:prstGeom>
        </p:spPr>
        <p:txBody>
          <a:bodyPr anchor="t" rtlCol="false" tIns="0" lIns="0" bIns="0" rIns="0">
            <a:spAutoFit/>
          </a:bodyPr>
          <a:lstStyle/>
          <a:p>
            <a:pPr algn="l">
              <a:lnSpc>
                <a:spcPts val="3747"/>
              </a:lnSpc>
            </a:pPr>
            <a:r>
              <a:rPr lang="en-US" sz="2676">
                <a:solidFill>
                  <a:srgbClr val="FFFFFF"/>
                </a:solidFill>
                <a:latin typeface="Roboto"/>
                <a:ea typeface="Roboto"/>
                <a:cs typeface="Roboto"/>
                <a:sym typeface="Roboto"/>
              </a:rPr>
              <a:t>( </a:t>
            </a:r>
            <a:r>
              <a:rPr lang="en-US" sz="2676" u="sng">
                <a:solidFill>
                  <a:srgbClr val="66E3FF"/>
                </a:solidFill>
                <a:latin typeface="Roboto"/>
                <a:ea typeface="Roboto"/>
                <a:cs typeface="Roboto"/>
                <a:sym typeface="Roboto"/>
              </a:rPr>
              <a:t>Postal_Code </a:t>
            </a:r>
            <a:r>
              <a:rPr lang="en-US" sz="2676">
                <a:solidFill>
                  <a:srgbClr val="FFFFFF"/>
                </a:solidFill>
                <a:latin typeface="Roboto"/>
                <a:ea typeface="Roboto"/>
                <a:cs typeface="Roboto"/>
                <a:sym typeface="Roboto"/>
              </a:rPr>
              <a:t>, City , State , Country , Region)</a:t>
            </a:r>
          </a:p>
        </p:txBody>
      </p:sp>
      <p:sp>
        <p:nvSpPr>
          <p:cNvPr name="TextBox 19" id="19"/>
          <p:cNvSpPr txBox="true"/>
          <p:nvPr/>
        </p:nvSpPr>
        <p:spPr>
          <a:xfrm rot="0">
            <a:off x="4660857" y="7483930"/>
            <a:ext cx="2241632" cy="318493"/>
          </a:xfrm>
          <a:prstGeom prst="rect">
            <a:avLst/>
          </a:prstGeom>
        </p:spPr>
        <p:txBody>
          <a:bodyPr anchor="t" rtlCol="false" tIns="0" lIns="0" bIns="0" rIns="0">
            <a:spAutoFit/>
          </a:bodyPr>
          <a:lstStyle/>
          <a:p>
            <a:pPr algn="l">
              <a:lnSpc>
                <a:spcPts val="2248"/>
              </a:lnSpc>
            </a:pPr>
            <a:r>
              <a:rPr lang="en-US" sz="2810" spc="56">
                <a:solidFill>
                  <a:srgbClr val="FFE869"/>
                </a:solidFill>
                <a:latin typeface="Gagalin"/>
                <a:ea typeface="Gagalin"/>
                <a:cs typeface="Gagalin"/>
                <a:sym typeface="Gagalin"/>
              </a:rPr>
              <a:t>LOCALISATION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62C3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430510" y="8630210"/>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3" id="3"/>
          <p:cNvSpPr/>
          <p:nvPr/>
        </p:nvSpPr>
        <p:spPr>
          <a:xfrm flipH="false" flipV="false" rot="0">
            <a:off x="-2910341" y="80706"/>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4" id="4"/>
          <p:cNvSpPr/>
          <p:nvPr/>
        </p:nvSpPr>
        <p:spPr>
          <a:xfrm flipH="false" flipV="false" rot="0">
            <a:off x="-3756669" y="6085378"/>
            <a:ext cx="5089406" cy="2203289"/>
          </a:xfrm>
          <a:custGeom>
            <a:avLst/>
            <a:gdLst/>
            <a:ahLst/>
            <a:cxnLst/>
            <a:rect r="r" b="b" t="t" l="l"/>
            <a:pathLst>
              <a:path h="2203289" w="5089406">
                <a:moveTo>
                  <a:pt x="0" y="0"/>
                </a:moveTo>
                <a:lnTo>
                  <a:pt x="5089406" y="0"/>
                </a:lnTo>
                <a:lnTo>
                  <a:pt x="5089406" y="2203289"/>
                </a:lnTo>
                <a:lnTo>
                  <a:pt x="0" y="2203289"/>
                </a:lnTo>
                <a:lnTo>
                  <a:pt x="0" y="0"/>
                </a:lnTo>
                <a:close/>
              </a:path>
            </a:pathLst>
          </a:custGeom>
          <a:blipFill>
            <a:blip r:embed="rId2"/>
            <a:stretch>
              <a:fillRect l="0" t="0" r="0" b="0"/>
            </a:stretch>
          </a:blipFill>
        </p:spPr>
      </p:sp>
      <p:sp>
        <p:nvSpPr>
          <p:cNvPr name="Freeform 5" id="5"/>
          <p:cNvSpPr/>
          <p:nvPr/>
        </p:nvSpPr>
        <p:spPr>
          <a:xfrm flipH="false" flipV="false" rot="0">
            <a:off x="1129140" y="1908223"/>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1200994" y="2623394"/>
            <a:ext cx="2526676" cy="0"/>
          </a:xfrm>
          <a:prstGeom prst="line">
            <a:avLst/>
          </a:prstGeom>
          <a:ln cap="flat" w="47625">
            <a:solidFill>
              <a:srgbClr val="FFFFFF"/>
            </a:solidFill>
            <a:prstDash val="solid"/>
            <a:headEnd type="none" len="sm" w="sm"/>
            <a:tailEnd type="none" len="sm" w="sm"/>
          </a:ln>
        </p:spPr>
      </p:sp>
      <p:sp>
        <p:nvSpPr>
          <p:cNvPr name="Freeform 7" id="7"/>
          <p:cNvSpPr/>
          <p:nvPr/>
        </p:nvSpPr>
        <p:spPr>
          <a:xfrm flipH="false" flipV="false" rot="0">
            <a:off x="7570034" y="1804312"/>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7641888" y="2519483"/>
            <a:ext cx="2526676" cy="0"/>
          </a:xfrm>
          <a:prstGeom prst="line">
            <a:avLst/>
          </a:prstGeom>
          <a:ln cap="flat" w="47625">
            <a:solidFill>
              <a:srgbClr val="FFFFFF"/>
            </a:solidFill>
            <a:prstDash val="solid"/>
            <a:headEnd type="none" len="sm" w="sm"/>
            <a:tailEnd type="none" len="sm" w="sm"/>
          </a:ln>
        </p:spPr>
      </p:sp>
      <p:sp>
        <p:nvSpPr>
          <p:cNvPr name="Freeform 9" id="9"/>
          <p:cNvSpPr/>
          <p:nvPr/>
        </p:nvSpPr>
        <p:spPr>
          <a:xfrm flipH="false" flipV="false" rot="0">
            <a:off x="10861559" y="1908223"/>
            <a:ext cx="2672400" cy="3493334"/>
          </a:xfrm>
          <a:custGeom>
            <a:avLst/>
            <a:gdLst/>
            <a:ahLst/>
            <a:cxnLst/>
            <a:rect r="r" b="b" t="t" l="l"/>
            <a:pathLst>
              <a:path h="3493334" w="2672400">
                <a:moveTo>
                  <a:pt x="0" y="0"/>
                </a:moveTo>
                <a:lnTo>
                  <a:pt x="2672401" y="0"/>
                </a:lnTo>
                <a:lnTo>
                  <a:pt x="2672401"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a:off x="10933413" y="2623394"/>
            <a:ext cx="2526676" cy="0"/>
          </a:xfrm>
          <a:prstGeom prst="line">
            <a:avLst/>
          </a:prstGeom>
          <a:ln cap="flat" w="47625">
            <a:solidFill>
              <a:srgbClr val="FFFFFF"/>
            </a:solidFill>
            <a:prstDash val="solid"/>
            <a:headEnd type="none" len="sm" w="sm"/>
            <a:tailEnd type="none" len="sm" w="sm"/>
          </a:ln>
        </p:spPr>
      </p:sp>
      <p:sp>
        <p:nvSpPr>
          <p:cNvPr name="Freeform 11" id="11"/>
          <p:cNvSpPr/>
          <p:nvPr/>
        </p:nvSpPr>
        <p:spPr>
          <a:xfrm flipH="false" flipV="false" rot="0">
            <a:off x="14486460" y="1908223"/>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2" id="12"/>
          <p:cNvSpPr/>
          <p:nvPr/>
        </p:nvSpPr>
        <p:spPr>
          <a:xfrm>
            <a:off x="14558313" y="2623394"/>
            <a:ext cx="2526676" cy="0"/>
          </a:xfrm>
          <a:prstGeom prst="line">
            <a:avLst/>
          </a:prstGeom>
          <a:ln cap="flat" w="47625">
            <a:solidFill>
              <a:srgbClr val="FFFFFF"/>
            </a:solidFill>
            <a:prstDash val="solid"/>
            <a:headEnd type="none" len="sm" w="sm"/>
            <a:tailEnd type="none" len="sm" w="sm"/>
          </a:ln>
        </p:spPr>
      </p:sp>
      <p:sp>
        <p:nvSpPr>
          <p:cNvPr name="TextBox 13" id="13"/>
          <p:cNvSpPr txBox="true"/>
          <p:nvPr/>
        </p:nvSpPr>
        <p:spPr>
          <a:xfrm rot="0">
            <a:off x="1386730" y="2682003"/>
            <a:ext cx="1938882" cy="880719"/>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RCustomer ID </a:t>
            </a:r>
          </a:p>
          <a:p>
            <a:pPr algn="l">
              <a:lnSpc>
                <a:spcPts val="2381"/>
              </a:lnSpc>
            </a:pPr>
            <a:r>
              <a:rPr lang="en-US" sz="1701">
                <a:solidFill>
                  <a:srgbClr val="FFFFFF"/>
                </a:solidFill>
                <a:latin typeface="Roboto"/>
                <a:ea typeface="Roboto"/>
                <a:cs typeface="Roboto"/>
                <a:sym typeface="Roboto"/>
              </a:rPr>
              <a:t>Customer Name </a:t>
            </a:r>
          </a:p>
          <a:p>
            <a:pPr algn="l">
              <a:lnSpc>
                <a:spcPts val="2381"/>
              </a:lnSpc>
            </a:pPr>
            <a:r>
              <a:rPr lang="en-US" sz="1701">
                <a:solidFill>
                  <a:srgbClr val="FFFFFF"/>
                </a:solidFill>
                <a:latin typeface="Roboto"/>
                <a:ea typeface="Roboto"/>
                <a:cs typeface="Roboto"/>
                <a:sym typeface="Roboto"/>
              </a:rPr>
              <a:t>Segment </a:t>
            </a:r>
          </a:p>
        </p:txBody>
      </p:sp>
      <p:sp>
        <p:nvSpPr>
          <p:cNvPr name="TextBox 14" id="14"/>
          <p:cNvSpPr txBox="true"/>
          <p:nvPr/>
        </p:nvSpPr>
        <p:spPr>
          <a:xfrm rot="0">
            <a:off x="1517757" y="2236219"/>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CLIENT</a:t>
            </a:r>
          </a:p>
        </p:txBody>
      </p:sp>
      <p:sp>
        <p:nvSpPr>
          <p:cNvPr name="TextBox 15" id="15"/>
          <p:cNvSpPr txBox="true"/>
          <p:nvPr/>
        </p:nvSpPr>
        <p:spPr>
          <a:xfrm rot="0">
            <a:off x="7827624" y="2578092"/>
            <a:ext cx="1938882" cy="1471269"/>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Date_ID</a:t>
            </a:r>
          </a:p>
          <a:p>
            <a:pPr algn="l">
              <a:lnSpc>
                <a:spcPts val="2381"/>
              </a:lnSpc>
            </a:pPr>
            <a:r>
              <a:rPr lang="en-US" sz="1701">
                <a:solidFill>
                  <a:srgbClr val="FFFFFF"/>
                </a:solidFill>
                <a:latin typeface="Roboto"/>
                <a:ea typeface="Roboto"/>
                <a:cs typeface="Roboto"/>
                <a:sym typeface="Roboto"/>
              </a:rPr>
              <a:t>Order_Date</a:t>
            </a:r>
          </a:p>
          <a:p>
            <a:pPr algn="l">
              <a:lnSpc>
                <a:spcPts val="2381"/>
              </a:lnSpc>
            </a:pPr>
            <a:r>
              <a:rPr lang="en-US" sz="1701">
                <a:solidFill>
                  <a:srgbClr val="FFFFFF"/>
                </a:solidFill>
                <a:latin typeface="Roboto"/>
                <a:ea typeface="Roboto"/>
                <a:cs typeface="Roboto"/>
                <a:sym typeface="Roboto"/>
              </a:rPr>
              <a:t>Annee</a:t>
            </a:r>
          </a:p>
          <a:p>
            <a:pPr algn="l">
              <a:lnSpc>
                <a:spcPts val="2381"/>
              </a:lnSpc>
            </a:pPr>
            <a:r>
              <a:rPr lang="en-US" sz="1701">
                <a:solidFill>
                  <a:srgbClr val="FFFFFF"/>
                </a:solidFill>
                <a:latin typeface="Roboto"/>
                <a:ea typeface="Roboto"/>
                <a:cs typeface="Roboto"/>
                <a:sym typeface="Roboto"/>
              </a:rPr>
              <a:t>Mois</a:t>
            </a:r>
          </a:p>
          <a:p>
            <a:pPr algn="l">
              <a:lnSpc>
                <a:spcPts val="2381"/>
              </a:lnSpc>
            </a:pPr>
            <a:r>
              <a:rPr lang="en-US" sz="1701">
                <a:solidFill>
                  <a:srgbClr val="FFFFFF"/>
                </a:solidFill>
                <a:latin typeface="Roboto"/>
                <a:ea typeface="Roboto"/>
                <a:cs typeface="Roboto"/>
                <a:sym typeface="Roboto"/>
              </a:rPr>
              <a:t>Trim</a:t>
            </a:r>
            <a:r>
              <a:rPr lang="en-US" sz="1701">
                <a:solidFill>
                  <a:srgbClr val="FFFFFF"/>
                </a:solidFill>
                <a:latin typeface="Roboto"/>
                <a:ea typeface="Roboto"/>
                <a:cs typeface="Roboto"/>
                <a:sym typeface="Roboto"/>
              </a:rPr>
              <a:t>estre</a:t>
            </a:r>
          </a:p>
        </p:txBody>
      </p:sp>
      <p:sp>
        <p:nvSpPr>
          <p:cNvPr name="TextBox 16" id="16"/>
          <p:cNvSpPr txBox="true"/>
          <p:nvPr/>
        </p:nvSpPr>
        <p:spPr>
          <a:xfrm rot="0">
            <a:off x="7958651" y="2132308"/>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DA</a:t>
            </a:r>
            <a:r>
              <a:rPr lang="en-US" sz="2470" spc="49">
                <a:solidFill>
                  <a:srgbClr val="47CDD6"/>
                </a:solidFill>
                <a:latin typeface="Gagalin"/>
                <a:ea typeface="Gagalin"/>
                <a:cs typeface="Gagalin"/>
                <a:sym typeface="Gagalin"/>
              </a:rPr>
              <a:t>TE_TEMPS</a:t>
            </a:r>
          </a:p>
        </p:txBody>
      </p:sp>
      <p:sp>
        <p:nvSpPr>
          <p:cNvPr name="TextBox 17" id="17"/>
          <p:cNvSpPr txBox="true"/>
          <p:nvPr/>
        </p:nvSpPr>
        <p:spPr>
          <a:xfrm rot="0">
            <a:off x="11119149" y="2682003"/>
            <a:ext cx="1938882" cy="2652369"/>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order ID </a:t>
            </a:r>
          </a:p>
          <a:p>
            <a:pPr algn="l">
              <a:lnSpc>
                <a:spcPts val="2381"/>
              </a:lnSpc>
            </a:pPr>
            <a:r>
              <a:rPr lang="en-US" sz="1701">
                <a:solidFill>
                  <a:srgbClr val="FFFFFF"/>
                </a:solidFill>
                <a:latin typeface="Roboto"/>
                <a:ea typeface="Roboto"/>
                <a:cs typeface="Roboto"/>
                <a:sym typeface="Roboto"/>
              </a:rPr>
              <a:t>Ship_Date</a:t>
            </a:r>
          </a:p>
          <a:p>
            <a:pPr algn="l">
              <a:lnSpc>
                <a:spcPts val="2381"/>
              </a:lnSpc>
            </a:pPr>
            <a:r>
              <a:rPr lang="en-US" sz="1701">
                <a:solidFill>
                  <a:srgbClr val="FFFFFF"/>
                </a:solidFill>
                <a:latin typeface="Roboto"/>
                <a:ea typeface="Roboto"/>
                <a:cs typeface="Roboto"/>
                <a:sym typeface="Roboto"/>
              </a:rPr>
              <a:t>Ship_Mode</a:t>
            </a:r>
          </a:p>
          <a:p>
            <a:pPr algn="l">
              <a:lnSpc>
                <a:spcPts val="2381"/>
              </a:lnSpc>
            </a:pPr>
            <a:r>
              <a:rPr lang="en-US" sz="1701">
                <a:solidFill>
                  <a:srgbClr val="FFFFFF"/>
                </a:solidFill>
                <a:latin typeface="Roboto"/>
                <a:ea typeface="Roboto"/>
                <a:cs typeface="Roboto"/>
                <a:sym typeface="Roboto"/>
              </a:rPr>
              <a:t>Delais_Livraison</a:t>
            </a:r>
          </a:p>
          <a:p>
            <a:pPr algn="l">
              <a:lnSpc>
                <a:spcPts val="2381"/>
              </a:lnSpc>
            </a:pPr>
            <a:r>
              <a:rPr lang="en-US" sz="1701">
                <a:solidFill>
                  <a:srgbClr val="C1FF72"/>
                </a:solidFill>
                <a:latin typeface="Roboto"/>
                <a:ea typeface="Roboto"/>
                <a:cs typeface="Roboto"/>
                <a:sym typeface="Roboto"/>
              </a:rPr>
              <a:t>#</a:t>
            </a:r>
            <a:r>
              <a:rPr lang="en-US" sz="1701">
                <a:solidFill>
                  <a:srgbClr val="C1FF72"/>
                </a:solidFill>
                <a:latin typeface="Roboto"/>
                <a:ea typeface="Roboto"/>
                <a:cs typeface="Roboto"/>
                <a:sym typeface="Roboto"/>
              </a:rPr>
              <a:t>Customer_ID </a:t>
            </a:r>
          </a:p>
          <a:p>
            <a:pPr algn="l">
              <a:lnSpc>
                <a:spcPts val="2381"/>
              </a:lnSpc>
            </a:pPr>
            <a:r>
              <a:rPr lang="en-US" sz="1701">
                <a:solidFill>
                  <a:srgbClr val="C1FF72"/>
                </a:solidFill>
                <a:latin typeface="Roboto"/>
                <a:ea typeface="Roboto"/>
                <a:cs typeface="Roboto"/>
                <a:sym typeface="Roboto"/>
              </a:rPr>
              <a:t>#Postal_Code </a:t>
            </a:r>
          </a:p>
          <a:p>
            <a:pPr algn="l">
              <a:lnSpc>
                <a:spcPts val="2381"/>
              </a:lnSpc>
            </a:pPr>
            <a:r>
              <a:rPr lang="en-US" sz="1701">
                <a:solidFill>
                  <a:srgbClr val="C1FF72"/>
                </a:solidFill>
                <a:latin typeface="Roboto"/>
                <a:ea typeface="Roboto"/>
                <a:cs typeface="Roboto"/>
                <a:sym typeface="Roboto"/>
              </a:rPr>
              <a:t>#Date_ID </a:t>
            </a:r>
          </a:p>
          <a:p>
            <a:pPr algn="l">
              <a:lnSpc>
                <a:spcPts val="2381"/>
              </a:lnSpc>
            </a:pPr>
          </a:p>
          <a:p>
            <a:pPr algn="l">
              <a:lnSpc>
                <a:spcPts val="2381"/>
              </a:lnSpc>
            </a:pPr>
          </a:p>
        </p:txBody>
      </p:sp>
      <p:sp>
        <p:nvSpPr>
          <p:cNvPr name="TextBox 18" id="18"/>
          <p:cNvSpPr txBox="true"/>
          <p:nvPr/>
        </p:nvSpPr>
        <p:spPr>
          <a:xfrm rot="0">
            <a:off x="11250176" y="2236219"/>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COMMANDE </a:t>
            </a:r>
          </a:p>
        </p:txBody>
      </p:sp>
      <p:sp>
        <p:nvSpPr>
          <p:cNvPr name="TextBox 19" id="19"/>
          <p:cNvSpPr txBox="true"/>
          <p:nvPr/>
        </p:nvSpPr>
        <p:spPr>
          <a:xfrm rot="0">
            <a:off x="14744049" y="2682003"/>
            <a:ext cx="1938882" cy="880719"/>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Product ID </a:t>
            </a:r>
          </a:p>
          <a:p>
            <a:pPr algn="l">
              <a:lnSpc>
                <a:spcPts val="2381"/>
              </a:lnSpc>
            </a:pPr>
            <a:r>
              <a:rPr lang="en-US" sz="1701">
                <a:solidFill>
                  <a:srgbClr val="FFFFFF"/>
                </a:solidFill>
                <a:latin typeface="Roboto"/>
                <a:ea typeface="Roboto"/>
                <a:cs typeface="Roboto"/>
                <a:sym typeface="Roboto"/>
              </a:rPr>
              <a:t>Product_Name</a:t>
            </a:r>
          </a:p>
          <a:p>
            <a:pPr algn="l">
              <a:lnSpc>
                <a:spcPts val="2381"/>
              </a:lnSpc>
            </a:pPr>
            <a:r>
              <a:rPr lang="en-US" sz="1701">
                <a:solidFill>
                  <a:srgbClr val="C1FF72"/>
                </a:solidFill>
                <a:latin typeface="Roboto"/>
                <a:ea typeface="Roboto"/>
                <a:cs typeface="Roboto"/>
                <a:sym typeface="Roboto"/>
              </a:rPr>
              <a:t>#Sub-Category</a:t>
            </a:r>
          </a:p>
        </p:txBody>
      </p:sp>
      <p:sp>
        <p:nvSpPr>
          <p:cNvPr name="TextBox 20" id="20"/>
          <p:cNvSpPr txBox="true"/>
          <p:nvPr/>
        </p:nvSpPr>
        <p:spPr>
          <a:xfrm rot="0">
            <a:off x="14875077" y="2236219"/>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PRODUITS</a:t>
            </a:r>
          </a:p>
        </p:txBody>
      </p:sp>
      <p:sp>
        <p:nvSpPr>
          <p:cNvPr name="Freeform 21" id="21"/>
          <p:cNvSpPr/>
          <p:nvPr/>
        </p:nvSpPr>
        <p:spPr>
          <a:xfrm flipH="false" flipV="false" rot="0">
            <a:off x="4278509" y="1825915"/>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22" id="22"/>
          <p:cNvSpPr/>
          <p:nvPr/>
        </p:nvSpPr>
        <p:spPr>
          <a:xfrm>
            <a:off x="4350363" y="2541086"/>
            <a:ext cx="2526676" cy="0"/>
          </a:xfrm>
          <a:prstGeom prst="line">
            <a:avLst/>
          </a:prstGeom>
          <a:ln cap="flat" w="47625">
            <a:solidFill>
              <a:srgbClr val="FFFFFF"/>
            </a:solidFill>
            <a:prstDash val="solid"/>
            <a:headEnd type="none" len="sm" w="sm"/>
            <a:tailEnd type="none" len="sm" w="sm"/>
          </a:ln>
        </p:spPr>
      </p:sp>
      <p:sp>
        <p:nvSpPr>
          <p:cNvPr name="TextBox 23" id="23"/>
          <p:cNvSpPr txBox="true"/>
          <p:nvPr/>
        </p:nvSpPr>
        <p:spPr>
          <a:xfrm rot="0">
            <a:off x="4667126" y="2153911"/>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LOCALISA</a:t>
            </a:r>
            <a:r>
              <a:rPr lang="en-US" sz="2470" spc="49">
                <a:solidFill>
                  <a:srgbClr val="47CDD6"/>
                </a:solidFill>
                <a:latin typeface="Gagalin"/>
                <a:ea typeface="Gagalin"/>
                <a:cs typeface="Gagalin"/>
                <a:sym typeface="Gagalin"/>
              </a:rPr>
              <a:t>TION</a:t>
            </a:r>
          </a:p>
        </p:txBody>
      </p:sp>
      <p:sp>
        <p:nvSpPr>
          <p:cNvPr name="TextBox 24" id="24"/>
          <p:cNvSpPr txBox="true"/>
          <p:nvPr/>
        </p:nvSpPr>
        <p:spPr>
          <a:xfrm rot="0">
            <a:off x="4536099" y="2599695"/>
            <a:ext cx="1938882" cy="1175994"/>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Postal_Code</a:t>
            </a:r>
          </a:p>
          <a:p>
            <a:pPr algn="l">
              <a:lnSpc>
                <a:spcPts val="2381"/>
              </a:lnSpc>
            </a:pPr>
            <a:r>
              <a:rPr lang="en-US" sz="1701">
                <a:solidFill>
                  <a:srgbClr val="FFFFFF"/>
                </a:solidFill>
                <a:latin typeface="Roboto"/>
                <a:ea typeface="Roboto"/>
                <a:cs typeface="Roboto"/>
                <a:sym typeface="Roboto"/>
              </a:rPr>
              <a:t>City</a:t>
            </a:r>
          </a:p>
          <a:p>
            <a:pPr algn="l">
              <a:lnSpc>
                <a:spcPts val="2381"/>
              </a:lnSpc>
            </a:pPr>
            <a:r>
              <a:rPr lang="en-US" sz="1701">
                <a:solidFill>
                  <a:srgbClr val="C1FF72"/>
                </a:solidFill>
                <a:latin typeface="Roboto"/>
                <a:ea typeface="Roboto"/>
                <a:cs typeface="Roboto"/>
                <a:sym typeface="Roboto"/>
              </a:rPr>
              <a:t>#</a:t>
            </a:r>
            <a:r>
              <a:rPr lang="en-US" sz="1701">
                <a:solidFill>
                  <a:srgbClr val="C1FF72"/>
                </a:solidFill>
                <a:latin typeface="Roboto"/>
                <a:ea typeface="Roboto"/>
                <a:cs typeface="Roboto"/>
                <a:sym typeface="Roboto"/>
              </a:rPr>
              <a:t>StateID</a:t>
            </a:r>
          </a:p>
          <a:p>
            <a:pPr algn="l">
              <a:lnSpc>
                <a:spcPts val="2381"/>
              </a:lnSpc>
            </a:pPr>
          </a:p>
        </p:txBody>
      </p:sp>
      <p:sp>
        <p:nvSpPr>
          <p:cNvPr name="TextBox 25" id="25"/>
          <p:cNvSpPr txBox="true"/>
          <p:nvPr/>
        </p:nvSpPr>
        <p:spPr>
          <a:xfrm rot="0">
            <a:off x="1516928" y="790891"/>
            <a:ext cx="12316534" cy="1013421"/>
          </a:xfrm>
          <a:prstGeom prst="rect">
            <a:avLst/>
          </a:prstGeom>
        </p:spPr>
        <p:txBody>
          <a:bodyPr anchor="t" rtlCol="false" tIns="0" lIns="0" bIns="0" rIns="0">
            <a:spAutoFit/>
          </a:bodyPr>
          <a:lstStyle/>
          <a:p>
            <a:pPr algn="l">
              <a:lnSpc>
                <a:spcPts val="7765"/>
              </a:lnSpc>
            </a:pPr>
            <a:r>
              <a:rPr lang="en-US" sz="7466">
                <a:solidFill>
                  <a:srgbClr val="FFFFFF"/>
                </a:solidFill>
                <a:latin typeface="League Spartan"/>
                <a:ea typeface="League Spartan"/>
                <a:cs typeface="League Spartan"/>
                <a:sym typeface="League Spartan"/>
              </a:rPr>
              <a:t>APRÈS — 3NF respectée</a:t>
            </a:r>
          </a:p>
        </p:txBody>
      </p:sp>
      <p:sp>
        <p:nvSpPr>
          <p:cNvPr name="Freeform 26" id="26"/>
          <p:cNvSpPr/>
          <p:nvPr/>
        </p:nvSpPr>
        <p:spPr>
          <a:xfrm flipH="false" flipV="false" rot="0">
            <a:off x="1129140" y="5705493"/>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27" id="27"/>
          <p:cNvSpPr/>
          <p:nvPr/>
        </p:nvSpPr>
        <p:spPr>
          <a:xfrm>
            <a:off x="1200994" y="6420664"/>
            <a:ext cx="2526676" cy="0"/>
          </a:xfrm>
          <a:prstGeom prst="line">
            <a:avLst/>
          </a:prstGeom>
          <a:ln cap="flat" w="47625">
            <a:solidFill>
              <a:srgbClr val="FFFFFF"/>
            </a:solidFill>
            <a:prstDash val="solid"/>
            <a:headEnd type="none" len="sm" w="sm"/>
            <a:tailEnd type="none" len="sm" w="sm"/>
          </a:ln>
        </p:spPr>
      </p:sp>
      <p:sp>
        <p:nvSpPr>
          <p:cNvPr name="Freeform 28" id="28"/>
          <p:cNvSpPr/>
          <p:nvPr/>
        </p:nvSpPr>
        <p:spPr>
          <a:xfrm flipH="false" flipV="false" rot="0">
            <a:off x="7570034" y="5601582"/>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29" id="29"/>
          <p:cNvSpPr/>
          <p:nvPr/>
        </p:nvSpPr>
        <p:spPr>
          <a:xfrm>
            <a:off x="7641888" y="6316753"/>
            <a:ext cx="2526676" cy="0"/>
          </a:xfrm>
          <a:prstGeom prst="line">
            <a:avLst/>
          </a:prstGeom>
          <a:ln cap="flat" w="47625">
            <a:solidFill>
              <a:srgbClr val="FFFFFF"/>
            </a:solidFill>
            <a:prstDash val="solid"/>
            <a:headEnd type="none" len="sm" w="sm"/>
            <a:tailEnd type="none" len="sm" w="sm"/>
          </a:ln>
        </p:spPr>
      </p:sp>
      <p:sp>
        <p:nvSpPr>
          <p:cNvPr name="Freeform 30" id="30"/>
          <p:cNvSpPr/>
          <p:nvPr/>
        </p:nvSpPr>
        <p:spPr>
          <a:xfrm flipH="false" flipV="false" rot="0">
            <a:off x="10861559" y="5705493"/>
            <a:ext cx="2672400" cy="3493334"/>
          </a:xfrm>
          <a:custGeom>
            <a:avLst/>
            <a:gdLst/>
            <a:ahLst/>
            <a:cxnLst/>
            <a:rect r="r" b="b" t="t" l="l"/>
            <a:pathLst>
              <a:path h="3493334" w="2672400">
                <a:moveTo>
                  <a:pt x="0" y="0"/>
                </a:moveTo>
                <a:lnTo>
                  <a:pt x="2672401" y="0"/>
                </a:lnTo>
                <a:lnTo>
                  <a:pt x="2672401"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1" id="31"/>
          <p:cNvSpPr/>
          <p:nvPr/>
        </p:nvSpPr>
        <p:spPr>
          <a:xfrm>
            <a:off x="10933413" y="6420664"/>
            <a:ext cx="2526676" cy="0"/>
          </a:xfrm>
          <a:prstGeom prst="line">
            <a:avLst/>
          </a:prstGeom>
          <a:ln cap="flat" w="47625">
            <a:solidFill>
              <a:srgbClr val="FFFFFF"/>
            </a:solidFill>
            <a:prstDash val="solid"/>
            <a:headEnd type="none" len="sm" w="sm"/>
            <a:tailEnd type="none" len="sm" w="sm"/>
          </a:ln>
        </p:spPr>
      </p:sp>
      <p:sp>
        <p:nvSpPr>
          <p:cNvPr name="Freeform 32" id="32"/>
          <p:cNvSpPr/>
          <p:nvPr/>
        </p:nvSpPr>
        <p:spPr>
          <a:xfrm flipH="false" flipV="false" rot="0">
            <a:off x="14486460" y="5705493"/>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3" id="33"/>
          <p:cNvSpPr/>
          <p:nvPr/>
        </p:nvSpPr>
        <p:spPr>
          <a:xfrm>
            <a:off x="14558313" y="6420664"/>
            <a:ext cx="2526676" cy="0"/>
          </a:xfrm>
          <a:prstGeom prst="line">
            <a:avLst/>
          </a:prstGeom>
          <a:ln cap="flat" w="47625">
            <a:solidFill>
              <a:srgbClr val="FFFFFF"/>
            </a:solidFill>
            <a:prstDash val="solid"/>
            <a:headEnd type="none" len="sm" w="sm"/>
            <a:tailEnd type="none" len="sm" w="sm"/>
          </a:ln>
        </p:spPr>
      </p:sp>
      <p:sp>
        <p:nvSpPr>
          <p:cNvPr name="TextBox 34" id="34"/>
          <p:cNvSpPr txBox="true"/>
          <p:nvPr/>
        </p:nvSpPr>
        <p:spPr>
          <a:xfrm rot="0">
            <a:off x="1386730" y="6479272"/>
            <a:ext cx="1938882" cy="585444"/>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Region_ID</a:t>
            </a:r>
          </a:p>
          <a:p>
            <a:pPr algn="l">
              <a:lnSpc>
                <a:spcPts val="2381"/>
              </a:lnSpc>
            </a:pPr>
            <a:r>
              <a:rPr lang="en-US" sz="1701">
                <a:solidFill>
                  <a:srgbClr val="FFFFFF"/>
                </a:solidFill>
                <a:latin typeface="Roboto"/>
                <a:ea typeface="Roboto"/>
                <a:cs typeface="Roboto"/>
                <a:sym typeface="Roboto"/>
              </a:rPr>
              <a:t>Region_Name</a:t>
            </a:r>
          </a:p>
        </p:txBody>
      </p:sp>
      <p:sp>
        <p:nvSpPr>
          <p:cNvPr name="TextBox 35" id="35"/>
          <p:cNvSpPr txBox="true"/>
          <p:nvPr/>
        </p:nvSpPr>
        <p:spPr>
          <a:xfrm rot="0">
            <a:off x="1517757" y="6033489"/>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R</a:t>
            </a:r>
            <a:r>
              <a:rPr lang="en-US" sz="2470" spc="49">
                <a:solidFill>
                  <a:srgbClr val="47CDD6"/>
                </a:solidFill>
                <a:latin typeface="Gagalin"/>
                <a:ea typeface="Gagalin"/>
                <a:cs typeface="Gagalin"/>
                <a:sym typeface="Gagalin"/>
              </a:rPr>
              <a:t>EGION</a:t>
            </a:r>
          </a:p>
        </p:txBody>
      </p:sp>
      <p:sp>
        <p:nvSpPr>
          <p:cNvPr name="TextBox 36" id="36"/>
          <p:cNvSpPr txBox="true"/>
          <p:nvPr/>
        </p:nvSpPr>
        <p:spPr>
          <a:xfrm rot="0">
            <a:off x="7827624" y="6375361"/>
            <a:ext cx="2026193" cy="585444"/>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Category_ID</a:t>
            </a:r>
          </a:p>
          <a:p>
            <a:pPr algn="l">
              <a:lnSpc>
                <a:spcPts val="2381"/>
              </a:lnSpc>
            </a:pPr>
            <a:r>
              <a:rPr lang="en-US" sz="1701">
                <a:solidFill>
                  <a:srgbClr val="FFFFFF"/>
                </a:solidFill>
                <a:latin typeface="Roboto"/>
                <a:ea typeface="Roboto"/>
                <a:cs typeface="Roboto"/>
                <a:sym typeface="Roboto"/>
              </a:rPr>
              <a:t>C</a:t>
            </a:r>
            <a:r>
              <a:rPr lang="en-US" sz="1701">
                <a:solidFill>
                  <a:srgbClr val="FFFFFF"/>
                </a:solidFill>
                <a:latin typeface="Roboto"/>
                <a:ea typeface="Roboto"/>
                <a:cs typeface="Roboto"/>
                <a:sym typeface="Roboto"/>
              </a:rPr>
              <a:t>ateg</a:t>
            </a:r>
            <a:r>
              <a:rPr lang="en-US" sz="1701">
                <a:solidFill>
                  <a:srgbClr val="FFFFFF"/>
                </a:solidFill>
                <a:latin typeface="Roboto"/>
                <a:ea typeface="Roboto"/>
                <a:cs typeface="Roboto"/>
                <a:sym typeface="Roboto"/>
              </a:rPr>
              <a:t>ory_Name</a:t>
            </a:r>
          </a:p>
        </p:txBody>
      </p:sp>
      <p:sp>
        <p:nvSpPr>
          <p:cNvPr name="TextBox 37" id="37"/>
          <p:cNvSpPr txBox="true"/>
          <p:nvPr/>
        </p:nvSpPr>
        <p:spPr>
          <a:xfrm rot="0">
            <a:off x="7958651" y="5929577"/>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CA</a:t>
            </a:r>
            <a:r>
              <a:rPr lang="en-US" sz="2470" spc="49">
                <a:solidFill>
                  <a:srgbClr val="47CDD6"/>
                </a:solidFill>
                <a:latin typeface="Gagalin"/>
                <a:ea typeface="Gagalin"/>
                <a:cs typeface="Gagalin"/>
                <a:sym typeface="Gagalin"/>
              </a:rPr>
              <a:t>TEGORIE</a:t>
            </a:r>
          </a:p>
        </p:txBody>
      </p:sp>
      <p:sp>
        <p:nvSpPr>
          <p:cNvPr name="TextBox 38" id="38"/>
          <p:cNvSpPr txBox="true"/>
          <p:nvPr/>
        </p:nvSpPr>
        <p:spPr>
          <a:xfrm rot="0">
            <a:off x="11119149" y="6479272"/>
            <a:ext cx="1938882" cy="2652369"/>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Row_ID</a:t>
            </a:r>
          </a:p>
          <a:p>
            <a:pPr algn="l">
              <a:lnSpc>
                <a:spcPts val="2381"/>
              </a:lnSpc>
            </a:pPr>
            <a:r>
              <a:rPr lang="en-US" sz="1701">
                <a:solidFill>
                  <a:srgbClr val="FFFFFF"/>
                </a:solidFill>
                <a:latin typeface="Roboto"/>
                <a:ea typeface="Roboto"/>
                <a:cs typeface="Roboto"/>
                <a:sym typeface="Roboto"/>
              </a:rPr>
              <a:t>Sales</a:t>
            </a:r>
          </a:p>
          <a:p>
            <a:pPr algn="l">
              <a:lnSpc>
                <a:spcPts val="2381"/>
              </a:lnSpc>
            </a:pPr>
            <a:r>
              <a:rPr lang="en-US" sz="1701">
                <a:solidFill>
                  <a:srgbClr val="FFFFFF"/>
                </a:solidFill>
                <a:latin typeface="Roboto"/>
                <a:ea typeface="Roboto"/>
                <a:cs typeface="Roboto"/>
                <a:sym typeface="Roboto"/>
              </a:rPr>
              <a:t>Quantity</a:t>
            </a:r>
          </a:p>
          <a:p>
            <a:pPr algn="l">
              <a:lnSpc>
                <a:spcPts val="2381"/>
              </a:lnSpc>
            </a:pPr>
            <a:r>
              <a:rPr lang="en-US" sz="1701">
                <a:solidFill>
                  <a:srgbClr val="FFFFFF"/>
                </a:solidFill>
                <a:latin typeface="Roboto"/>
                <a:ea typeface="Roboto"/>
                <a:cs typeface="Roboto"/>
                <a:sym typeface="Roboto"/>
              </a:rPr>
              <a:t>Marge_Relative</a:t>
            </a:r>
          </a:p>
          <a:p>
            <a:pPr algn="l">
              <a:lnSpc>
                <a:spcPts val="2381"/>
              </a:lnSpc>
            </a:pPr>
            <a:r>
              <a:rPr lang="en-US" sz="1701">
                <a:solidFill>
                  <a:srgbClr val="FFFFFF"/>
                </a:solidFill>
                <a:latin typeface="Roboto"/>
                <a:ea typeface="Roboto"/>
                <a:cs typeface="Roboto"/>
                <a:sym typeface="Roboto"/>
              </a:rPr>
              <a:t>Taux_Profit_Estime</a:t>
            </a:r>
          </a:p>
          <a:p>
            <a:pPr algn="l">
              <a:lnSpc>
                <a:spcPts val="2381"/>
              </a:lnSpc>
            </a:pPr>
            <a:r>
              <a:rPr lang="en-US" sz="1701">
                <a:solidFill>
                  <a:srgbClr val="FFFFFF"/>
                </a:solidFill>
                <a:latin typeface="Roboto"/>
                <a:ea typeface="Roboto"/>
                <a:cs typeface="Roboto"/>
                <a:sym typeface="Roboto"/>
              </a:rPr>
              <a:t>Ratio_Qte_Sales</a:t>
            </a:r>
          </a:p>
          <a:p>
            <a:pPr algn="l">
              <a:lnSpc>
                <a:spcPts val="2381"/>
              </a:lnSpc>
            </a:pPr>
            <a:r>
              <a:rPr lang="en-US" sz="1701">
                <a:solidFill>
                  <a:srgbClr val="C1FF72"/>
                </a:solidFill>
                <a:latin typeface="Roboto"/>
                <a:ea typeface="Roboto"/>
                <a:cs typeface="Roboto"/>
                <a:sym typeface="Roboto"/>
              </a:rPr>
              <a:t>#</a:t>
            </a:r>
            <a:r>
              <a:rPr lang="en-US" sz="1701">
                <a:solidFill>
                  <a:srgbClr val="C1FF72"/>
                </a:solidFill>
                <a:latin typeface="Roboto"/>
                <a:ea typeface="Roboto"/>
                <a:cs typeface="Roboto"/>
                <a:sym typeface="Roboto"/>
              </a:rPr>
              <a:t>Product ID </a:t>
            </a:r>
          </a:p>
          <a:p>
            <a:pPr algn="l">
              <a:lnSpc>
                <a:spcPts val="2381"/>
              </a:lnSpc>
            </a:pPr>
            <a:r>
              <a:rPr lang="en-US" sz="1701">
                <a:solidFill>
                  <a:srgbClr val="C1FF72"/>
                </a:solidFill>
                <a:latin typeface="Roboto"/>
                <a:ea typeface="Roboto"/>
                <a:cs typeface="Roboto"/>
                <a:sym typeface="Roboto"/>
              </a:rPr>
              <a:t>#Order ID</a:t>
            </a:r>
          </a:p>
          <a:p>
            <a:pPr algn="l">
              <a:lnSpc>
                <a:spcPts val="2381"/>
              </a:lnSpc>
            </a:pPr>
          </a:p>
        </p:txBody>
      </p:sp>
      <p:sp>
        <p:nvSpPr>
          <p:cNvPr name="TextBox 39" id="39"/>
          <p:cNvSpPr txBox="true"/>
          <p:nvPr/>
        </p:nvSpPr>
        <p:spPr>
          <a:xfrm rot="0">
            <a:off x="11250176" y="6033489"/>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VENTES</a:t>
            </a:r>
          </a:p>
        </p:txBody>
      </p:sp>
      <p:sp>
        <p:nvSpPr>
          <p:cNvPr name="TextBox 40" id="40"/>
          <p:cNvSpPr txBox="true"/>
          <p:nvPr/>
        </p:nvSpPr>
        <p:spPr>
          <a:xfrm rot="0">
            <a:off x="14744049" y="6479272"/>
            <a:ext cx="2026193" cy="880719"/>
          </a:xfrm>
          <a:prstGeom prst="rect">
            <a:avLst/>
          </a:prstGeom>
        </p:spPr>
        <p:txBody>
          <a:bodyPr anchor="t" rtlCol="false" tIns="0" lIns="0" bIns="0" rIns="0">
            <a:spAutoFit/>
          </a:bodyPr>
          <a:lstStyle/>
          <a:p>
            <a:pPr algn="l">
              <a:lnSpc>
                <a:spcPts val="2381"/>
              </a:lnSpc>
            </a:pPr>
            <a:r>
              <a:rPr lang="en-US" sz="1701">
                <a:solidFill>
                  <a:srgbClr val="66E3FF"/>
                </a:solidFill>
                <a:latin typeface="Roboto"/>
                <a:ea typeface="Roboto"/>
                <a:cs typeface="Roboto"/>
                <a:sym typeface="Roboto"/>
              </a:rPr>
              <a:t>S</a:t>
            </a:r>
            <a:r>
              <a:rPr lang="en-US" sz="1701">
                <a:solidFill>
                  <a:srgbClr val="66E3FF"/>
                </a:solidFill>
                <a:latin typeface="Roboto"/>
                <a:ea typeface="Roboto"/>
                <a:cs typeface="Roboto"/>
                <a:sym typeface="Roboto"/>
              </a:rPr>
              <a:t>ub_Category_ID</a:t>
            </a:r>
          </a:p>
          <a:p>
            <a:pPr algn="l">
              <a:lnSpc>
                <a:spcPts val="2381"/>
              </a:lnSpc>
            </a:pPr>
            <a:r>
              <a:rPr lang="en-US" sz="1701">
                <a:solidFill>
                  <a:srgbClr val="FFFFFF"/>
                </a:solidFill>
                <a:latin typeface="Roboto"/>
                <a:ea typeface="Roboto"/>
                <a:cs typeface="Roboto"/>
                <a:sym typeface="Roboto"/>
              </a:rPr>
              <a:t>Sub_</a:t>
            </a:r>
            <a:r>
              <a:rPr lang="en-US" sz="1701">
                <a:solidFill>
                  <a:srgbClr val="FFFFFF"/>
                </a:solidFill>
                <a:latin typeface="Roboto"/>
                <a:ea typeface="Roboto"/>
                <a:cs typeface="Roboto"/>
                <a:sym typeface="Roboto"/>
              </a:rPr>
              <a:t>Category_Name</a:t>
            </a:r>
          </a:p>
          <a:p>
            <a:pPr algn="l">
              <a:lnSpc>
                <a:spcPts val="2381"/>
              </a:lnSpc>
            </a:pPr>
            <a:r>
              <a:rPr lang="en-US" sz="1701" u="sng">
                <a:solidFill>
                  <a:srgbClr val="C1FF72"/>
                </a:solidFill>
                <a:latin typeface="Roboto"/>
                <a:ea typeface="Roboto"/>
                <a:cs typeface="Roboto"/>
                <a:sym typeface="Roboto"/>
              </a:rPr>
              <a:t>#Category_ID</a:t>
            </a:r>
          </a:p>
        </p:txBody>
      </p:sp>
      <p:sp>
        <p:nvSpPr>
          <p:cNvPr name="TextBox 41" id="41"/>
          <p:cNvSpPr txBox="true"/>
          <p:nvPr/>
        </p:nvSpPr>
        <p:spPr>
          <a:xfrm rot="0">
            <a:off x="14708673" y="6008359"/>
            <a:ext cx="2227973" cy="261938"/>
          </a:xfrm>
          <a:prstGeom prst="rect">
            <a:avLst/>
          </a:prstGeom>
        </p:spPr>
        <p:txBody>
          <a:bodyPr anchor="t" rtlCol="false" tIns="0" lIns="0" bIns="0" rIns="0">
            <a:spAutoFit/>
          </a:bodyPr>
          <a:lstStyle/>
          <a:p>
            <a:pPr algn="ctr">
              <a:lnSpc>
                <a:spcPts val="1846"/>
              </a:lnSpc>
            </a:pPr>
            <a:r>
              <a:rPr lang="en-US" sz="2308" spc="46">
                <a:solidFill>
                  <a:srgbClr val="47CDD6"/>
                </a:solidFill>
                <a:latin typeface="Gagalin"/>
                <a:ea typeface="Gagalin"/>
                <a:cs typeface="Gagalin"/>
                <a:sym typeface="Gagalin"/>
              </a:rPr>
              <a:t>SOUS_CATEGORIE</a:t>
            </a:r>
          </a:p>
        </p:txBody>
      </p:sp>
      <p:sp>
        <p:nvSpPr>
          <p:cNvPr name="Freeform 42" id="42"/>
          <p:cNvSpPr/>
          <p:nvPr/>
        </p:nvSpPr>
        <p:spPr>
          <a:xfrm flipH="false" flipV="false" rot="0">
            <a:off x="4278509" y="5623185"/>
            <a:ext cx="2672400" cy="3493334"/>
          </a:xfrm>
          <a:custGeom>
            <a:avLst/>
            <a:gdLst/>
            <a:ahLst/>
            <a:cxnLst/>
            <a:rect r="r" b="b" t="t" l="l"/>
            <a:pathLst>
              <a:path h="3493334" w="2672400">
                <a:moveTo>
                  <a:pt x="0" y="0"/>
                </a:moveTo>
                <a:lnTo>
                  <a:pt x="2672400" y="0"/>
                </a:lnTo>
                <a:lnTo>
                  <a:pt x="2672400" y="3493334"/>
                </a:lnTo>
                <a:lnTo>
                  <a:pt x="0" y="3493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3" id="43"/>
          <p:cNvSpPr/>
          <p:nvPr/>
        </p:nvSpPr>
        <p:spPr>
          <a:xfrm>
            <a:off x="4350363" y="6338356"/>
            <a:ext cx="2526676" cy="0"/>
          </a:xfrm>
          <a:prstGeom prst="line">
            <a:avLst/>
          </a:prstGeom>
          <a:ln cap="flat" w="47625">
            <a:solidFill>
              <a:srgbClr val="FFFFFF"/>
            </a:solidFill>
            <a:prstDash val="solid"/>
            <a:headEnd type="none" len="sm" w="sm"/>
            <a:tailEnd type="none" len="sm" w="sm"/>
          </a:ln>
        </p:spPr>
      </p:sp>
      <p:sp>
        <p:nvSpPr>
          <p:cNvPr name="TextBox 44" id="44"/>
          <p:cNvSpPr txBox="true"/>
          <p:nvPr/>
        </p:nvSpPr>
        <p:spPr>
          <a:xfrm rot="0">
            <a:off x="4667126" y="5951180"/>
            <a:ext cx="1895166" cy="286320"/>
          </a:xfrm>
          <a:prstGeom prst="rect">
            <a:avLst/>
          </a:prstGeom>
        </p:spPr>
        <p:txBody>
          <a:bodyPr anchor="t" rtlCol="false" tIns="0" lIns="0" bIns="0" rIns="0">
            <a:spAutoFit/>
          </a:bodyPr>
          <a:lstStyle/>
          <a:p>
            <a:pPr algn="ctr">
              <a:lnSpc>
                <a:spcPts val="1976"/>
              </a:lnSpc>
            </a:pPr>
            <a:r>
              <a:rPr lang="en-US" sz="2470" spc="49">
                <a:solidFill>
                  <a:srgbClr val="47CDD6"/>
                </a:solidFill>
                <a:latin typeface="Gagalin"/>
                <a:ea typeface="Gagalin"/>
                <a:cs typeface="Gagalin"/>
                <a:sym typeface="Gagalin"/>
              </a:rPr>
              <a:t>ETA</a:t>
            </a:r>
            <a:r>
              <a:rPr lang="en-US" sz="2470" spc="49">
                <a:solidFill>
                  <a:srgbClr val="47CDD6"/>
                </a:solidFill>
                <a:latin typeface="Gagalin"/>
                <a:ea typeface="Gagalin"/>
                <a:cs typeface="Gagalin"/>
                <a:sym typeface="Gagalin"/>
              </a:rPr>
              <a:t>T</a:t>
            </a:r>
          </a:p>
        </p:txBody>
      </p:sp>
      <p:sp>
        <p:nvSpPr>
          <p:cNvPr name="TextBox 45" id="45"/>
          <p:cNvSpPr txBox="true"/>
          <p:nvPr/>
        </p:nvSpPr>
        <p:spPr>
          <a:xfrm rot="0">
            <a:off x="4536099" y="6396964"/>
            <a:ext cx="1938882" cy="1175994"/>
          </a:xfrm>
          <a:prstGeom prst="rect">
            <a:avLst/>
          </a:prstGeom>
        </p:spPr>
        <p:txBody>
          <a:bodyPr anchor="t" rtlCol="false" tIns="0" lIns="0" bIns="0" rIns="0">
            <a:spAutoFit/>
          </a:bodyPr>
          <a:lstStyle/>
          <a:p>
            <a:pPr algn="l">
              <a:lnSpc>
                <a:spcPts val="2381"/>
              </a:lnSpc>
            </a:pPr>
            <a:r>
              <a:rPr lang="en-US" sz="1701" u="sng">
                <a:solidFill>
                  <a:srgbClr val="66E3FF"/>
                </a:solidFill>
                <a:latin typeface="Roboto"/>
                <a:ea typeface="Roboto"/>
                <a:cs typeface="Roboto"/>
                <a:sym typeface="Roboto"/>
              </a:rPr>
              <a:t>S</a:t>
            </a:r>
            <a:r>
              <a:rPr lang="en-US" sz="1701" u="sng">
                <a:solidFill>
                  <a:srgbClr val="66E3FF"/>
                </a:solidFill>
                <a:latin typeface="Roboto"/>
                <a:ea typeface="Roboto"/>
                <a:cs typeface="Roboto"/>
                <a:sym typeface="Roboto"/>
              </a:rPr>
              <a:t>tate_ID</a:t>
            </a:r>
          </a:p>
          <a:p>
            <a:pPr algn="l">
              <a:lnSpc>
                <a:spcPts val="2381"/>
              </a:lnSpc>
            </a:pPr>
            <a:r>
              <a:rPr lang="en-US" sz="1701">
                <a:solidFill>
                  <a:srgbClr val="FFFFFF"/>
                </a:solidFill>
                <a:latin typeface="Roboto"/>
                <a:ea typeface="Roboto"/>
                <a:cs typeface="Roboto"/>
                <a:sym typeface="Roboto"/>
              </a:rPr>
              <a:t>State_Name</a:t>
            </a:r>
          </a:p>
          <a:p>
            <a:pPr algn="l">
              <a:lnSpc>
                <a:spcPts val="2381"/>
              </a:lnSpc>
            </a:pPr>
            <a:r>
              <a:rPr lang="en-US" sz="1701">
                <a:solidFill>
                  <a:srgbClr val="FFFFFF"/>
                </a:solidFill>
                <a:latin typeface="Roboto"/>
                <a:ea typeface="Roboto"/>
                <a:cs typeface="Roboto"/>
                <a:sym typeface="Roboto"/>
              </a:rPr>
              <a:t>Country</a:t>
            </a:r>
          </a:p>
          <a:p>
            <a:pPr algn="l">
              <a:lnSpc>
                <a:spcPts val="2381"/>
              </a:lnSpc>
            </a:pPr>
            <a:r>
              <a:rPr lang="en-US" sz="1701">
                <a:solidFill>
                  <a:srgbClr val="C1FF72"/>
                </a:solidFill>
                <a:latin typeface="Roboto"/>
                <a:ea typeface="Roboto"/>
                <a:cs typeface="Roboto"/>
                <a:sym typeface="Roboto"/>
              </a:rPr>
              <a:t>#Region_ID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DAHCy8Ncbtw</dc:identifier>
  <dcterms:modified xsi:type="dcterms:W3CDTF">2011-08-01T06:04:30Z</dcterms:modified>
  <cp:revision>1</cp:revision>
  <dc:title>postgres merise</dc:title>
</cp:coreProperties>
</file>